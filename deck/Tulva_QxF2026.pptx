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[Hook (0:00–0:11)]</a:t>
            </a:r>
          </a:p>
          <a:p>
            <a:r>
              <a:t>In May 2005, four Lapland rivers hit flood levels TOGETHER. The snow had warned us two months EARLIER. Tulva turns that warning into a PRICE. [pause]</a:t>
            </a:r>
          </a:p>
          <a:p/>
          <a:p>
            <a:r>
              <a:t>Q&amp;A only (not spoken): "flood levels" = river flow (discharge) over each gauge's 1-in-10 level, not damage. Four = Ivalo, Kittilä, Rovaniemi, Tornio over their 1-in-10 level (the map's filled dots); Ivalo, Kittilä and Rovaniemi also passed their 1-in-50 level. "Warned us" = the North's 1 March snow was in its top 15 % (87th percentile): an in-sample back-test, not a forecast we made at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gap (0:11–0:24)]</a:t>
            </a:r>
          </a:p>
          <a:p>
            <a:r>
              <a:t>Rivers in one region share ONE snowpack, so they flood TOGETHER. [pause] Big flood springs come almost FOUR times more often than chance. Insurers buy cover in autumn, BEFORE the snow.</a:t>
            </a:r>
          </a:p>
          <a:p/>
          <a:p>
            <a:r>
              <a:t>Q&amp;A only (not spoken): 10 of 65 springs (15.4 %, 90 % interval 9–24 %) had ≥4 of 14 areas over 1-in-10; chance on the same gauge-years 3.9 % (3.9×). If all 14 gauges had reported every year, chance would be 4.4 % (3.5×).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product (0:24–0:40)]</a:t>
            </a:r>
          </a:p>
          <a:p>
            <a:r>
              <a:t>The Tulva Index pays when SEVERAL northern rivers pass a rare flood level TOGETHER. Its fair price is 1.8 TIMES what the 2027 rule's average correlation gives. [pause] After a snowy March, the risk TRIPLES.</a:t>
            </a:r>
          </a:p>
          <a:p/>
          <a:p>
            <a:r>
              <a:t>Q&amp;A only (not spoken): fair price = expected loss 1.96 % of the limit a year (year-bootstrap 90 %: 1.6–2.2 %) vs 1.11 % for a model with one correlation of 0.27, the mean of the 2027 Finnish 19-zone flood matrix (1.77×). We used the 19-zone mean, not the Lapland zones' own entries (the repo has neither the entries nor the zone-to-region map). ≈5× only against independence (0.38 %). "Triples" = 6.4 % after a top-15 % snow March vs 1.96 % (3.3×, 90 %: 2.1–4.4×). The cover is priced in autumn; in March the insurer buys a top-up / second-layer cover if it wants one, staffs claims in the regions at risk and uses the number in its ORSA. Market price (2.5–3.5× expected loss): 4.9–6.9 % rate on line, ≈ €49–69k a year per €1M of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[Demo video (0:40–1:17), narrated live]</a:t>
            </a:r>
          </a:p>
          <a:p>
            <a:r>
              <a:t>[0 s, map] This is our LIVE app. Lines join rivers that flood together. [5 s, snow high] March snow set to HIGH… and the northern price JUMPS. [12 s, low snow] IQM chip. Red: BOTH rivers flood. Low snow, little red. [18 s, snowy] Snowy March: about THREE times the risk, close to exact. [24 s, 14-area card] A simplified version of our 14-river model, on ONE chip. [29 s, 2005] And 2005: Lapland floods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[Quantum, in practice (1:17–1:31)]</a:t>
            </a:r>
          </a:p>
          <a:p>
            <a:r>
              <a:t>We ran the two-river core on IBM and IQM; the 14-river model on IQM Emerald. [pause] The snow warning SURVIVES on the chip: 3.05 times, close to the exact 2.75.</a:t>
            </a:r>
          </a:p>
          <a:p/>
          <a:p>
            <a:r>
              <a:t>Q&amp;A only (not spoken): the two-river core is a North-cluster pair with identical loadings and 1-in-50 trigger, not Kittilä and Ivalo specifically. Method: calibrated sampling plus shallow amplitude estimation (Grover steps k = 0–2); amplified circuits keep ≈0.5 of the signal on Emerald (0.6–0.8 IBM / Garnet), so the estimate is mostly calibrated k =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[Quantum, honestly (1:31–1:41)]</a:t>
            </a:r>
          </a:p>
          <a:p>
            <a:r>
              <a:t>Classical computers still WIN today. At 1-in-50, rare floods drown in noise. The method is READY. The hardware is not,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[Business (1:41–2:09)]</a:t>
            </a:r>
          </a:p>
          <a:p>
            <a:r>
              <a:t>The insurer pays a reinsurer the premium, and pays US a licence: 25 thousand for a pilot, then 75 thousand a year. Year three: up to 450 thousand. Why now? From 2027, standard-formula insurers get FIXED correlations, blind to the snow. Internal-model insurers, like If Insurance, get a snow-aware number. Our ask: one insurer's flood claims for eight weeks.</a:t>
            </a:r>
          </a:p>
          <a:p/>
          <a:p>
            <a:r>
              <a:t>Q&amp;A only (not spoken): premium per €10M North layer ≈ €0.5–0.7M a year (model × 2.5–3.5 market multiple) goes insurer → reinsurer; the licence goes insurer / reinsurer → Tulva. Year 3 = 3–6 insurers × €75k (assumption); Nordic snowmelt upside unsized (assumption). We'd like to pilot with OP; there is no agreement. Basis risk: back-test at 1-in-10 paid in 1966, 2005, 2018; missed Ostrobothnia 2012–13 and the 2024 false alarm.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[Close (2:09–2:21)]</a:t>
            </a:r>
          </a:p>
          <a:p>
            <a:r>
              <a:t>Everything you saw, we built THIS weekend. [pause] Next March, the snow will warn us AGAIN. [long pause] This time, it will have a PRICE.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1F3A"/>
                </a:solidFill>
                <a:latin typeface="Arial"/>
              </a:rPr>
              <a:t>Tulva</a:t>
            </a:r>
            <a:r>
              <a:rPr sz="2000" b="0">
                <a:solidFill>
                  <a:srgbClr val="6B7280"/>
                </a:solidFill>
                <a:latin typeface="Arial"/>
              </a:rPr>
              <a:t>   spring-flood risk, priced jointly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12064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400"/>
              </a:spcAft>
            </a:pPr>
            <a:r>
              <a:rPr sz="4400" b="1">
                <a:solidFill>
                  <a:srgbClr val="0B1F3A"/>
                </a:solidFill>
                <a:latin typeface="Arial"/>
              </a:rPr>
              <a:t>In May 2005, four Lapland rivers hit flood levels </a:t>
            </a:r>
            <a:r>
              <a:rPr sz="4400" b="1">
                <a:solidFill>
                  <a:srgbClr val="1F6FEB"/>
                </a:solidFill>
                <a:latin typeface="Arial"/>
              </a:rPr>
              <a:t>together.</a:t>
            </a:r>
          </a:p>
          <a:p>
            <a:pPr algn="l">
              <a:lnSpc>
                <a:spcPct val="105000"/>
              </a:lnSpc>
              <a:spcAft>
                <a:spcPts val="2400"/>
              </a:spcAft>
            </a:pPr>
            <a:r>
              <a:rPr sz="2800" b="0">
                <a:solidFill>
                  <a:srgbClr val="6B7280"/>
                </a:solidFill>
                <a:latin typeface="Arial"/>
              </a:rPr>
              <a:t>Lapland's snow had warned us two months earlier.</a:t>
            </a:r>
          </a:p>
          <a:p>
            <a:pPr algn="l">
              <a:lnSpc>
                <a:spcPct val="105000"/>
              </a:lnSpc>
              <a:spcAft>
                <a:spcPts val="240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Flow over 1-in-10 level · snow top 15 % · in-sample</a:t>
            </a:r>
          </a:p>
        </p:txBody>
      </p:sp>
      <p:pic>
        <p:nvPicPr>
          <p:cNvPr id="4" name="Picture 3" descr="map_2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11480"/>
            <a:ext cx="5852160" cy="4804011"/>
          </a:xfrm>
          <a:prstGeom prst="rect">
            <a:avLst/>
          </a:prstGeom>
          <a:ln>
            <a:solidFill>
              <a:srgbClr val="DDE3EA"/>
            </a:solidFill>
          </a:ln>
        </p:spPr>
      </p:pic>
      <p:sp>
        <p:nvSpPr>
          <p:cNvPr id="5" name="Rectangle 4"/>
          <p:cNvSpPr/>
          <p:nvPr/>
        </p:nvSpPr>
        <p:spPr>
          <a:xfrm>
            <a:off x="9247510" y="1513672"/>
            <a:ext cx="822960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47510" y="1513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Ivalo</a:t>
            </a:r>
          </a:p>
        </p:txBody>
      </p:sp>
      <p:sp>
        <p:nvSpPr>
          <p:cNvPr id="7" name="Rectangle 6"/>
          <p:cNvSpPr/>
          <p:nvPr/>
        </p:nvSpPr>
        <p:spPr>
          <a:xfrm>
            <a:off x="7091720" y="2282314"/>
            <a:ext cx="1078992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91720" y="2282314"/>
            <a:ext cx="107899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Kittilä</a:t>
            </a:r>
          </a:p>
        </p:txBody>
      </p:sp>
      <p:sp>
        <p:nvSpPr>
          <p:cNvPr id="9" name="Rectangle 8"/>
          <p:cNvSpPr/>
          <p:nvPr/>
        </p:nvSpPr>
        <p:spPr>
          <a:xfrm>
            <a:off x="8732520" y="3120614"/>
            <a:ext cx="1335024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3120614"/>
            <a:ext cx="13350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Rovaniemi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3206" y="3591407"/>
            <a:ext cx="950976" cy="36576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03206" y="3591407"/>
            <a:ext cx="9509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rgbClr val="0B1F3A"/>
                </a:solidFill>
                <a:latin typeface="Arial"/>
              </a:rPr>
              <a:t>Tornio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06440" y="5288643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Tulva app, spring 2005: filled = over its 1-in-10 flood 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Source: SYKE discharge 1961–2025 and 1 March snow (SWE)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Finland's rivers flood together, not one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>
                <a:solidFill>
                  <a:srgbClr val="6B7280"/>
                </a:solidFill>
                <a:latin typeface="Arial"/>
              </a:rPr>
              <a:t>Springs when ≥4 of 14 river areas pass their 1-in-10 flood level</a:t>
            </a:r>
          </a:p>
        </p:txBody>
      </p:sp>
      <p:pic>
        <p:nvPicPr>
          <p:cNvPr id="6" name="Picture 5" descr="pitch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490" y="1783080"/>
            <a:ext cx="10682714" cy="3840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760720"/>
            <a:ext cx="9144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5760720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1F3A"/>
                </a:solidFill>
                <a:latin typeface="Arial"/>
              </a:rPr>
              <a:t>Cover is bought in autumn. The snow signal comes in March.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Source: SYKE 1961–2025 (+ SMHI Torne); chance = rivers flood independently, same gauge-years as observed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Tulva Index: sold in autumn, updated in March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1094415" cy="731520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362895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Pays if ≥2 of 5 northern rivers pass their 1-in-50 flood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212848"/>
            <a:ext cx="1109441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>
                <a:solidFill>
                  <a:srgbClr val="D13B2F"/>
                </a:solidFill>
                <a:latin typeface="Arial"/>
              </a:rPr>
              <a:t>Fair price ≈1.8× a model using the 0.27 average correlation of the 2027 Finnish flood-zone matrix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2724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EXPECTED LOSS, % OF THE LIMIT PER YEAR (90 % INTERVALS)</a:t>
            </a:r>
          </a:p>
        </p:txBody>
      </p:sp>
      <p:pic>
        <p:nvPicPr>
          <p:cNvPr id="9" name="Picture 8" descr="pitch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3429000"/>
            <a:ext cx="11064240" cy="1828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5394960"/>
            <a:ext cx="11094415" cy="86868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5394960"/>
            <a:ext cx="91440" cy="8686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5394960"/>
            <a:ext cx="10682935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rgbClr val="0B1F3A"/>
                </a:solidFill>
                <a:latin typeface="Arial"/>
              </a:rPr>
              <a:t>After a snowy March the risk triples </a:t>
            </a:r>
            <a:r>
              <a:rPr sz="2100" b="1">
                <a:solidFill>
                  <a:srgbClr val="6B7280"/>
                </a:solidFill>
                <a:latin typeface="Arial"/>
              </a:rPr>
              <a:t>(1.96 % → 6.4 %; 90 %: 2.1–4.4×)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0B1F3A"/>
                </a:solidFill>
                <a:latin typeface="Arial"/>
              </a:rPr>
              <a:t>Priced in autumn. In March the insurer acts on it: top-up cover, claims staff in the regions at risk.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Sources: SYKE 1961–2025, Tulva model, year-bootstrap intervals; 0.27 = mean of the 19-zone matrix, Del. Reg. (EU) 2026/269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tulva_dem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340967" y="502920"/>
            <a:ext cx="9509759" cy="5349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989320"/>
            <a:ext cx="103628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Live app: joint-flood map → March snow → quantum chip → 2005 replay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Tulva</a:t>
            </a:r>
            <a:r>
              <a:rPr sz="1200" b="0">
                <a:solidFill>
                  <a:srgbClr val="A9C8F5"/>
                </a:solidFill>
                <a:latin typeface="Arial"/>
              </a:rPr>
              <a:t>   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QUANTUM,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It runs on real quantum chips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Two-river North-cluster pair on IQM Emerald</a:t>
            </a:r>
          </a:p>
        </p:txBody>
      </p:sp>
      <p:pic>
        <p:nvPicPr>
          <p:cNvPr id="6" name="Picture 5" descr="pitch_sn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949439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09560" y="141732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CALIBRATED SAMPLING + SHALLOW AMPLITUDE ESTIMATION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194560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Two-river 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542032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IBM Marrakesh, IQM Garnet and Emerald: 3 qubits, Grover steps k = 0–2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09560" y="3200400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331012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14-river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65760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IQM Emerald: 18 qubits, sampling 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09560" y="4315968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09560" y="4425696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Amplification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773168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>
                <a:solidFill>
                  <a:srgbClr val="6B7280"/>
                </a:solidFill>
                <a:latin typeface="Arial"/>
              </a:rPr>
              <a:t>amplified circuits keep ≈0.5 of the signal on Emerald, 0.6–0.8 on IBM / Garnet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09560" y="5431536"/>
            <a:ext cx="3749039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Intervals, raw readings and job IDs: appendix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QUANTUM,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Classical Monte Carlo still wins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6</a:t>
            </a:r>
          </a:p>
        </p:txBody>
      </p:sp>
      <p:pic>
        <p:nvPicPr>
          <p:cNvPr id="5" name="Picture 4" descr="pitch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603" y="1463040"/>
            <a:ext cx="65717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3212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Two-river North-cluster pair, both over 1-in-50: error vs effort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463040"/>
            <a:ext cx="4160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F6FEB"/>
                </a:solidFill>
                <a:latin typeface="Arial"/>
              </a:rPr>
              <a:t>Method ready, hardware not yet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2011680"/>
            <a:ext cx="4160520" cy="155448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2011680"/>
            <a:ext cx="73152" cy="1554480"/>
          </a:xfrm>
          <a:prstGeom prst="rect">
            <a:avLst/>
          </a:prstGeom>
          <a:solidFill>
            <a:srgbClr val="D13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148840"/>
            <a:ext cx="374903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Today: rare floods drown in noise.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3703320"/>
            <a:ext cx="41605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0B1F3A"/>
                </a:solidFill>
                <a:latin typeface="Arial"/>
              </a:rPr>
              <a:t>14 rivers, 18 qubits (IQM Emerald):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6B7280"/>
                </a:solidFill>
                <a:latin typeface="Arial"/>
              </a:rPr>
              <a:t>correlation survives but attenuated: chip vs chip-control 1.4× (exact 2.5×)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0">
                <a:solidFill>
                  <a:srgbClr val="6B7280"/>
                </a:solidFill>
                <a:latin typeface="Arial"/>
              </a:rPr>
              <a:t>1-in-50: 16 % vs 4.8 % exact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5120640"/>
            <a:ext cx="41605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0B1F3A"/>
                </a:solidFill>
                <a:latin typeface="Arial"/>
              </a:rPr>
              <a:t>Prices are computed classically; quantum is the R&amp;D track.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BUSINESS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0B1F3A"/>
                </a:solidFill>
                <a:latin typeface="Arial"/>
              </a:rPr>
              <a:t>Who pays whom, and 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2464993" cy="237744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2464993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209923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BUYER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01952"/>
            <a:ext cx="209923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Finnish home insurers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99232"/>
            <a:ext cx="2099233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e.g. If Insurance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3633" y="228600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F6FEB"/>
                </a:solidFill>
                <a:latin typeface="Arial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5113" y="1371600"/>
            <a:ext cx="2464993" cy="237744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5113" y="1371600"/>
            <a:ext cx="2464993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7993" y="1554480"/>
            <a:ext cx="209923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RISK CARRIER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7993" y="1901952"/>
            <a:ext cx="209923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A reinsurer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7993" y="2999232"/>
            <a:ext cx="2099233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Premium, insurer → reinsurer: ≈€0.5–0.7M a year per €10M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0107" y="228600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F6FEB"/>
                </a:solidFill>
                <a:latin typeface="Arial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1587" y="1371600"/>
            <a:ext cx="2464993" cy="237744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1587" y="1371600"/>
            <a:ext cx="2464993" cy="640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4467" y="1554480"/>
            <a:ext cx="209923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TULVA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4467" y="1901952"/>
            <a:ext cx="209923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Index + pricing licence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4467" y="2999232"/>
            <a:ext cx="2099233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Licence → Tulva: €25k pilot, then ~€75k a year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66581" y="2286000"/>
            <a:ext cx="411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F6FE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78061" y="1371600"/>
            <a:ext cx="2464993" cy="2377440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78061" y="1371600"/>
            <a:ext cx="2464993" cy="64008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60941" y="1554480"/>
            <a:ext cx="209923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Arial"/>
              </a:rPr>
              <a:t>YEAR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0941" y="1901952"/>
            <a:ext cx="209923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3–6 insurers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× €75k ≈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0B1F3A"/>
                </a:solidFill>
                <a:latin typeface="Arial"/>
              </a:rPr>
              <a:t>€0.2–0.45M/yr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60941" y="2999232"/>
            <a:ext cx="2099233" cy="65836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Upside: Nordic snowmelt (assumption)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886200"/>
            <a:ext cx="91440" cy="749808"/>
          </a:xfrm>
          <a:prstGeom prst="rect">
            <a:avLst/>
          </a:prstGeom>
          <a:solidFill>
            <a:srgbClr val="D13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3886200"/>
            <a:ext cx="10820095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D13B2F"/>
                </a:solidFill>
                <a:latin typeface="Arial"/>
              </a:rPr>
              <a:t>Why now  </a:t>
            </a:r>
            <a:r>
              <a:rPr sz="1700" b="1">
                <a:solidFill>
                  <a:srgbClr val="0B1F3A"/>
                </a:solidFill>
                <a:latin typeface="Arial"/>
              </a:rPr>
              <a:t>From 2027 standard-formula insurers get fixed flood correlations that ignore the snow; internal-model insurers like If Insurance get a snow-aware joint-flood number for their own model.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727448"/>
            <a:ext cx="91440" cy="74980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" y="4727448"/>
            <a:ext cx="10820095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Arial"/>
              </a:rPr>
              <a:t>Basis risk  </a:t>
            </a:r>
            <a:r>
              <a:rPr sz="1700" b="1">
                <a:solidFill>
                  <a:srgbClr val="0B1F3A"/>
                </a:solidFill>
                <a:latin typeface="Arial"/>
              </a:rPr>
              <a:t>same 1-in-50 idea Finnish home policies use, but on river flow. Back-test: paid in the 1966, 2005 and 2018 flood springs; missed Ostrobothnia 2012–13 and 2024 (snow flag on: a false alarm).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568696"/>
            <a:ext cx="11094415" cy="658368"/>
          </a:xfrm>
          <a:prstGeom prst="roundRect">
            <a:avLst>
              <a:gd name="adj" fmla="val 12000"/>
            </a:avLst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5568696"/>
            <a:ext cx="10728655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A9C8F5"/>
                </a:solidFill>
                <a:latin typeface="Arial"/>
              </a:rPr>
              <a:t>Ask  </a:t>
            </a:r>
            <a:r>
              <a:rPr sz="1900" b="1">
                <a:solidFill>
                  <a:srgbClr val="FFFFFF"/>
                </a:solidFill>
                <a:latin typeface="Arial"/>
              </a:rPr>
              <a:t>One insurer's flood claims for 8 weeks → basis-risk map + firm quote for 1 Jan 2028.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55664"/>
            <a:ext cx="90827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Del. Reg. (EU) 2026/269 · back-test at 1-in-10 (at 1-in-50: 1966, 2005) · premium = model × 2.5–3.5 · prices: assumptions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Tulva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March, the snow will warn us </a:t>
            </a:r>
            <a:r>
              <a:rPr sz="4000" b="1">
                <a:solidFill>
                  <a:srgbClr val="A9C8F5"/>
                </a:solidFill>
                <a:latin typeface="Arial"/>
              </a:rPr>
              <a:t>again.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3000" b="0">
                <a:solidFill>
                  <a:srgbClr val="A9C8F5"/>
                </a:solidFill>
                <a:latin typeface="Arial"/>
              </a:rPr>
              <a:t>This time, it will have a price.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461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A9C8F5"/>
                </a:solidFill>
                <a:latin typeface="Arial"/>
              </a:rPr>
              <a:t>BUILT THIS WEEKEND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547872"/>
            <a:ext cx="1660382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47872"/>
            <a:ext cx="166038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SYKE data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83342" y="3547872"/>
            <a:ext cx="1485896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3342" y="3547872"/>
            <a:ext cx="14858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Joint flood model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0678" y="3547872"/>
            <a:ext cx="1173833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0678" y="3547872"/>
            <a:ext cx="117383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Index pricing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25951" y="3547872"/>
            <a:ext cx="861929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25951" y="3547872"/>
            <a:ext cx="86192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Live app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9320" y="3547872"/>
            <a:ext cx="1669034" cy="365760"/>
          </a:xfrm>
          <a:prstGeom prst="roundRect">
            <a:avLst>
              <a:gd name="adj" fmla="val 50000"/>
            </a:avLst>
          </a:prstGeom>
          <a:solidFill>
            <a:srgbClr val="1A36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9320" y="3547872"/>
            <a:ext cx="166903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QAE on IBM &amp; IQM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690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A9C8F5"/>
                </a:solidFill>
                <a:latin typeface="Arial"/>
              </a:rPr>
              <a:t>RESOURCES USED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370832"/>
            <a:ext cx="1458551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370832"/>
            <a:ext cx="145855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SYKE open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81511" y="4370832"/>
            <a:ext cx="135703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1511" y="4370832"/>
            <a:ext cx="135703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IBM Marrakesh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29982" y="4370832"/>
            <a:ext cx="2907919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29982" y="4370832"/>
            <a:ext cx="290791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IQM Garnet &amp; Emerald (Resonance)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9341" y="4370832"/>
            <a:ext cx="632198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9341" y="4370832"/>
            <a:ext cx="63219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Qrisp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52979" y="4370832"/>
            <a:ext cx="650494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979" y="4370832"/>
            <a:ext cx="65049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Qiskit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4913" y="4370832"/>
            <a:ext cx="1467679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  <a:ln w="12700">
            <a:solidFill>
              <a:srgbClr val="A9C8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4913" y="4370832"/>
            <a:ext cx="146767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AI coding agents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349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Toivo Kallio</a:t>
            </a:r>
            <a:r>
              <a:rPr sz="2000" b="0">
                <a:solidFill>
                  <a:srgbClr val="A9C8F5"/>
                </a:solidFill>
                <a:latin typeface="Arial"/>
              </a:rPr>
              <a:t>  ·  </a:t>
            </a:r>
            <a:r>
              <a:rPr sz="2000" b="1">
                <a:solidFill>
                  <a:srgbClr val="FFFFFF"/>
                </a:solidFill>
                <a:latin typeface="Arial"/>
              </a:rPr>
              <a:t>Vaishnav Rane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>
                <a:solidFill>
                  <a:srgbClr val="A9C8F5"/>
                </a:solidFill>
                <a:latin typeface="Arial"/>
              </a:rPr>
              <a:t>Team 21 STUHI  ·  Quantum x Finance 2026, Hanken × Ultrahack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Tulva</a:t>
            </a:r>
            <a:r>
              <a:rPr sz="1200" b="0">
                <a:solidFill>
                  <a:srgbClr val="A9C8F5"/>
                </a:solidFill>
                <a:latin typeface="Arial"/>
              </a:rPr>
              <a:t>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9184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>
                <a:solidFill>
                  <a:srgbClr val="0B1F3A"/>
                </a:solidFill>
                <a:latin typeface="Arial"/>
              </a:rPr>
              <a:t>Hardware runs in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4934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33556" y="1463040"/>
            <a:ext cx="357650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Circuit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01505" y="1463040"/>
            <a:ext cx="768943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Exact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1889" y="1463040"/>
            <a:ext cx="72365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Raw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76989" y="1463040"/>
            <a:ext cx="23085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Calibrated (90 % CI)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7005" y="1463040"/>
            <a:ext cx="167460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Job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42032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11680"/>
            <a:ext cx="14934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IBM Marrakesh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3556" y="2011680"/>
            <a:ext cx="357650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North-cluster pair, 3 qubits, k = 0–2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1505" y="2011680"/>
            <a:ext cx="768943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0.125 %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1889" y="2011680"/>
            <a:ext cx="72365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0.262 %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6989" y="2011680"/>
            <a:ext cx="23085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0.149 % (0.140–0.157)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7005" y="2011680"/>
            <a:ext cx="167460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db3tddsvf2bc73ctoprg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090672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60320"/>
            <a:ext cx="14934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Garnet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3556" y="2560320"/>
            <a:ext cx="357650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North-cluster pair, 3 qubits, k = 0–2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505" y="2560320"/>
            <a:ext cx="768943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0.125 %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1889" y="2560320"/>
            <a:ext cx="72365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0.368 %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6989" y="2560320"/>
            <a:ext cx="23085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0.164 % (0.147–0.180)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7005" y="2560320"/>
            <a:ext cx="167460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01a11cc3-7f6c…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39312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108960"/>
            <a:ext cx="14934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33556" y="3108960"/>
            <a:ext cx="357650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Snowy / low March ratio, same pair, k = 0–2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1505" y="3108960"/>
            <a:ext cx="768943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2.75×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61889" y="3108960"/>
            <a:ext cx="72365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1.3×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76989" y="3108960"/>
            <a:ext cx="23085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3.05× (2.6–3.6)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7005" y="3108960"/>
            <a:ext cx="167460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product-…075338Z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4187952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657600"/>
            <a:ext cx="14934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33556" y="3657600"/>
            <a:ext cx="357650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14 rivers ≥4 over 1-in-10, 18 q / 44 CZ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01505" y="3657600"/>
            <a:ext cx="768943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10.9 %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61889" y="3657600"/>
            <a:ext cx="72365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76989" y="3657600"/>
            <a:ext cx="23085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13.8 % (readout-corr.)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77005" y="3657600"/>
            <a:ext cx="167460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01a11cd4-da38…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736592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206240"/>
            <a:ext cx="14934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33556" y="4206240"/>
            <a:ext cx="357650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14 rivers ≥2 over 1-in-50, same circuit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01505" y="4206240"/>
            <a:ext cx="768943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4.8 %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61889" y="4206240"/>
            <a:ext cx="72365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76989" y="4206240"/>
            <a:ext cx="23085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16.0 % (fails)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7005" y="4206240"/>
            <a:ext cx="167460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01a11f9b-c62a…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285231"/>
            <a:ext cx="11094415" cy="10972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754879"/>
            <a:ext cx="14934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IQM Emerald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33556" y="4754879"/>
            <a:ext cx="357650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Control: independent circuit, ≥4 over 1-in-10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01505" y="4754879"/>
            <a:ext cx="768943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4.4 %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61889" y="4754879"/>
            <a:ext cx="72365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0B1F3A"/>
                </a:solidFill>
                <a:latin typeface="Arial"/>
              </a:rPr>
              <a:t>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76989" y="4754879"/>
            <a:ext cx="23085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Arial"/>
              </a:rPr>
              <a:t>9.7 % (noise fattens tails)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77005" y="4754879"/>
            <a:ext cx="1674609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…T135910Z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440679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Calibrated = noise-aware MLAE with two calibration circuits of known answer, same job, same qubits; bootstrap 90 % intervals. The IBM / Garnet intervals exclude exact: a +19 % / +31 % systematic bias.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Pair = two rivers with identical North-cluster loadings and 1-in-50 trigger (not Kittilä and Ivalo specifically). Signal kept after amplification on Emerald 0.56–0.59 (k = 1), 0.44 (k = 2): mostly a calibrated k = 0 estimate. Classical Monte Carlo at the same budget is more precise (±0.004 pp).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14255" y="647395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Arial"/>
              </a:rPr>
              <a:t>Tulva</a:t>
            </a:r>
            <a:r>
              <a:rPr sz="1200" b="0">
                <a:solidFill>
                  <a:srgbClr val="6B7280"/>
                </a:solidFill>
                <a:latin typeface="Arial"/>
              </a:rPr>
              <a:t>  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