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[Hook (0:00–0:12)]</a:t>
            </a:r>
          </a:p>
          <a:p>
            <a:r>
              <a:t>In May 2005, four Lapland rivers hit flood levels TOGETHER. The snow had warned us two months EARLIER. Tulva turns that warning into a PRICE. [pause]</a:t>
            </a:r>
          </a:p>
          <a:p/>
          <a:p>
            <a:r>
              <a:t>Q&amp;A only (not spoken): "flood levels" = river flow (discharge) over each gauge's 1-in-10 level, not damage. Four = Ivalo, Kittilä, Rovaniemi, Tornio over their 1-in-10 level (the map's filled dots); Ivalo, Kittilä and Rovaniemi also passed their 1-in-50 level. "Warned us" = the North's 1 March snow was in its top 15 % (87th percentile): an in-sample back-test, not a forecast we made at the time.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gap (0:12–0:24)]</a:t>
            </a:r>
          </a:p>
          <a:p>
            <a:r>
              <a:t>Rivers in one region share ONE snowpack, so they flood TOGETHER: almost FOUR times more often than chance. [pause] Insurers buy cover in autumn, BEFORE the snow.</a:t>
            </a:r>
          </a:p>
          <a:p/>
          <a:p>
            <a:r>
              <a:t>Q&amp;A only (not spoken): 10 of 65 springs (15.4 %, 90 % interval 9–24 %) had ≥4 of 14 areas over 1-in-10; chance on the same gauge-years 3.9 % (3.9×). If all 14 gauges had reported every year, chance would be 4.4 % (3.5×).</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product (0:24–0:38)]</a:t>
            </a:r>
          </a:p>
          <a:p>
            <a:r>
              <a:t>Our index pays when SEVERAL northern rivers pass a rare flood level TOGETHER. Its expected loss is 1.8 TIMES the regulator's standard assumption. [pause] After a snowy March, it TRIPLES.</a:t>
            </a:r>
          </a:p>
          <a:p/>
          <a:p>
            <a:r>
              <a:t>Q&amp;A only (not spoken): a model comparison, not "the rule implies a price": expected loss 1.96 % of the limit a year (year-bootstrap 90 %: 1.6–2.2 %) vs 1.11 % for a model with one correlation of 0.27, the mean of the 2027 Finnish 19-zone flood matrix (1.77×). We used the 19-zone mean, not the Lapland zones' own entries (the repo has neither the entries nor the zone-to-region map). ≈5× only against independence (0.38 %). "Triples" = 6.4 % after a top-15 % snow March vs the autumn (normal) 1.96 % (3.3×, 90 %: 2.1–4.4×): snowy vs NORMAL, for the 5-river cover. Not the same as slide 6's 3.05× (snowy vs LOW snow, two-river pair on chip; snowy vs normal there is 1.51× chip / 1.55× exact). The product pays the full limit at ≥2; a staged payout is only a variant. The cover is priced in autumn; in March the insurer buys a top-up / second-layer cover if it wants one, staffs claims in the regions at risk and uses the number in its ORSA. Market price (2.5–3.5× expected loss): 4.9–6.9 % rate on line, ≈ €49–69k a year per €1M of cover.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 video (0:38–1:22), plays with voiceover]</a:t>
            </a:r>
          </a:p>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circuit (1:22–1:35)]</a:t>
            </a:r>
          </a:p>
          <a:p>
            <a:r>
              <a:t>Each qubit is the wet spring or a river; the gates ARE our model. Why quantum? Twice the accuracy costs sampling four times the runs; amplitude estimation, only twice.</a:t>
            </a:r>
          </a:p>
          <a:p/>
          <a:p>
            <a:r>
              <a:t>Q&amp;A only (not spoken): method = quantum amplitude estimation (QAE), in its maximum-likelihood form (MLAE): Grover powers k = 0, 1, 2, no phase estimation, plus noise-aware calibration on hardware. The figure is the circuit we ran (instance A3_kittila_ivalo_both in scripts/run_hw.py, drawn by scripts/qae_circuit_figure.py): A = RY on the wet-spring qubit, RY + controlled-RY on each river qubit (angles 2·arcsin(√p) from the model); CZ marks "both flood"; one Grover step = A† · reflect about |000⟩ · A. On an ideal simulator: 0.125 % (exact 0.125 %), ±0.011 pp vs Monte Carlo ±0.027 pp at the same 16,000 oracle queries (≈2.5× tighter). "Only twice" is the ideal scaling (error ∝ 1/N vs 1/√N); our shallow k = 0–2 runs do not reach it on today's chips (slide 7).</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[Quantum, in practice (1:35–1:39)]</a:t>
            </a:r>
          </a:p>
          <a:p>
            <a:r>
              <a:t>On the IQM chip, the snow signal SURVIVES the noise.</a:t>
            </a:r>
          </a:p>
          <a:p/>
          <a:p>
            <a:r>
              <a:t>Q&amp;A only (not spoken): the two-river core is a North-cluster pair with identical loadings and 1-in-50 trigger, not Kittilä and Ivalo specifically. The 3.05× is IQM Emerald (calibrated, 90 %: 2.6–3.6). The simplified 14-river model (two-level, 18 qubits, sampling only) ran on IQM's Emerald and Q50. Method: calibrated sampling plus shallow amplitude estimation (Grover steps k = 0–2). Signal kept at k = 1 in the runs shown: Emerald 0.56–0.59, IBM / Garnet 0.77–0.78, VTT Q50 0.12–0.19 (earlier runs 0.65–0.88), so the estimate is mostly the calibrated k = 0 circuit. VTT Q50 (via LUMI): three repeats gave 0.11–0.53 % vs exact 0.125 %; calibration not yet stable, k = 1 keeps only 0.12–0.19 of the signal. It is the fourth computer we ran on, not a headline result (QA.md).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[Quantum, honestly (1:39–1:48)]</a:t>
            </a:r>
          </a:p>
          <a:p>
            <a:r>
              <a:t>Classical computers still WIN today: rare floods drown in chip noise. The method is READY. The hardware is not, YET.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[Business (1:48–2:18)]</a:t>
            </a:r>
          </a:p>
          <a:p>
            <a:r>
              <a:t>Our customers: insurers like OP and If. In March, two months before the melt, our index tells them how risky this spring is, so they can buy extra cover IN TIME, paid automatically on the index. They pay US a licence: 25 thousand to pilot, then 75 thousand a year. From 2027 the regulator's formula is BLIND to snow. Our ask: one insurer's flood claims, eight weeks.</a:t>
            </a:r>
          </a:p>
          <a:p/>
          <a:p>
            <a:r>
              <a:t>Q&amp;A only (not spoken): premium per €10M North layer ≈ €0.5–0.7M a year (model × 2.5–3.5 market multiple) goes insurer → reinsurer; the licence goes insurer → Tulva (the reinsurer pays Tulva nothing). "The regulator's formula" = the 2027 Solvency II standard formula; "their own model" = an approved internal model (If: Sampo's partial internal model; we don't claim OP uses one). Year 3 = 3–6 insurers × €75k (assumption); Nordic snowmelt upside unsized (assumption). We'd like to pilot with OP; there is no agreement. Basis risk (1-in-10 back-test): paid in loss springs 1966, 2005, 2018; missed Ostrobothnia 2012–13 and 2024 (snow flag on, index silent) and Lapland 2020; since 2005 also paid in 2015, 2023 and 2024 in the North with no recorded Lapland loss. At the 1-in-50 product level: paid 1966 and 2005 only.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(2:18–2:31)]</a:t>
            </a:r>
          </a:p>
          <a:p>
            <a:r>
              <a:t>Everything you saw, we built THIS weekend. [pause] Next March, the snow will warn us AGAIN. [long pause] This time, it will have a PRICE.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2.png"/><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5486400" cy="457200"/>
          </a:xfrm>
          <a:prstGeom prst="rect">
            <a:avLst/>
          </a:prstGeom>
          <a:noFill/>
        </p:spPr>
        <p:txBody>
          <a:bodyPr wrap="square" lIns="0" rIns="0" tIns="0" bIns="0" anchor="t">
            <a:spAutoFit/>
          </a:bodyPr>
          <a:lstStyle/>
          <a:p>
            <a:pPr algn="l">
              <a:lnSpc>
                <a:spcPct val="100000"/>
              </a:lnSpc>
              <a:spcAft>
                <a:spcPts val="0"/>
              </a:spcAft>
            </a:pPr>
            <a:r>
              <a:rPr sz="2800" b="1">
                <a:solidFill>
                  <a:srgbClr val="0B1F3A"/>
                </a:solidFill>
                <a:latin typeface="Arial"/>
              </a:rPr>
              <a:t>Tulva</a:t>
            </a:r>
          </a:p>
        </p:txBody>
      </p:sp>
      <p:sp>
        <p:nvSpPr>
          <p:cNvPr id="3" name="TextBox 2"/>
          <p:cNvSpPr txBox="1"/>
          <p:nvPr/>
        </p:nvSpPr>
        <p:spPr>
          <a:xfrm>
            <a:off x="548640" y="1600200"/>
            <a:ext cx="5120640" cy="3291840"/>
          </a:xfrm>
          <a:prstGeom prst="rect">
            <a:avLst/>
          </a:prstGeom>
          <a:noFill/>
        </p:spPr>
        <p:txBody>
          <a:bodyPr wrap="square" lIns="0" rIns="0" tIns="0" bIns="0" anchor="t">
            <a:spAutoFit/>
          </a:bodyPr>
          <a:lstStyle/>
          <a:p>
            <a:pPr algn="l">
              <a:lnSpc>
                <a:spcPct val="105000"/>
              </a:lnSpc>
              <a:spcAft>
                <a:spcPts val="0"/>
              </a:spcAft>
            </a:pPr>
            <a:r>
              <a:rPr sz="4800" b="1">
                <a:solidFill>
                  <a:srgbClr val="0B1F3A"/>
                </a:solidFill>
                <a:latin typeface="Arial"/>
              </a:rPr>
              <a:t>May 2005: four Lapland rivers flooded </a:t>
            </a:r>
            <a:r>
              <a:rPr sz="4800" b="1">
                <a:solidFill>
                  <a:srgbClr val="1F6FEB"/>
                </a:solidFill>
                <a:latin typeface="Arial"/>
              </a:rPr>
              <a:t>together.</a:t>
            </a:r>
          </a:p>
        </p:txBody>
      </p:sp>
      <p:sp>
        <p:nvSpPr>
          <p:cNvPr id="4" name="TextBox 3"/>
          <p:cNvSpPr txBox="1"/>
          <p:nvPr/>
        </p:nvSpPr>
        <p:spPr>
          <a:xfrm>
            <a:off x="548640" y="4160520"/>
            <a:ext cx="5120640" cy="548640"/>
          </a:xfrm>
          <a:prstGeom prst="rect">
            <a:avLst/>
          </a:prstGeom>
          <a:noFill/>
        </p:spPr>
        <p:txBody>
          <a:bodyPr wrap="square" lIns="0" rIns="0" tIns="0" bIns="0" anchor="t">
            <a:spAutoFit/>
          </a:bodyPr>
          <a:lstStyle/>
          <a:p>
            <a:pPr algn="l">
              <a:lnSpc>
                <a:spcPct val="100000"/>
              </a:lnSpc>
              <a:spcAft>
                <a:spcPts val="0"/>
              </a:spcAft>
            </a:pPr>
            <a:r>
              <a:rPr sz="3200" b="0">
                <a:solidFill>
                  <a:srgbClr val="6B7280"/>
                </a:solidFill>
                <a:latin typeface="Arial"/>
              </a:rPr>
              <a:t>The March snow warned us.</a:t>
            </a:r>
          </a:p>
        </p:txBody>
      </p:sp>
      <p:pic>
        <p:nvPicPr>
          <p:cNvPr id="5" name="Picture 4" descr="map_2005.png"/>
          <p:cNvPicPr>
            <a:picLocks noChangeAspect="1"/>
          </p:cNvPicPr>
          <p:nvPr/>
        </p:nvPicPr>
        <p:blipFill>
          <a:blip r:embed="rId2"/>
          <a:stretch>
            <a:fillRect/>
          </a:stretch>
        </p:blipFill>
        <p:spPr>
          <a:xfrm>
            <a:off x="5806440" y="411480"/>
            <a:ext cx="5852160" cy="4804011"/>
          </a:xfrm>
          <a:prstGeom prst="rect">
            <a:avLst/>
          </a:prstGeom>
          <a:ln>
            <a:solidFill>
              <a:srgbClr val="DDE3EA"/>
            </a:solidFill>
          </a:ln>
        </p:spPr>
      </p:pic>
      <p:sp>
        <p:nvSpPr>
          <p:cNvPr id="6" name="Rectangle 5"/>
          <p:cNvSpPr/>
          <p:nvPr/>
        </p:nvSpPr>
        <p:spPr>
          <a:xfrm>
            <a:off x="9247510" y="1513672"/>
            <a:ext cx="822960" cy="365760"/>
          </a:xfrm>
          <a:prstGeom prst="rect">
            <a:avLst/>
          </a:prstGeom>
          <a:solidFill>
            <a:srgbClr val="F3F6FA"/>
          </a:solidFill>
          <a:ln>
            <a:noFill/>
          </a:ln>
          <a:effectLst/>
        </p:spPr>
        <p:txBody>
          <a:bodyPr rtlCol="0" anchor="ctr"/>
          <a:lstStyle/>
          <a:p>
            <a:pPr algn="ctr"/>
          </a:p>
        </p:txBody>
      </p:sp>
      <p:sp>
        <p:nvSpPr>
          <p:cNvPr id="7" name="TextBox 6"/>
          <p:cNvSpPr txBox="1"/>
          <p:nvPr/>
        </p:nvSpPr>
        <p:spPr>
          <a:xfrm>
            <a:off x="9247510" y="1513672"/>
            <a:ext cx="822960" cy="365760"/>
          </a:xfrm>
          <a:prstGeom prst="rect">
            <a:avLst/>
          </a:prstGeom>
          <a:noFill/>
        </p:spPr>
        <p:txBody>
          <a:bodyPr wrap="square" lIns="0" rIns="0" tIns="0" bIns="0" anchor="ctr">
            <a:spAutoFit/>
          </a:bodyPr>
          <a:lstStyle/>
          <a:p>
            <a:pPr algn="ctr">
              <a:lnSpc>
                <a:spcPct val="100000"/>
              </a:lnSpc>
              <a:spcAft>
                <a:spcPts val="0"/>
              </a:spcAft>
            </a:pPr>
            <a:r>
              <a:rPr sz="1800" b="1">
                <a:solidFill>
                  <a:srgbClr val="0B1F3A"/>
                </a:solidFill>
                <a:latin typeface="Arial"/>
              </a:rPr>
              <a:t>Ivalo</a:t>
            </a:r>
          </a:p>
        </p:txBody>
      </p:sp>
      <p:sp>
        <p:nvSpPr>
          <p:cNvPr id="8" name="Rectangle 7"/>
          <p:cNvSpPr/>
          <p:nvPr/>
        </p:nvSpPr>
        <p:spPr>
          <a:xfrm>
            <a:off x="7091720" y="2282314"/>
            <a:ext cx="1078992" cy="365760"/>
          </a:xfrm>
          <a:prstGeom prst="rect">
            <a:avLst/>
          </a:prstGeom>
          <a:solidFill>
            <a:srgbClr val="F3F6FA"/>
          </a:solidFill>
          <a:ln>
            <a:noFill/>
          </a:ln>
          <a:effectLst/>
        </p:spPr>
        <p:txBody>
          <a:bodyPr rtlCol="0" anchor="ctr"/>
          <a:lstStyle/>
          <a:p>
            <a:pPr algn="ctr"/>
          </a:p>
        </p:txBody>
      </p:sp>
      <p:sp>
        <p:nvSpPr>
          <p:cNvPr id="9" name="TextBox 8"/>
          <p:cNvSpPr txBox="1"/>
          <p:nvPr/>
        </p:nvSpPr>
        <p:spPr>
          <a:xfrm>
            <a:off x="7091720" y="2282314"/>
            <a:ext cx="1078992" cy="365760"/>
          </a:xfrm>
          <a:prstGeom prst="rect">
            <a:avLst/>
          </a:prstGeom>
          <a:noFill/>
        </p:spPr>
        <p:txBody>
          <a:bodyPr wrap="square" lIns="0" rIns="0" tIns="0" bIns="0" anchor="ctr">
            <a:spAutoFit/>
          </a:bodyPr>
          <a:lstStyle/>
          <a:p>
            <a:pPr algn="ctr">
              <a:lnSpc>
                <a:spcPct val="100000"/>
              </a:lnSpc>
              <a:spcAft>
                <a:spcPts val="0"/>
              </a:spcAft>
            </a:pPr>
            <a:r>
              <a:rPr sz="1800" b="1">
                <a:solidFill>
                  <a:srgbClr val="0B1F3A"/>
                </a:solidFill>
                <a:latin typeface="Arial"/>
              </a:rPr>
              <a:t>Kittilä</a:t>
            </a:r>
          </a:p>
        </p:txBody>
      </p:sp>
      <p:sp>
        <p:nvSpPr>
          <p:cNvPr id="10" name="Rectangle 9"/>
          <p:cNvSpPr/>
          <p:nvPr/>
        </p:nvSpPr>
        <p:spPr>
          <a:xfrm>
            <a:off x="8732520" y="3120614"/>
            <a:ext cx="1335024" cy="365760"/>
          </a:xfrm>
          <a:prstGeom prst="rect">
            <a:avLst/>
          </a:prstGeom>
          <a:solidFill>
            <a:srgbClr val="F3F6FA"/>
          </a:solidFill>
          <a:ln>
            <a:noFill/>
          </a:ln>
          <a:effectLst/>
        </p:spPr>
        <p:txBody>
          <a:bodyPr rtlCol="0" anchor="ctr"/>
          <a:lstStyle/>
          <a:p>
            <a:pPr algn="ctr"/>
          </a:p>
        </p:txBody>
      </p:sp>
      <p:sp>
        <p:nvSpPr>
          <p:cNvPr id="11" name="TextBox 10"/>
          <p:cNvSpPr txBox="1"/>
          <p:nvPr/>
        </p:nvSpPr>
        <p:spPr>
          <a:xfrm>
            <a:off x="8732520" y="3120614"/>
            <a:ext cx="1335024" cy="365760"/>
          </a:xfrm>
          <a:prstGeom prst="rect">
            <a:avLst/>
          </a:prstGeom>
          <a:noFill/>
        </p:spPr>
        <p:txBody>
          <a:bodyPr wrap="square" lIns="0" rIns="0" tIns="0" bIns="0" anchor="ctr">
            <a:spAutoFit/>
          </a:bodyPr>
          <a:lstStyle/>
          <a:p>
            <a:pPr algn="ctr">
              <a:lnSpc>
                <a:spcPct val="100000"/>
              </a:lnSpc>
              <a:spcAft>
                <a:spcPts val="0"/>
              </a:spcAft>
            </a:pPr>
            <a:r>
              <a:rPr sz="1800" b="1">
                <a:solidFill>
                  <a:srgbClr val="0B1F3A"/>
                </a:solidFill>
                <a:latin typeface="Arial"/>
              </a:rPr>
              <a:t>Rovaniemi</a:t>
            </a:r>
          </a:p>
        </p:txBody>
      </p:sp>
      <p:sp>
        <p:nvSpPr>
          <p:cNvPr id="12" name="Rectangle 11"/>
          <p:cNvSpPr/>
          <p:nvPr/>
        </p:nvSpPr>
        <p:spPr>
          <a:xfrm>
            <a:off x="7003206" y="3591407"/>
            <a:ext cx="950976" cy="365760"/>
          </a:xfrm>
          <a:prstGeom prst="rect">
            <a:avLst/>
          </a:prstGeom>
          <a:solidFill>
            <a:srgbClr val="F3F6FA"/>
          </a:solidFill>
          <a:ln>
            <a:noFill/>
          </a:ln>
          <a:effectLst/>
        </p:spPr>
        <p:txBody>
          <a:bodyPr rtlCol="0" anchor="ctr"/>
          <a:lstStyle/>
          <a:p>
            <a:pPr algn="ctr"/>
          </a:p>
        </p:txBody>
      </p:sp>
      <p:sp>
        <p:nvSpPr>
          <p:cNvPr id="13" name="TextBox 12"/>
          <p:cNvSpPr txBox="1"/>
          <p:nvPr/>
        </p:nvSpPr>
        <p:spPr>
          <a:xfrm>
            <a:off x="7003206" y="3591407"/>
            <a:ext cx="950976" cy="365760"/>
          </a:xfrm>
          <a:prstGeom prst="rect">
            <a:avLst/>
          </a:prstGeom>
          <a:noFill/>
        </p:spPr>
        <p:txBody>
          <a:bodyPr wrap="square" lIns="0" rIns="0" tIns="0" bIns="0" anchor="ctr">
            <a:spAutoFit/>
          </a:bodyPr>
          <a:lstStyle/>
          <a:p>
            <a:pPr algn="ctr">
              <a:lnSpc>
                <a:spcPct val="100000"/>
              </a:lnSpc>
              <a:spcAft>
                <a:spcPts val="0"/>
              </a:spcAft>
            </a:pPr>
            <a:r>
              <a:rPr sz="1800" b="1">
                <a:solidFill>
                  <a:srgbClr val="0B1F3A"/>
                </a:solidFill>
                <a:latin typeface="Arial"/>
              </a:rPr>
              <a:t>Tornio</a:t>
            </a:r>
          </a:p>
        </p:txBody>
      </p:sp>
      <p:sp>
        <p:nvSpPr>
          <p:cNvPr id="14" name="TextBox 13"/>
          <p:cNvSpPr txBox="1"/>
          <p:nvPr/>
        </p:nvSpPr>
        <p:spPr>
          <a:xfrm>
            <a:off x="9814255" y="6473952"/>
            <a:ext cx="1828800" cy="228600"/>
          </a:xfrm>
          <a:prstGeom prst="rect">
            <a:avLst/>
          </a:prstGeom>
          <a:noFill/>
        </p:spPr>
        <p:txBody>
          <a:bodyPr wrap="square" lIns="0" rIns="0" tIns="0" bIns="0" anchor="t">
            <a:spAutoFit/>
          </a:bodyPr>
          <a:lstStyle/>
          <a:p>
            <a:pPr algn="r">
              <a:lnSpc>
                <a:spcPct val="100000"/>
              </a:lnSpc>
              <a:spcAft>
                <a:spcPts val="0"/>
              </a:spcAft>
            </a:pPr>
            <a:r>
              <a:rPr sz="1200" b="1">
                <a:solidFill>
                  <a:srgbClr val="0B1F3A"/>
                </a:solidFill>
                <a:latin typeface="Arial"/>
              </a:rPr>
              <a:t>Tulva</a:t>
            </a:r>
            <a:r>
              <a:rPr sz="1200" b="0">
                <a:solidFill>
                  <a:srgbClr val="6B7280"/>
                </a:solidFill>
                <a:latin typeface="Arial"/>
              </a:rPr>
              <a:t>   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4415" cy="731520"/>
          </a:xfrm>
          <a:prstGeom prst="rect">
            <a:avLst/>
          </a:prstGeom>
          <a:noFill/>
        </p:spPr>
        <p:txBody>
          <a:bodyPr wrap="square" lIns="0" rIns="0" tIns="0" bIns="0" anchor="t">
            <a:spAutoFit/>
          </a:bodyPr>
          <a:lstStyle/>
          <a:p>
            <a:pPr algn="l">
              <a:lnSpc>
                <a:spcPct val="100000"/>
              </a:lnSpc>
              <a:spcAft>
                <a:spcPts val="0"/>
              </a:spcAft>
            </a:pPr>
            <a:r>
              <a:rPr sz="4000" b="1">
                <a:solidFill>
                  <a:srgbClr val="0B1F3A"/>
                </a:solidFill>
                <a:latin typeface="Arial"/>
              </a:rPr>
              <a:t>Rivers flood together, not one at a time</a:t>
            </a:r>
          </a:p>
        </p:txBody>
      </p:sp>
      <p:sp>
        <p:nvSpPr>
          <p:cNvPr id="3" name="TextBox 2"/>
          <p:cNvSpPr txBox="1"/>
          <p:nvPr/>
        </p:nvSpPr>
        <p:spPr>
          <a:xfrm>
            <a:off x="9814255" y="6473952"/>
            <a:ext cx="1828800" cy="228600"/>
          </a:xfrm>
          <a:prstGeom prst="rect">
            <a:avLst/>
          </a:prstGeom>
          <a:noFill/>
        </p:spPr>
        <p:txBody>
          <a:bodyPr wrap="square" lIns="0" rIns="0" tIns="0" bIns="0" anchor="t">
            <a:spAutoFit/>
          </a:bodyPr>
          <a:lstStyle/>
          <a:p>
            <a:pPr algn="r">
              <a:lnSpc>
                <a:spcPct val="100000"/>
              </a:lnSpc>
              <a:spcAft>
                <a:spcPts val="0"/>
              </a:spcAft>
            </a:pPr>
            <a:r>
              <a:rPr sz="1200" b="1">
                <a:solidFill>
                  <a:srgbClr val="0B1F3A"/>
                </a:solidFill>
                <a:latin typeface="Arial"/>
              </a:rPr>
              <a:t>Tulva</a:t>
            </a:r>
            <a:r>
              <a:rPr sz="1200" b="0">
                <a:solidFill>
                  <a:srgbClr val="6B7280"/>
                </a:solidFill>
                <a:latin typeface="Arial"/>
              </a:rPr>
              <a:t>   2</a:t>
            </a:r>
          </a:p>
        </p:txBody>
      </p:sp>
      <p:sp>
        <p:nvSpPr>
          <p:cNvPr id="4" name="TextBox 3"/>
          <p:cNvSpPr txBox="1"/>
          <p:nvPr/>
        </p:nvSpPr>
        <p:spPr>
          <a:xfrm>
            <a:off x="548640" y="1280160"/>
            <a:ext cx="8229600" cy="457200"/>
          </a:xfrm>
          <a:prstGeom prst="rect">
            <a:avLst/>
          </a:prstGeom>
          <a:noFill/>
        </p:spPr>
        <p:txBody>
          <a:bodyPr wrap="square" lIns="0" rIns="0" tIns="0" bIns="0" anchor="t">
            <a:spAutoFit/>
          </a:bodyPr>
          <a:lstStyle/>
          <a:p>
            <a:pPr algn="l">
              <a:lnSpc>
                <a:spcPct val="100000"/>
              </a:lnSpc>
              <a:spcAft>
                <a:spcPts val="0"/>
              </a:spcAft>
            </a:pPr>
            <a:r>
              <a:rPr sz="2800" b="0">
                <a:solidFill>
                  <a:srgbClr val="6B7280"/>
                </a:solidFill>
                <a:latin typeface="Arial"/>
              </a:rPr>
              <a:t>Springs when ≥4 of 14 rivers flood</a:t>
            </a:r>
          </a:p>
        </p:txBody>
      </p:sp>
      <p:sp>
        <p:nvSpPr>
          <p:cNvPr id="5" name="Rectangle 4"/>
          <p:cNvSpPr/>
          <p:nvPr/>
        </p:nvSpPr>
        <p:spPr>
          <a:xfrm>
            <a:off x="1097280" y="2743200"/>
            <a:ext cx="2377440" cy="2331720"/>
          </a:xfrm>
          <a:prstGeom prst="rect">
            <a:avLst/>
          </a:prstGeom>
          <a:solidFill>
            <a:srgbClr val="0B1F3A"/>
          </a:solidFill>
          <a:ln>
            <a:noFill/>
          </a:ln>
          <a:effectLst/>
        </p:spPr>
        <p:txBody>
          <a:bodyPr rtlCol="0" anchor="ctr"/>
          <a:lstStyle/>
          <a:p>
            <a:pPr algn="ctr"/>
          </a:p>
        </p:txBody>
      </p:sp>
      <p:sp>
        <p:nvSpPr>
          <p:cNvPr id="6" name="TextBox 5"/>
          <p:cNvSpPr txBox="1"/>
          <p:nvPr/>
        </p:nvSpPr>
        <p:spPr>
          <a:xfrm>
            <a:off x="822959" y="1965960"/>
            <a:ext cx="2926080" cy="731520"/>
          </a:xfrm>
          <a:prstGeom prst="rect">
            <a:avLst/>
          </a:prstGeom>
          <a:noFill/>
        </p:spPr>
        <p:txBody>
          <a:bodyPr wrap="square" lIns="0" rIns="0" tIns="0" bIns="0" anchor="b">
            <a:spAutoFit/>
          </a:bodyPr>
          <a:lstStyle/>
          <a:p>
            <a:pPr algn="ctr">
              <a:lnSpc>
                <a:spcPct val="100000"/>
              </a:lnSpc>
              <a:spcAft>
                <a:spcPts val="0"/>
              </a:spcAft>
            </a:pPr>
            <a:r>
              <a:rPr sz="4400" b="1">
                <a:solidFill>
                  <a:srgbClr val="0B1F3A"/>
                </a:solidFill>
                <a:latin typeface="Arial"/>
              </a:rPr>
              <a:t>15.4 %</a:t>
            </a:r>
          </a:p>
        </p:txBody>
      </p:sp>
      <p:sp>
        <p:nvSpPr>
          <p:cNvPr id="7" name="TextBox 6"/>
          <p:cNvSpPr txBox="1"/>
          <p:nvPr/>
        </p:nvSpPr>
        <p:spPr>
          <a:xfrm>
            <a:off x="822959" y="5166359"/>
            <a:ext cx="2926080" cy="457200"/>
          </a:xfrm>
          <a:prstGeom prst="rect">
            <a:avLst/>
          </a:prstGeom>
          <a:noFill/>
        </p:spPr>
        <p:txBody>
          <a:bodyPr wrap="square" lIns="0" rIns="0" tIns="0" bIns="0" anchor="t">
            <a:spAutoFit/>
          </a:bodyPr>
          <a:lstStyle/>
          <a:p>
            <a:pPr algn="ctr">
              <a:lnSpc>
                <a:spcPct val="100000"/>
              </a:lnSpc>
              <a:spcAft>
                <a:spcPts val="0"/>
              </a:spcAft>
            </a:pPr>
            <a:r>
              <a:rPr sz="2800" b="0">
                <a:solidFill>
                  <a:srgbClr val="0B1F3A"/>
                </a:solidFill>
                <a:latin typeface="Arial"/>
              </a:rPr>
              <a:t>Observed</a:t>
            </a:r>
          </a:p>
        </p:txBody>
      </p:sp>
      <p:sp>
        <p:nvSpPr>
          <p:cNvPr id="8" name="Rectangle 7"/>
          <p:cNvSpPr/>
          <p:nvPr/>
        </p:nvSpPr>
        <p:spPr>
          <a:xfrm>
            <a:off x="4206240" y="4484419"/>
            <a:ext cx="2377440" cy="590500"/>
          </a:xfrm>
          <a:prstGeom prst="rect">
            <a:avLst/>
          </a:prstGeom>
          <a:solidFill>
            <a:srgbClr val="6B7280"/>
          </a:solidFill>
          <a:ln>
            <a:noFill/>
          </a:ln>
          <a:effectLst/>
        </p:spPr>
        <p:txBody>
          <a:bodyPr rtlCol="0" anchor="ctr"/>
          <a:lstStyle/>
          <a:p>
            <a:pPr algn="ctr"/>
          </a:p>
        </p:txBody>
      </p:sp>
      <p:sp>
        <p:nvSpPr>
          <p:cNvPr id="9" name="TextBox 8"/>
          <p:cNvSpPr txBox="1"/>
          <p:nvPr/>
        </p:nvSpPr>
        <p:spPr>
          <a:xfrm>
            <a:off x="3931920" y="3707179"/>
            <a:ext cx="2926080" cy="731520"/>
          </a:xfrm>
          <a:prstGeom prst="rect">
            <a:avLst/>
          </a:prstGeom>
          <a:noFill/>
        </p:spPr>
        <p:txBody>
          <a:bodyPr wrap="square" lIns="0" rIns="0" tIns="0" bIns="0" anchor="b">
            <a:spAutoFit/>
          </a:bodyPr>
          <a:lstStyle/>
          <a:p>
            <a:pPr algn="ctr">
              <a:lnSpc>
                <a:spcPct val="100000"/>
              </a:lnSpc>
              <a:spcAft>
                <a:spcPts val="0"/>
              </a:spcAft>
            </a:pPr>
            <a:r>
              <a:rPr sz="4400" b="1">
                <a:solidFill>
                  <a:srgbClr val="6B7280"/>
                </a:solidFill>
                <a:latin typeface="Arial"/>
              </a:rPr>
              <a:t>3.9 %</a:t>
            </a:r>
          </a:p>
        </p:txBody>
      </p:sp>
      <p:sp>
        <p:nvSpPr>
          <p:cNvPr id="10" name="TextBox 9"/>
          <p:cNvSpPr txBox="1"/>
          <p:nvPr/>
        </p:nvSpPr>
        <p:spPr>
          <a:xfrm>
            <a:off x="3931920" y="5166359"/>
            <a:ext cx="2926080" cy="457200"/>
          </a:xfrm>
          <a:prstGeom prst="rect">
            <a:avLst/>
          </a:prstGeom>
          <a:noFill/>
        </p:spPr>
        <p:txBody>
          <a:bodyPr wrap="square" lIns="0" rIns="0" tIns="0" bIns="0" anchor="t">
            <a:spAutoFit/>
          </a:bodyPr>
          <a:lstStyle/>
          <a:p>
            <a:pPr algn="ctr">
              <a:lnSpc>
                <a:spcPct val="100000"/>
              </a:lnSpc>
              <a:spcAft>
                <a:spcPts val="0"/>
              </a:spcAft>
            </a:pPr>
            <a:r>
              <a:rPr sz="2800" b="0">
                <a:solidFill>
                  <a:srgbClr val="0B1F3A"/>
                </a:solidFill>
                <a:latin typeface="Arial"/>
              </a:rPr>
              <a:t>By chance</a:t>
            </a:r>
          </a:p>
        </p:txBody>
      </p:sp>
      <p:sp>
        <p:nvSpPr>
          <p:cNvPr id="11" name="Rectangle 10"/>
          <p:cNvSpPr/>
          <p:nvPr/>
        </p:nvSpPr>
        <p:spPr>
          <a:xfrm>
            <a:off x="822960" y="5074920"/>
            <a:ext cx="6035040" cy="18288"/>
          </a:xfrm>
          <a:prstGeom prst="rect">
            <a:avLst/>
          </a:prstGeom>
          <a:solidFill>
            <a:srgbClr val="DDE3EA"/>
          </a:solidFill>
          <a:ln>
            <a:noFill/>
          </a:ln>
          <a:effectLst/>
        </p:spPr>
        <p:txBody>
          <a:bodyPr rtlCol="0" anchor="ctr"/>
          <a:lstStyle/>
          <a:p>
            <a:pPr algn="ctr"/>
          </a:p>
        </p:txBody>
      </p:sp>
      <p:sp>
        <p:nvSpPr>
          <p:cNvPr id="12" name="TextBox 11"/>
          <p:cNvSpPr txBox="1"/>
          <p:nvPr/>
        </p:nvSpPr>
        <p:spPr>
          <a:xfrm>
            <a:off x="7315200" y="2103120"/>
            <a:ext cx="4297680" cy="1645920"/>
          </a:xfrm>
          <a:prstGeom prst="rect">
            <a:avLst/>
          </a:prstGeom>
          <a:noFill/>
        </p:spPr>
        <p:txBody>
          <a:bodyPr wrap="square" lIns="0" rIns="0" tIns="0" bIns="0" anchor="ctr">
            <a:spAutoFit/>
          </a:bodyPr>
          <a:lstStyle/>
          <a:p>
            <a:pPr algn="ctr">
              <a:lnSpc>
                <a:spcPct val="100000"/>
              </a:lnSpc>
              <a:spcAft>
                <a:spcPts val="0"/>
              </a:spcAft>
            </a:pPr>
            <a:r>
              <a:rPr sz="12000" b="1">
                <a:solidFill>
                  <a:srgbClr val="D13B2F"/>
                </a:solidFill>
                <a:latin typeface="Arial"/>
              </a:rPr>
              <a:t>≈4×</a:t>
            </a:r>
          </a:p>
        </p:txBody>
      </p:sp>
      <p:sp>
        <p:nvSpPr>
          <p:cNvPr id="13" name="TextBox 12"/>
          <p:cNvSpPr txBox="1"/>
          <p:nvPr/>
        </p:nvSpPr>
        <p:spPr>
          <a:xfrm>
            <a:off x="7315200" y="3794760"/>
            <a:ext cx="4297680" cy="548640"/>
          </a:xfrm>
          <a:prstGeom prst="rect">
            <a:avLst/>
          </a:prstGeom>
          <a:noFill/>
        </p:spPr>
        <p:txBody>
          <a:bodyPr wrap="square" lIns="0" rIns="0" tIns="0" bIns="0" anchor="t">
            <a:spAutoFit/>
          </a:bodyPr>
          <a:lstStyle/>
          <a:p>
            <a:pPr algn="ctr">
              <a:lnSpc>
                <a:spcPct val="100000"/>
              </a:lnSpc>
              <a:spcAft>
                <a:spcPts val="0"/>
              </a:spcAft>
            </a:pPr>
            <a:r>
              <a:rPr sz="2800" b="0">
                <a:solidFill>
                  <a:srgbClr val="6B7280"/>
                </a:solidFill>
                <a:latin typeface="Arial"/>
              </a:rPr>
              <a:t>as often as chance</a:t>
            </a:r>
          </a:p>
        </p:txBody>
      </p:sp>
      <p:sp>
        <p:nvSpPr>
          <p:cNvPr id="14" name="Rectangle 13"/>
          <p:cNvSpPr/>
          <p:nvPr/>
        </p:nvSpPr>
        <p:spPr>
          <a:xfrm>
            <a:off x="548640" y="5760720"/>
            <a:ext cx="91440" cy="548640"/>
          </a:xfrm>
          <a:prstGeom prst="rect">
            <a:avLst/>
          </a:prstGeom>
          <a:solidFill>
            <a:srgbClr val="1F6FEB"/>
          </a:solidFill>
          <a:ln>
            <a:noFill/>
          </a:ln>
          <a:effectLst/>
        </p:spPr>
        <p:txBody>
          <a:bodyPr rtlCol="0" anchor="ctr"/>
          <a:lstStyle/>
          <a:p>
            <a:pPr algn="ctr"/>
          </a:p>
        </p:txBody>
      </p:sp>
      <p:sp>
        <p:nvSpPr>
          <p:cNvPr id="15" name="TextBox 14"/>
          <p:cNvSpPr txBox="1"/>
          <p:nvPr/>
        </p:nvSpPr>
        <p:spPr>
          <a:xfrm>
            <a:off x="822959" y="5760720"/>
            <a:ext cx="9144000" cy="548640"/>
          </a:xfrm>
          <a:prstGeom prst="rect">
            <a:avLst/>
          </a:prstGeom>
          <a:noFill/>
        </p:spPr>
        <p:txBody>
          <a:bodyPr wrap="square" lIns="0" rIns="0" tIns="0" bIns="0" anchor="ctr">
            <a:spAutoFit/>
          </a:bodyPr>
          <a:lstStyle/>
          <a:p>
            <a:pPr algn="l">
              <a:lnSpc>
                <a:spcPct val="100000"/>
              </a:lnSpc>
              <a:spcAft>
                <a:spcPts val="0"/>
              </a:spcAft>
            </a:pPr>
            <a:r>
              <a:rPr sz="3000" b="1">
                <a:solidFill>
                  <a:srgbClr val="0B1F3A"/>
                </a:solidFill>
                <a:latin typeface="Arial"/>
              </a:rPr>
              <a:t>Cover is bought in autumn, before the snow.</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4415" cy="731520"/>
          </a:xfrm>
          <a:prstGeom prst="rect">
            <a:avLst/>
          </a:prstGeom>
          <a:noFill/>
        </p:spPr>
        <p:txBody>
          <a:bodyPr wrap="square" lIns="0" rIns="0" tIns="0" bIns="0" anchor="t">
            <a:spAutoFit/>
          </a:bodyPr>
          <a:lstStyle/>
          <a:p>
            <a:pPr algn="l">
              <a:lnSpc>
                <a:spcPct val="100000"/>
              </a:lnSpc>
              <a:spcAft>
                <a:spcPts val="0"/>
              </a:spcAft>
            </a:pPr>
            <a:r>
              <a:rPr sz="4000" b="1">
                <a:solidFill>
                  <a:srgbClr val="0B1F3A"/>
                </a:solidFill>
                <a:latin typeface="Arial"/>
              </a:rPr>
              <a:t>Tulva Index: pays if ≥2 northern rivers flood</a:t>
            </a:r>
          </a:p>
        </p:txBody>
      </p:sp>
      <p:sp>
        <p:nvSpPr>
          <p:cNvPr id="3" name="TextBox 2"/>
          <p:cNvSpPr txBox="1"/>
          <p:nvPr/>
        </p:nvSpPr>
        <p:spPr>
          <a:xfrm>
            <a:off x="9814255" y="6473952"/>
            <a:ext cx="1828800" cy="228600"/>
          </a:xfrm>
          <a:prstGeom prst="rect">
            <a:avLst/>
          </a:prstGeom>
          <a:noFill/>
        </p:spPr>
        <p:txBody>
          <a:bodyPr wrap="square" lIns="0" rIns="0" tIns="0" bIns="0" anchor="t">
            <a:spAutoFit/>
          </a:bodyPr>
          <a:lstStyle/>
          <a:p>
            <a:pPr algn="r">
              <a:lnSpc>
                <a:spcPct val="100000"/>
              </a:lnSpc>
              <a:spcAft>
                <a:spcPts val="0"/>
              </a:spcAft>
            </a:pPr>
            <a:r>
              <a:rPr sz="1200" b="1">
                <a:solidFill>
                  <a:srgbClr val="0B1F3A"/>
                </a:solidFill>
                <a:latin typeface="Arial"/>
              </a:rPr>
              <a:t>Tulva</a:t>
            </a:r>
            <a:r>
              <a:rPr sz="1200" b="0">
                <a:solidFill>
                  <a:srgbClr val="6B7280"/>
                </a:solidFill>
                <a:latin typeface="Arial"/>
              </a:rPr>
              <a:t>   3</a:t>
            </a:r>
          </a:p>
        </p:txBody>
      </p:sp>
      <p:sp>
        <p:nvSpPr>
          <p:cNvPr id="4" name="TextBox 3"/>
          <p:cNvSpPr txBox="1"/>
          <p:nvPr/>
        </p:nvSpPr>
        <p:spPr>
          <a:xfrm>
            <a:off x="548640" y="1508760"/>
            <a:ext cx="7589520" cy="457200"/>
          </a:xfrm>
          <a:prstGeom prst="rect">
            <a:avLst/>
          </a:prstGeom>
          <a:noFill/>
        </p:spPr>
        <p:txBody>
          <a:bodyPr wrap="square" lIns="0" rIns="0" tIns="0" bIns="0" anchor="t">
            <a:spAutoFit/>
          </a:bodyPr>
          <a:lstStyle/>
          <a:p>
            <a:pPr algn="l">
              <a:lnSpc>
                <a:spcPct val="100000"/>
              </a:lnSpc>
              <a:spcAft>
                <a:spcPts val="0"/>
              </a:spcAft>
            </a:pPr>
            <a:r>
              <a:rPr sz="2800" b="0">
                <a:solidFill>
                  <a:srgbClr val="0B1F3A"/>
                </a:solidFill>
                <a:latin typeface="Arial"/>
              </a:rPr>
              <a:t>Standard assumption (regulator's average link)</a:t>
            </a:r>
          </a:p>
        </p:txBody>
      </p:sp>
      <p:sp>
        <p:nvSpPr>
          <p:cNvPr id="5" name="Rectangle 4"/>
          <p:cNvSpPr/>
          <p:nvPr/>
        </p:nvSpPr>
        <p:spPr>
          <a:xfrm>
            <a:off x="548640" y="2011680"/>
            <a:ext cx="856392" cy="548640"/>
          </a:xfrm>
          <a:prstGeom prst="rect">
            <a:avLst/>
          </a:prstGeom>
          <a:solidFill>
            <a:srgbClr val="6B7280"/>
          </a:solidFill>
          <a:ln>
            <a:noFill/>
          </a:ln>
          <a:effectLst/>
        </p:spPr>
        <p:txBody>
          <a:bodyPr rtlCol="0" anchor="ctr"/>
          <a:lstStyle/>
          <a:p>
            <a:pPr algn="ctr"/>
          </a:p>
        </p:txBody>
      </p:sp>
      <p:sp>
        <p:nvSpPr>
          <p:cNvPr id="6" name="TextBox 5"/>
          <p:cNvSpPr txBox="1"/>
          <p:nvPr/>
        </p:nvSpPr>
        <p:spPr>
          <a:xfrm>
            <a:off x="1587912" y="1965960"/>
            <a:ext cx="2011680" cy="640080"/>
          </a:xfrm>
          <a:prstGeom prst="rect">
            <a:avLst/>
          </a:prstGeom>
          <a:noFill/>
        </p:spPr>
        <p:txBody>
          <a:bodyPr wrap="square" lIns="0" rIns="0" tIns="0" bIns="0" anchor="ctr">
            <a:spAutoFit/>
          </a:bodyPr>
          <a:lstStyle/>
          <a:p>
            <a:pPr algn="l">
              <a:lnSpc>
                <a:spcPct val="100000"/>
              </a:lnSpc>
              <a:spcAft>
                <a:spcPts val="0"/>
              </a:spcAft>
            </a:pPr>
            <a:r>
              <a:rPr sz="3600" b="1">
                <a:solidFill>
                  <a:srgbClr val="6B7280"/>
                </a:solidFill>
                <a:latin typeface="Arial"/>
              </a:rPr>
              <a:t>1.11 %</a:t>
            </a:r>
          </a:p>
        </p:txBody>
      </p:sp>
      <p:sp>
        <p:nvSpPr>
          <p:cNvPr id="7" name="TextBox 6"/>
          <p:cNvSpPr txBox="1"/>
          <p:nvPr/>
        </p:nvSpPr>
        <p:spPr>
          <a:xfrm>
            <a:off x="548640" y="2788920"/>
            <a:ext cx="7589520" cy="457200"/>
          </a:xfrm>
          <a:prstGeom prst="rect">
            <a:avLst/>
          </a:prstGeom>
          <a:noFill/>
        </p:spPr>
        <p:txBody>
          <a:bodyPr wrap="square" lIns="0" rIns="0" tIns="0" bIns="0" anchor="t">
            <a:spAutoFit/>
          </a:bodyPr>
          <a:lstStyle/>
          <a:p>
            <a:pPr algn="l">
              <a:lnSpc>
                <a:spcPct val="100000"/>
              </a:lnSpc>
              <a:spcAft>
                <a:spcPts val="0"/>
              </a:spcAft>
            </a:pPr>
            <a:r>
              <a:rPr sz="2800" b="0">
                <a:solidFill>
                  <a:srgbClr val="0B1F3A"/>
                </a:solidFill>
                <a:latin typeface="Arial"/>
              </a:rPr>
              <a:t>Tulva</a:t>
            </a:r>
          </a:p>
        </p:txBody>
      </p:sp>
      <p:sp>
        <p:nvSpPr>
          <p:cNvPr id="8" name="Rectangle 7"/>
          <p:cNvSpPr/>
          <p:nvPr/>
        </p:nvSpPr>
        <p:spPr>
          <a:xfrm>
            <a:off x="548640" y="3291839"/>
            <a:ext cx="1512189" cy="548640"/>
          </a:xfrm>
          <a:prstGeom prst="rect">
            <a:avLst/>
          </a:prstGeom>
          <a:solidFill>
            <a:srgbClr val="1F6FEB"/>
          </a:solidFill>
          <a:ln>
            <a:noFill/>
          </a:ln>
          <a:effectLst/>
        </p:spPr>
        <p:txBody>
          <a:bodyPr rtlCol="0" anchor="ctr"/>
          <a:lstStyle/>
          <a:p>
            <a:pPr algn="ctr"/>
          </a:p>
        </p:txBody>
      </p:sp>
      <p:sp>
        <p:nvSpPr>
          <p:cNvPr id="9" name="TextBox 8"/>
          <p:cNvSpPr txBox="1"/>
          <p:nvPr/>
        </p:nvSpPr>
        <p:spPr>
          <a:xfrm>
            <a:off x="2243709" y="3246120"/>
            <a:ext cx="2011680" cy="640080"/>
          </a:xfrm>
          <a:prstGeom prst="rect">
            <a:avLst/>
          </a:prstGeom>
          <a:noFill/>
        </p:spPr>
        <p:txBody>
          <a:bodyPr wrap="square" lIns="0" rIns="0" tIns="0" bIns="0" anchor="ctr">
            <a:spAutoFit/>
          </a:bodyPr>
          <a:lstStyle/>
          <a:p>
            <a:pPr algn="l">
              <a:lnSpc>
                <a:spcPct val="100000"/>
              </a:lnSpc>
              <a:spcAft>
                <a:spcPts val="0"/>
              </a:spcAft>
            </a:pPr>
            <a:r>
              <a:rPr sz="3600" b="1">
                <a:solidFill>
                  <a:srgbClr val="1F6FEB"/>
                </a:solidFill>
                <a:latin typeface="Arial"/>
              </a:rPr>
              <a:t>1.96 %</a:t>
            </a:r>
          </a:p>
        </p:txBody>
      </p:sp>
      <p:sp>
        <p:nvSpPr>
          <p:cNvPr id="10" name="TextBox 9"/>
          <p:cNvSpPr txBox="1"/>
          <p:nvPr/>
        </p:nvSpPr>
        <p:spPr>
          <a:xfrm>
            <a:off x="548640" y="4069079"/>
            <a:ext cx="7589520" cy="457200"/>
          </a:xfrm>
          <a:prstGeom prst="rect">
            <a:avLst/>
          </a:prstGeom>
          <a:noFill/>
        </p:spPr>
        <p:txBody>
          <a:bodyPr wrap="square" lIns="0" rIns="0" tIns="0" bIns="0" anchor="t">
            <a:spAutoFit/>
          </a:bodyPr>
          <a:lstStyle/>
          <a:p>
            <a:pPr algn="l">
              <a:lnSpc>
                <a:spcPct val="100000"/>
              </a:lnSpc>
              <a:spcAft>
                <a:spcPts val="0"/>
              </a:spcAft>
            </a:pPr>
            <a:r>
              <a:rPr sz="2800" b="0">
                <a:solidFill>
                  <a:srgbClr val="0B1F3A"/>
                </a:solidFill>
                <a:latin typeface="Arial"/>
              </a:rPr>
              <a:t>Tulva, after a snowy March</a:t>
            </a:r>
          </a:p>
        </p:txBody>
      </p:sp>
      <p:sp>
        <p:nvSpPr>
          <p:cNvPr id="11" name="Rectangle 10"/>
          <p:cNvSpPr/>
          <p:nvPr/>
        </p:nvSpPr>
        <p:spPr>
          <a:xfrm>
            <a:off x="548640" y="4571999"/>
            <a:ext cx="4937760" cy="548640"/>
          </a:xfrm>
          <a:prstGeom prst="rect">
            <a:avLst/>
          </a:prstGeom>
          <a:solidFill>
            <a:srgbClr val="0B1F3A"/>
          </a:solidFill>
          <a:ln>
            <a:noFill/>
          </a:ln>
          <a:effectLst/>
        </p:spPr>
        <p:txBody>
          <a:bodyPr rtlCol="0" anchor="ctr"/>
          <a:lstStyle/>
          <a:p>
            <a:pPr algn="ctr"/>
          </a:p>
        </p:txBody>
      </p:sp>
      <p:sp>
        <p:nvSpPr>
          <p:cNvPr id="12" name="TextBox 11"/>
          <p:cNvSpPr txBox="1"/>
          <p:nvPr/>
        </p:nvSpPr>
        <p:spPr>
          <a:xfrm>
            <a:off x="5669280" y="4526279"/>
            <a:ext cx="2011680" cy="640080"/>
          </a:xfrm>
          <a:prstGeom prst="rect">
            <a:avLst/>
          </a:prstGeom>
          <a:noFill/>
        </p:spPr>
        <p:txBody>
          <a:bodyPr wrap="square" lIns="0" rIns="0" tIns="0" bIns="0" anchor="ctr">
            <a:spAutoFit/>
          </a:bodyPr>
          <a:lstStyle/>
          <a:p>
            <a:pPr algn="l">
              <a:lnSpc>
                <a:spcPct val="100000"/>
              </a:lnSpc>
              <a:spcAft>
                <a:spcPts val="0"/>
              </a:spcAft>
            </a:pPr>
            <a:r>
              <a:rPr sz="3600" b="1">
                <a:solidFill>
                  <a:srgbClr val="0B1F3A"/>
                </a:solidFill>
                <a:latin typeface="Arial"/>
              </a:rPr>
              <a:t>6.4 %</a:t>
            </a:r>
          </a:p>
        </p:txBody>
      </p:sp>
      <p:sp>
        <p:nvSpPr>
          <p:cNvPr id="13" name="TextBox 12"/>
          <p:cNvSpPr txBox="1"/>
          <p:nvPr/>
        </p:nvSpPr>
        <p:spPr>
          <a:xfrm>
            <a:off x="548640" y="5394960"/>
            <a:ext cx="7315200" cy="457200"/>
          </a:xfrm>
          <a:prstGeom prst="rect">
            <a:avLst/>
          </a:prstGeom>
          <a:noFill/>
        </p:spPr>
        <p:txBody>
          <a:bodyPr wrap="square" lIns="0" rIns="0" tIns="0" bIns="0" anchor="t">
            <a:spAutoFit/>
          </a:bodyPr>
          <a:lstStyle/>
          <a:p>
            <a:pPr algn="l">
              <a:lnSpc>
                <a:spcPct val="100000"/>
              </a:lnSpc>
              <a:spcAft>
                <a:spcPts val="0"/>
              </a:spcAft>
            </a:pPr>
            <a:r>
              <a:rPr sz="2400" b="0">
                <a:solidFill>
                  <a:srgbClr val="6B7280"/>
                </a:solidFill>
                <a:latin typeface="Arial"/>
              </a:rPr>
              <a:t>Expected loss, % of limit per year</a:t>
            </a:r>
          </a:p>
        </p:txBody>
      </p:sp>
      <p:sp>
        <p:nvSpPr>
          <p:cNvPr id="14" name="Rectangle 13"/>
          <p:cNvSpPr/>
          <p:nvPr/>
        </p:nvSpPr>
        <p:spPr>
          <a:xfrm>
            <a:off x="8229600" y="1508760"/>
            <a:ext cx="3410712" cy="4023360"/>
          </a:xfrm>
          <a:prstGeom prst="rect">
            <a:avLst/>
          </a:prstGeom>
          <a:solidFill>
            <a:srgbClr val="F3F6FA"/>
          </a:solidFill>
          <a:ln>
            <a:noFill/>
          </a:ln>
          <a:effectLst/>
        </p:spPr>
        <p:txBody>
          <a:bodyPr rtlCol="0" anchor="ctr"/>
          <a:lstStyle/>
          <a:p>
            <a:pPr algn="ctr"/>
          </a:p>
        </p:txBody>
      </p:sp>
      <p:sp>
        <p:nvSpPr>
          <p:cNvPr id="15" name="TextBox 14"/>
          <p:cNvSpPr txBox="1"/>
          <p:nvPr/>
        </p:nvSpPr>
        <p:spPr>
          <a:xfrm>
            <a:off x="8229600" y="1783080"/>
            <a:ext cx="3410712" cy="1828800"/>
          </a:xfrm>
          <a:prstGeom prst="rect">
            <a:avLst/>
          </a:prstGeom>
          <a:noFill/>
        </p:spPr>
        <p:txBody>
          <a:bodyPr wrap="square" lIns="0" rIns="0" tIns="0" bIns="0" anchor="ctr">
            <a:spAutoFit/>
          </a:bodyPr>
          <a:lstStyle/>
          <a:p>
            <a:pPr algn="ctr">
              <a:lnSpc>
                <a:spcPct val="100000"/>
              </a:lnSpc>
              <a:spcAft>
                <a:spcPts val="0"/>
              </a:spcAft>
            </a:pPr>
            <a:r>
              <a:rPr sz="13000" b="1">
                <a:solidFill>
                  <a:srgbClr val="D13B2F"/>
                </a:solidFill>
                <a:latin typeface="Arial"/>
              </a:rPr>
              <a:t>×3</a:t>
            </a:r>
          </a:p>
        </p:txBody>
      </p:sp>
      <p:sp>
        <p:nvSpPr>
          <p:cNvPr id="16" name="TextBox 15"/>
          <p:cNvSpPr txBox="1"/>
          <p:nvPr/>
        </p:nvSpPr>
        <p:spPr>
          <a:xfrm>
            <a:off x="8412480" y="3749039"/>
            <a:ext cx="3044952" cy="1371600"/>
          </a:xfrm>
          <a:prstGeom prst="rect">
            <a:avLst/>
          </a:prstGeom>
          <a:noFill/>
        </p:spPr>
        <p:txBody>
          <a:bodyPr wrap="square" lIns="0" rIns="0" tIns="0" bIns="0" anchor="t">
            <a:spAutoFit/>
          </a:bodyPr>
          <a:lstStyle/>
          <a:p>
            <a:pPr algn="ctr">
              <a:lnSpc>
                <a:spcPct val="100000"/>
              </a:lnSpc>
              <a:spcAft>
                <a:spcPts val="0"/>
              </a:spcAft>
            </a:pPr>
            <a:r>
              <a:rPr sz="2800" b="1">
                <a:solidFill>
                  <a:srgbClr val="0B1F3A"/>
                </a:solidFill>
                <a:latin typeface="Arial"/>
              </a:rPr>
              <a:t>expected loss after a snowy March</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txBody>
          <a:bodyPr rtlCol="0" anchor="ctr"/>
          <a:lstStyle/>
          <a:p>
            <a:pPr algn="ctr"/>
          </a:p>
        </p:txBody>
      </p:sp>
      <p:pic>
        <p:nvPicPr>
          <p:cNvPr id="3" name="tulva_demo_anim.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1340967" y="502920"/>
            <a:ext cx="9509759" cy="5349240"/>
          </a:xfrm>
          <a:prstGeom prst="rect">
            <a:avLst/>
          </a:prstGeom>
        </p:spPr>
      </p:pic>
      <p:sp>
        <p:nvSpPr>
          <p:cNvPr id="4" name="TextBox 3"/>
          <p:cNvSpPr txBox="1"/>
          <p:nvPr/>
        </p:nvSpPr>
        <p:spPr>
          <a:xfrm>
            <a:off x="9814255" y="6473952"/>
            <a:ext cx="1828800" cy="228600"/>
          </a:xfrm>
          <a:prstGeom prst="rect">
            <a:avLst/>
          </a:prstGeom>
          <a:noFill/>
        </p:spPr>
        <p:txBody>
          <a:bodyPr wrap="square" lIns="0" rIns="0" tIns="0" bIns="0" anchor="t">
            <a:spAutoFit/>
          </a:bodyPr>
          <a:lstStyle/>
          <a:p>
            <a:pPr algn="r">
              <a:lnSpc>
                <a:spcPct val="100000"/>
              </a:lnSpc>
              <a:spcAft>
                <a:spcPts val="0"/>
              </a:spcAft>
            </a:pPr>
            <a:r>
              <a:rPr sz="1200" b="1">
                <a:solidFill>
                  <a:srgbClr val="FFFFFF"/>
                </a:solidFill>
                <a:latin typeface="Arial"/>
              </a:rPr>
              <a:t>Tulva</a:t>
            </a:r>
            <a:r>
              <a:rPr sz="1200" b="0">
                <a:solidFill>
                  <a:srgbClr val="A9C8F5"/>
                </a:solidFill>
                <a:latin typeface="Arial"/>
              </a:rPr>
              <a:t>   4</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3"/>
                </p:tgtEl>
              </p:cMediaNode>
            </p:video>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4415" cy="731520"/>
          </a:xfrm>
          <a:prstGeom prst="rect">
            <a:avLst/>
          </a:prstGeom>
          <a:noFill/>
        </p:spPr>
        <p:txBody>
          <a:bodyPr wrap="square" lIns="0" rIns="0" tIns="0" bIns="0" anchor="t">
            <a:spAutoFit/>
          </a:bodyPr>
          <a:lstStyle/>
          <a:p>
            <a:pPr algn="l">
              <a:lnSpc>
                <a:spcPct val="100000"/>
              </a:lnSpc>
              <a:spcAft>
                <a:spcPts val="0"/>
              </a:spcAft>
            </a:pPr>
            <a:r>
              <a:rPr sz="4000" b="1">
                <a:solidFill>
                  <a:srgbClr val="0B1F3A"/>
                </a:solidFill>
                <a:latin typeface="Arial"/>
              </a:rPr>
              <a:t>Our circuit: quantum amplitude estimation</a:t>
            </a:r>
          </a:p>
        </p:txBody>
      </p:sp>
      <p:sp>
        <p:nvSpPr>
          <p:cNvPr id="3" name="TextBox 2"/>
          <p:cNvSpPr txBox="1"/>
          <p:nvPr/>
        </p:nvSpPr>
        <p:spPr>
          <a:xfrm>
            <a:off x="9814255" y="6473952"/>
            <a:ext cx="1828800" cy="228600"/>
          </a:xfrm>
          <a:prstGeom prst="rect">
            <a:avLst/>
          </a:prstGeom>
          <a:noFill/>
        </p:spPr>
        <p:txBody>
          <a:bodyPr wrap="square" lIns="0" rIns="0" tIns="0" bIns="0" anchor="t">
            <a:spAutoFit/>
          </a:bodyPr>
          <a:lstStyle/>
          <a:p>
            <a:pPr algn="r">
              <a:lnSpc>
                <a:spcPct val="100000"/>
              </a:lnSpc>
              <a:spcAft>
                <a:spcPts val="0"/>
              </a:spcAft>
            </a:pPr>
            <a:r>
              <a:rPr sz="1200" b="1">
                <a:solidFill>
                  <a:srgbClr val="0B1F3A"/>
                </a:solidFill>
                <a:latin typeface="Arial"/>
              </a:rPr>
              <a:t>Tulva</a:t>
            </a:r>
            <a:r>
              <a:rPr sz="1200" b="0">
                <a:solidFill>
                  <a:srgbClr val="6B7280"/>
                </a:solidFill>
                <a:latin typeface="Arial"/>
              </a:rPr>
              <a:t>   5</a:t>
            </a:r>
          </a:p>
        </p:txBody>
      </p:sp>
      <p:pic>
        <p:nvPicPr>
          <p:cNvPr id="4" name="Picture 3" descr="stage_qae_circuit.png"/>
          <p:cNvPicPr>
            <a:picLocks noChangeAspect="1"/>
          </p:cNvPicPr>
          <p:nvPr/>
        </p:nvPicPr>
        <p:blipFill>
          <a:blip r:embed="rId2"/>
          <a:stretch>
            <a:fillRect/>
          </a:stretch>
        </p:blipFill>
        <p:spPr>
          <a:xfrm>
            <a:off x="2239451" y="1234440"/>
            <a:ext cx="7712792" cy="3291840"/>
          </a:xfrm>
          <a:prstGeom prst="rect">
            <a:avLst/>
          </a:prstGeom>
        </p:spPr>
      </p:pic>
      <p:sp>
        <p:nvSpPr>
          <p:cNvPr id="5" name="TextBox 4"/>
          <p:cNvSpPr txBox="1"/>
          <p:nvPr/>
        </p:nvSpPr>
        <p:spPr>
          <a:xfrm>
            <a:off x="548640" y="4709160"/>
            <a:ext cx="11094415" cy="1280160"/>
          </a:xfrm>
          <a:prstGeom prst="rect">
            <a:avLst/>
          </a:prstGeom>
          <a:noFill/>
        </p:spPr>
        <p:txBody>
          <a:bodyPr wrap="square" lIns="0" rIns="0" tIns="0" bIns="0" anchor="t">
            <a:spAutoFit/>
          </a:bodyPr>
          <a:lstStyle/>
          <a:p>
            <a:pPr algn="l">
              <a:lnSpc>
                <a:spcPct val="100000"/>
              </a:lnSpc>
              <a:spcAft>
                <a:spcPts val="800"/>
              </a:spcAft>
            </a:pPr>
            <a:r>
              <a:rPr sz="2800" b="0">
                <a:solidFill>
                  <a:srgbClr val="0B1F3A"/>
                </a:solidFill>
                <a:latin typeface="Arial"/>
              </a:rPr>
              <a:t>Qubits = wet spring + rivers. Gates = our flood model.</a:t>
            </a:r>
          </a:p>
          <a:p>
            <a:pPr algn="l">
              <a:lnSpc>
                <a:spcPct val="100000"/>
              </a:lnSpc>
              <a:spcAft>
                <a:spcPts val="800"/>
              </a:spcAft>
            </a:pPr>
            <a:r>
              <a:rPr sz="2800" b="1">
                <a:solidFill>
                  <a:srgbClr val="D13B2F"/>
                </a:solidFill>
                <a:latin typeface="Arial"/>
              </a:rPr>
              <a:t>Why quantum?  </a:t>
            </a:r>
            <a:r>
              <a:rPr sz="2800" b="0">
                <a:solidFill>
                  <a:srgbClr val="0B1F3A"/>
                </a:solidFill>
                <a:latin typeface="Arial"/>
              </a:rPr>
              <a:t>2× accuracy: sampling needs 4× the runs, QAE 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4415" cy="731520"/>
          </a:xfrm>
          <a:prstGeom prst="rect">
            <a:avLst/>
          </a:prstGeom>
          <a:noFill/>
        </p:spPr>
        <p:txBody>
          <a:bodyPr wrap="square" lIns="0" rIns="0" tIns="0" bIns="0" anchor="t">
            <a:spAutoFit/>
          </a:bodyPr>
          <a:lstStyle/>
          <a:p>
            <a:pPr algn="l">
              <a:lnSpc>
                <a:spcPct val="100000"/>
              </a:lnSpc>
              <a:spcAft>
                <a:spcPts val="0"/>
              </a:spcAft>
            </a:pPr>
            <a:r>
              <a:rPr sz="4000" b="1">
                <a:solidFill>
                  <a:srgbClr val="0B1F3A"/>
                </a:solidFill>
                <a:latin typeface="Arial"/>
              </a:rPr>
              <a:t>On real chips, the snow effect still shows</a:t>
            </a:r>
          </a:p>
        </p:txBody>
      </p:sp>
      <p:sp>
        <p:nvSpPr>
          <p:cNvPr id="3" name="TextBox 2"/>
          <p:cNvSpPr txBox="1"/>
          <p:nvPr/>
        </p:nvSpPr>
        <p:spPr>
          <a:xfrm>
            <a:off x="9814255" y="6473952"/>
            <a:ext cx="1828800" cy="228600"/>
          </a:xfrm>
          <a:prstGeom prst="rect">
            <a:avLst/>
          </a:prstGeom>
          <a:noFill/>
        </p:spPr>
        <p:txBody>
          <a:bodyPr wrap="square" lIns="0" rIns="0" tIns="0" bIns="0" anchor="t">
            <a:spAutoFit/>
          </a:bodyPr>
          <a:lstStyle/>
          <a:p>
            <a:pPr algn="r">
              <a:lnSpc>
                <a:spcPct val="100000"/>
              </a:lnSpc>
              <a:spcAft>
                <a:spcPts val="0"/>
              </a:spcAft>
            </a:pPr>
            <a:r>
              <a:rPr sz="1200" b="1">
                <a:solidFill>
                  <a:srgbClr val="0B1F3A"/>
                </a:solidFill>
                <a:latin typeface="Arial"/>
              </a:rPr>
              <a:t>Tulva</a:t>
            </a:r>
            <a:r>
              <a:rPr sz="1200" b="0">
                <a:solidFill>
                  <a:srgbClr val="6B7280"/>
                </a:solidFill>
                <a:latin typeface="Arial"/>
              </a:rPr>
              <a:t>   6</a:t>
            </a:r>
          </a:p>
        </p:txBody>
      </p:sp>
      <p:sp>
        <p:nvSpPr>
          <p:cNvPr id="4" name="Rectangle 3"/>
          <p:cNvSpPr/>
          <p:nvPr/>
        </p:nvSpPr>
        <p:spPr>
          <a:xfrm>
            <a:off x="548640" y="1481328"/>
            <a:ext cx="292608" cy="292608"/>
          </a:xfrm>
          <a:prstGeom prst="rect">
            <a:avLst/>
          </a:prstGeom>
          <a:solidFill>
            <a:srgbClr val="1F6FEB"/>
          </a:solidFill>
          <a:ln>
            <a:noFill/>
          </a:ln>
          <a:effectLst/>
        </p:spPr>
        <p:txBody>
          <a:bodyPr rtlCol="0" anchor="ctr"/>
          <a:lstStyle/>
          <a:p>
            <a:pPr algn="ctr"/>
          </a:p>
        </p:txBody>
      </p:sp>
      <p:sp>
        <p:nvSpPr>
          <p:cNvPr id="5" name="TextBox 4"/>
          <p:cNvSpPr txBox="1"/>
          <p:nvPr/>
        </p:nvSpPr>
        <p:spPr>
          <a:xfrm>
            <a:off x="960120" y="1371600"/>
            <a:ext cx="1828800" cy="502920"/>
          </a:xfrm>
          <a:prstGeom prst="rect">
            <a:avLst/>
          </a:prstGeom>
          <a:noFill/>
        </p:spPr>
        <p:txBody>
          <a:bodyPr wrap="square" lIns="0" rIns="0" tIns="0" bIns="0" anchor="ctr">
            <a:spAutoFit/>
          </a:bodyPr>
          <a:lstStyle/>
          <a:p>
            <a:pPr algn="l">
              <a:lnSpc>
                <a:spcPct val="100000"/>
              </a:lnSpc>
              <a:spcAft>
                <a:spcPts val="0"/>
              </a:spcAft>
            </a:pPr>
            <a:r>
              <a:rPr sz="2800" b="0">
                <a:solidFill>
                  <a:srgbClr val="0B1F3A"/>
                </a:solidFill>
                <a:latin typeface="Arial"/>
              </a:rPr>
              <a:t>Exact</a:t>
            </a:r>
          </a:p>
        </p:txBody>
      </p:sp>
      <p:sp>
        <p:nvSpPr>
          <p:cNvPr id="6" name="Rectangle 5"/>
          <p:cNvSpPr/>
          <p:nvPr/>
        </p:nvSpPr>
        <p:spPr>
          <a:xfrm>
            <a:off x="2926080" y="1481328"/>
            <a:ext cx="292608" cy="292608"/>
          </a:xfrm>
          <a:prstGeom prst="rect">
            <a:avLst/>
          </a:prstGeom>
          <a:solidFill>
            <a:srgbClr val="8250DF"/>
          </a:solidFill>
          <a:ln>
            <a:noFill/>
          </a:ln>
          <a:effectLst/>
        </p:spPr>
        <p:txBody>
          <a:bodyPr rtlCol="0" anchor="ctr"/>
          <a:lstStyle/>
          <a:p>
            <a:pPr algn="ctr"/>
          </a:p>
        </p:txBody>
      </p:sp>
      <p:sp>
        <p:nvSpPr>
          <p:cNvPr id="7" name="TextBox 6"/>
          <p:cNvSpPr txBox="1"/>
          <p:nvPr/>
        </p:nvSpPr>
        <p:spPr>
          <a:xfrm>
            <a:off x="3337560" y="1371600"/>
            <a:ext cx="1828800" cy="502920"/>
          </a:xfrm>
          <a:prstGeom prst="rect">
            <a:avLst/>
          </a:prstGeom>
          <a:noFill/>
        </p:spPr>
        <p:txBody>
          <a:bodyPr wrap="square" lIns="0" rIns="0" tIns="0" bIns="0" anchor="ctr">
            <a:spAutoFit/>
          </a:bodyPr>
          <a:lstStyle/>
          <a:p>
            <a:pPr algn="l">
              <a:lnSpc>
                <a:spcPct val="100000"/>
              </a:lnSpc>
              <a:spcAft>
                <a:spcPts val="0"/>
              </a:spcAft>
            </a:pPr>
            <a:r>
              <a:rPr sz="2800" b="0">
                <a:solidFill>
                  <a:srgbClr val="0B1F3A"/>
                </a:solidFill>
                <a:latin typeface="Arial"/>
              </a:rPr>
              <a:t>IQM chip</a:t>
            </a:r>
          </a:p>
        </p:txBody>
      </p:sp>
      <p:sp>
        <p:nvSpPr>
          <p:cNvPr id="8" name="Rectangle 7"/>
          <p:cNvSpPr/>
          <p:nvPr/>
        </p:nvSpPr>
        <p:spPr>
          <a:xfrm>
            <a:off x="822960" y="4380594"/>
            <a:ext cx="1143000" cy="877205"/>
          </a:xfrm>
          <a:prstGeom prst="rect">
            <a:avLst/>
          </a:prstGeom>
          <a:solidFill>
            <a:srgbClr val="1F6FEB"/>
          </a:solidFill>
          <a:ln>
            <a:noFill/>
          </a:ln>
          <a:effectLst/>
        </p:spPr>
        <p:txBody>
          <a:bodyPr rtlCol="0" anchor="ctr"/>
          <a:lstStyle/>
          <a:p>
            <a:pPr algn="ctr"/>
          </a:p>
        </p:txBody>
      </p:sp>
      <p:sp>
        <p:nvSpPr>
          <p:cNvPr id="9" name="Rectangle 8"/>
          <p:cNvSpPr/>
          <p:nvPr/>
        </p:nvSpPr>
        <p:spPr>
          <a:xfrm>
            <a:off x="2039112" y="4238559"/>
            <a:ext cx="1143000" cy="1019240"/>
          </a:xfrm>
          <a:prstGeom prst="rect">
            <a:avLst/>
          </a:prstGeom>
          <a:solidFill>
            <a:srgbClr val="8250DF"/>
          </a:solidFill>
          <a:ln>
            <a:noFill/>
          </a:ln>
          <a:effectLst/>
        </p:spPr>
        <p:txBody>
          <a:bodyPr rtlCol="0" anchor="ctr"/>
          <a:lstStyle/>
          <a:p>
            <a:pPr algn="ctr"/>
          </a:p>
        </p:txBody>
      </p:sp>
      <p:sp>
        <p:nvSpPr>
          <p:cNvPr id="10" name="TextBox 9"/>
          <p:cNvSpPr txBox="1"/>
          <p:nvPr/>
        </p:nvSpPr>
        <p:spPr>
          <a:xfrm>
            <a:off x="548640" y="5349240"/>
            <a:ext cx="2907792" cy="457200"/>
          </a:xfrm>
          <a:prstGeom prst="rect">
            <a:avLst/>
          </a:prstGeom>
          <a:noFill/>
        </p:spPr>
        <p:txBody>
          <a:bodyPr wrap="square" lIns="0" rIns="0" tIns="0" bIns="0" anchor="t">
            <a:spAutoFit/>
          </a:bodyPr>
          <a:lstStyle/>
          <a:p>
            <a:pPr algn="ctr">
              <a:lnSpc>
                <a:spcPct val="100000"/>
              </a:lnSpc>
              <a:spcAft>
                <a:spcPts val="0"/>
              </a:spcAft>
            </a:pPr>
            <a:r>
              <a:rPr sz="2800" b="0">
                <a:solidFill>
                  <a:srgbClr val="0B1F3A"/>
                </a:solidFill>
                <a:latin typeface="Arial"/>
              </a:rPr>
              <a:t>Low-snow March</a:t>
            </a:r>
          </a:p>
        </p:txBody>
      </p:sp>
      <p:sp>
        <p:nvSpPr>
          <p:cNvPr id="11" name="Rectangle 10"/>
          <p:cNvSpPr/>
          <p:nvPr/>
        </p:nvSpPr>
        <p:spPr>
          <a:xfrm>
            <a:off x="3931920" y="2848396"/>
            <a:ext cx="1143000" cy="2409403"/>
          </a:xfrm>
          <a:prstGeom prst="rect">
            <a:avLst/>
          </a:prstGeom>
          <a:solidFill>
            <a:srgbClr val="1F6FEB"/>
          </a:solidFill>
          <a:ln>
            <a:noFill/>
          </a:ln>
          <a:effectLst/>
        </p:spPr>
        <p:txBody>
          <a:bodyPr rtlCol="0" anchor="ctr"/>
          <a:lstStyle/>
          <a:p>
            <a:pPr algn="ctr"/>
          </a:p>
        </p:txBody>
      </p:sp>
      <p:sp>
        <p:nvSpPr>
          <p:cNvPr id="12" name="Rectangle 11"/>
          <p:cNvSpPr/>
          <p:nvPr/>
        </p:nvSpPr>
        <p:spPr>
          <a:xfrm>
            <a:off x="5148072" y="2148840"/>
            <a:ext cx="1143000" cy="3108960"/>
          </a:xfrm>
          <a:prstGeom prst="rect">
            <a:avLst/>
          </a:prstGeom>
          <a:solidFill>
            <a:srgbClr val="8250DF"/>
          </a:solidFill>
          <a:ln>
            <a:noFill/>
          </a:ln>
          <a:effectLst/>
        </p:spPr>
        <p:txBody>
          <a:bodyPr rtlCol="0" anchor="ctr"/>
          <a:lstStyle/>
          <a:p>
            <a:pPr algn="ctr"/>
          </a:p>
        </p:txBody>
      </p:sp>
      <p:sp>
        <p:nvSpPr>
          <p:cNvPr id="13" name="TextBox 12"/>
          <p:cNvSpPr txBox="1"/>
          <p:nvPr/>
        </p:nvSpPr>
        <p:spPr>
          <a:xfrm>
            <a:off x="3657600" y="5349240"/>
            <a:ext cx="2907792" cy="457200"/>
          </a:xfrm>
          <a:prstGeom prst="rect">
            <a:avLst/>
          </a:prstGeom>
          <a:noFill/>
        </p:spPr>
        <p:txBody>
          <a:bodyPr wrap="square" lIns="0" rIns="0" tIns="0" bIns="0" anchor="t">
            <a:spAutoFit/>
          </a:bodyPr>
          <a:lstStyle/>
          <a:p>
            <a:pPr algn="ctr">
              <a:lnSpc>
                <a:spcPct val="100000"/>
              </a:lnSpc>
              <a:spcAft>
                <a:spcPts val="0"/>
              </a:spcAft>
            </a:pPr>
            <a:r>
              <a:rPr sz="2800" b="0">
                <a:solidFill>
                  <a:srgbClr val="0B1F3A"/>
                </a:solidFill>
                <a:latin typeface="Arial"/>
              </a:rPr>
              <a:t>Snowy March</a:t>
            </a:r>
          </a:p>
        </p:txBody>
      </p:sp>
      <p:sp>
        <p:nvSpPr>
          <p:cNvPr id="14" name="Rectangle 13"/>
          <p:cNvSpPr/>
          <p:nvPr/>
        </p:nvSpPr>
        <p:spPr>
          <a:xfrm>
            <a:off x="640080" y="5257800"/>
            <a:ext cx="6035040" cy="18288"/>
          </a:xfrm>
          <a:prstGeom prst="rect">
            <a:avLst/>
          </a:prstGeom>
          <a:solidFill>
            <a:srgbClr val="DDE3EA"/>
          </a:solidFill>
          <a:ln>
            <a:noFill/>
          </a:ln>
          <a:effectLst/>
        </p:spPr>
        <p:txBody>
          <a:bodyPr rtlCol="0" anchor="ctr"/>
          <a:lstStyle/>
          <a:p>
            <a:pPr algn="ctr"/>
          </a:p>
        </p:txBody>
      </p:sp>
      <p:sp>
        <p:nvSpPr>
          <p:cNvPr id="15" name="TextBox 14"/>
          <p:cNvSpPr txBox="1"/>
          <p:nvPr/>
        </p:nvSpPr>
        <p:spPr>
          <a:xfrm>
            <a:off x="7315200" y="1463040"/>
            <a:ext cx="4389120" cy="457200"/>
          </a:xfrm>
          <a:prstGeom prst="rect">
            <a:avLst/>
          </a:prstGeom>
          <a:noFill/>
        </p:spPr>
        <p:txBody>
          <a:bodyPr wrap="square" lIns="0" rIns="0" tIns="0" bIns="0" anchor="t">
            <a:spAutoFit/>
          </a:bodyPr>
          <a:lstStyle/>
          <a:p>
            <a:pPr algn="l">
              <a:lnSpc>
                <a:spcPct val="100000"/>
              </a:lnSpc>
              <a:spcAft>
                <a:spcPts val="0"/>
              </a:spcAft>
            </a:pPr>
            <a:r>
              <a:rPr sz="2800" b="0">
                <a:solidFill>
                  <a:srgbClr val="6B7280"/>
                </a:solidFill>
                <a:latin typeface="Arial"/>
              </a:rPr>
              <a:t>Snowy vs low-snow March</a:t>
            </a:r>
          </a:p>
        </p:txBody>
      </p:sp>
      <p:sp>
        <p:nvSpPr>
          <p:cNvPr id="16" name="TextBox 15"/>
          <p:cNvSpPr txBox="1"/>
          <p:nvPr/>
        </p:nvSpPr>
        <p:spPr>
          <a:xfrm>
            <a:off x="7315200" y="2057400"/>
            <a:ext cx="2834640" cy="1005840"/>
          </a:xfrm>
          <a:prstGeom prst="rect">
            <a:avLst/>
          </a:prstGeom>
          <a:noFill/>
        </p:spPr>
        <p:txBody>
          <a:bodyPr wrap="square" lIns="0" rIns="0" tIns="0" bIns="0" anchor="ctr">
            <a:spAutoFit/>
          </a:bodyPr>
          <a:lstStyle/>
          <a:p>
            <a:pPr algn="l">
              <a:lnSpc>
                <a:spcPct val="100000"/>
              </a:lnSpc>
              <a:spcAft>
                <a:spcPts val="0"/>
              </a:spcAft>
            </a:pPr>
            <a:r>
              <a:rPr sz="7200" b="1">
                <a:solidFill>
                  <a:srgbClr val="8250DF"/>
                </a:solidFill>
                <a:latin typeface="Arial"/>
              </a:rPr>
              <a:t>3.05×</a:t>
            </a:r>
          </a:p>
        </p:txBody>
      </p:sp>
      <p:sp>
        <p:nvSpPr>
          <p:cNvPr id="17" name="TextBox 16"/>
          <p:cNvSpPr txBox="1"/>
          <p:nvPr/>
        </p:nvSpPr>
        <p:spPr>
          <a:xfrm>
            <a:off x="10195560" y="2057400"/>
            <a:ext cx="1554480" cy="1005840"/>
          </a:xfrm>
          <a:prstGeom prst="rect">
            <a:avLst/>
          </a:prstGeom>
          <a:noFill/>
        </p:spPr>
        <p:txBody>
          <a:bodyPr wrap="square" lIns="0" rIns="0" tIns="0" bIns="0" anchor="ctr">
            <a:spAutoFit/>
          </a:bodyPr>
          <a:lstStyle/>
          <a:p>
            <a:pPr algn="l">
              <a:lnSpc>
                <a:spcPct val="100000"/>
              </a:lnSpc>
              <a:spcAft>
                <a:spcPts val="0"/>
              </a:spcAft>
            </a:pPr>
            <a:r>
              <a:rPr sz="2800" b="0">
                <a:solidFill>
                  <a:srgbClr val="0B1F3A"/>
                </a:solidFill>
                <a:latin typeface="Arial"/>
              </a:rPr>
              <a:t>on chip</a:t>
            </a:r>
          </a:p>
        </p:txBody>
      </p:sp>
      <p:sp>
        <p:nvSpPr>
          <p:cNvPr id="18" name="TextBox 17"/>
          <p:cNvSpPr txBox="1"/>
          <p:nvPr/>
        </p:nvSpPr>
        <p:spPr>
          <a:xfrm>
            <a:off x="7315200" y="3246120"/>
            <a:ext cx="2834640" cy="1005840"/>
          </a:xfrm>
          <a:prstGeom prst="rect">
            <a:avLst/>
          </a:prstGeom>
          <a:noFill/>
        </p:spPr>
        <p:txBody>
          <a:bodyPr wrap="square" lIns="0" rIns="0" tIns="0" bIns="0" anchor="ctr">
            <a:spAutoFit/>
          </a:bodyPr>
          <a:lstStyle/>
          <a:p>
            <a:pPr algn="l">
              <a:lnSpc>
                <a:spcPct val="100000"/>
              </a:lnSpc>
              <a:spcAft>
                <a:spcPts val="0"/>
              </a:spcAft>
            </a:pPr>
            <a:r>
              <a:rPr sz="7200" b="1">
                <a:solidFill>
                  <a:srgbClr val="1F6FEB"/>
                </a:solidFill>
                <a:latin typeface="Arial"/>
              </a:rPr>
              <a:t>2.75×</a:t>
            </a:r>
          </a:p>
        </p:txBody>
      </p:sp>
      <p:sp>
        <p:nvSpPr>
          <p:cNvPr id="19" name="TextBox 18"/>
          <p:cNvSpPr txBox="1"/>
          <p:nvPr/>
        </p:nvSpPr>
        <p:spPr>
          <a:xfrm>
            <a:off x="10195560" y="3246120"/>
            <a:ext cx="1554480" cy="1005840"/>
          </a:xfrm>
          <a:prstGeom prst="rect">
            <a:avLst/>
          </a:prstGeom>
          <a:noFill/>
        </p:spPr>
        <p:txBody>
          <a:bodyPr wrap="square" lIns="0" rIns="0" tIns="0" bIns="0" anchor="ctr">
            <a:spAutoFit/>
          </a:bodyPr>
          <a:lstStyle/>
          <a:p>
            <a:pPr algn="l">
              <a:lnSpc>
                <a:spcPct val="100000"/>
              </a:lnSpc>
              <a:spcAft>
                <a:spcPts val="0"/>
              </a:spcAft>
            </a:pPr>
            <a:r>
              <a:rPr sz="2800" b="0">
                <a:solidFill>
                  <a:srgbClr val="0B1F3A"/>
                </a:solidFill>
                <a:latin typeface="Arial"/>
              </a:rPr>
              <a:t>exact</a:t>
            </a:r>
          </a:p>
        </p:txBody>
      </p:sp>
      <p:sp>
        <p:nvSpPr>
          <p:cNvPr id="20" name="Rectangle 19"/>
          <p:cNvSpPr/>
          <p:nvPr/>
        </p:nvSpPr>
        <p:spPr>
          <a:xfrm>
            <a:off x="7315200" y="4617720"/>
            <a:ext cx="4325112" cy="18288"/>
          </a:xfrm>
          <a:prstGeom prst="rect">
            <a:avLst/>
          </a:prstGeom>
          <a:solidFill>
            <a:srgbClr val="DDE3EA"/>
          </a:solidFill>
          <a:ln>
            <a:noFill/>
          </a:ln>
          <a:effectLst/>
        </p:spPr>
        <p:txBody>
          <a:bodyPr rtlCol="0" anchor="ctr"/>
          <a:lstStyle/>
          <a:p>
            <a:pPr algn="ctr"/>
          </a:p>
        </p:txBody>
      </p:sp>
      <p:sp>
        <p:nvSpPr>
          <p:cNvPr id="21" name="TextBox 20"/>
          <p:cNvSpPr txBox="1"/>
          <p:nvPr/>
        </p:nvSpPr>
        <p:spPr>
          <a:xfrm>
            <a:off x="7315200" y="4754880"/>
            <a:ext cx="4389120" cy="457200"/>
          </a:xfrm>
          <a:prstGeom prst="rect">
            <a:avLst/>
          </a:prstGeom>
          <a:noFill/>
        </p:spPr>
        <p:txBody>
          <a:bodyPr wrap="square" lIns="0" rIns="0" tIns="0" bIns="0" anchor="t">
            <a:spAutoFit/>
          </a:bodyPr>
          <a:lstStyle/>
          <a:p>
            <a:pPr algn="l">
              <a:lnSpc>
                <a:spcPct val="100000"/>
              </a:lnSpc>
              <a:spcAft>
                <a:spcPts val="0"/>
              </a:spcAft>
            </a:pPr>
            <a:r>
              <a:rPr sz="2800" b="0">
                <a:solidFill>
                  <a:srgbClr val="6B7280"/>
                </a:solidFill>
                <a:latin typeface="Arial"/>
              </a:rPr>
              <a:t>Ran on</a:t>
            </a:r>
          </a:p>
        </p:txBody>
      </p:sp>
      <p:sp>
        <p:nvSpPr>
          <p:cNvPr id="22" name="TextBox 21"/>
          <p:cNvSpPr txBox="1"/>
          <p:nvPr/>
        </p:nvSpPr>
        <p:spPr>
          <a:xfrm>
            <a:off x="7315200" y="5212080"/>
            <a:ext cx="4389120" cy="457200"/>
          </a:xfrm>
          <a:prstGeom prst="rect">
            <a:avLst/>
          </a:prstGeom>
          <a:noFill/>
        </p:spPr>
        <p:txBody>
          <a:bodyPr wrap="square" lIns="0" rIns="0" tIns="0" bIns="0" anchor="t">
            <a:spAutoFit/>
          </a:bodyPr>
          <a:lstStyle/>
          <a:p>
            <a:pPr algn="l">
              <a:lnSpc>
                <a:spcPct val="100000"/>
              </a:lnSpc>
              <a:spcAft>
                <a:spcPts val="0"/>
              </a:spcAft>
            </a:pPr>
            <a:r>
              <a:rPr sz="2800" b="1">
                <a:solidFill>
                  <a:srgbClr val="0B1F3A"/>
                </a:solidFill>
                <a:latin typeface="Arial"/>
              </a:rPr>
              <a:t>IBM · IQM · VTT Q50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4415" cy="731520"/>
          </a:xfrm>
          <a:prstGeom prst="rect">
            <a:avLst/>
          </a:prstGeom>
          <a:noFill/>
        </p:spPr>
        <p:txBody>
          <a:bodyPr wrap="square" lIns="0" rIns="0" tIns="0" bIns="0" anchor="t">
            <a:spAutoFit/>
          </a:bodyPr>
          <a:lstStyle/>
          <a:p>
            <a:pPr algn="l">
              <a:lnSpc>
                <a:spcPct val="100000"/>
              </a:lnSpc>
              <a:spcAft>
                <a:spcPts val="0"/>
              </a:spcAft>
            </a:pPr>
            <a:r>
              <a:rPr sz="4000" b="1">
                <a:solidFill>
                  <a:srgbClr val="0B1F3A"/>
                </a:solidFill>
                <a:latin typeface="Arial"/>
              </a:rPr>
              <a:t>Classical still wins today</a:t>
            </a:r>
          </a:p>
        </p:txBody>
      </p:sp>
      <p:sp>
        <p:nvSpPr>
          <p:cNvPr id="3" name="TextBox 2"/>
          <p:cNvSpPr txBox="1"/>
          <p:nvPr/>
        </p:nvSpPr>
        <p:spPr>
          <a:xfrm>
            <a:off x="9814255" y="6473952"/>
            <a:ext cx="1828800" cy="228600"/>
          </a:xfrm>
          <a:prstGeom prst="rect">
            <a:avLst/>
          </a:prstGeom>
          <a:noFill/>
        </p:spPr>
        <p:txBody>
          <a:bodyPr wrap="square" lIns="0" rIns="0" tIns="0" bIns="0" anchor="t">
            <a:spAutoFit/>
          </a:bodyPr>
          <a:lstStyle/>
          <a:p>
            <a:pPr algn="r">
              <a:lnSpc>
                <a:spcPct val="100000"/>
              </a:lnSpc>
              <a:spcAft>
                <a:spcPts val="0"/>
              </a:spcAft>
            </a:pPr>
            <a:r>
              <a:rPr sz="1200" b="1">
                <a:solidFill>
                  <a:srgbClr val="0B1F3A"/>
                </a:solidFill>
                <a:latin typeface="Arial"/>
              </a:rPr>
              <a:t>Tulva</a:t>
            </a:r>
            <a:r>
              <a:rPr sz="1200" b="0">
                <a:solidFill>
                  <a:srgbClr val="6B7280"/>
                </a:solidFill>
                <a:latin typeface="Arial"/>
              </a:rPr>
              <a:t>   7</a:t>
            </a:r>
          </a:p>
        </p:txBody>
      </p:sp>
      <p:pic>
        <p:nvPicPr>
          <p:cNvPr id="4" name="Picture 3" descr="stage_scaling.png"/>
          <p:cNvPicPr>
            <a:picLocks noChangeAspect="1"/>
          </p:cNvPicPr>
          <p:nvPr/>
        </p:nvPicPr>
        <p:blipFill>
          <a:blip r:embed="rId2"/>
          <a:stretch>
            <a:fillRect/>
          </a:stretch>
        </p:blipFill>
        <p:spPr>
          <a:xfrm>
            <a:off x="548640" y="1417320"/>
            <a:ext cx="7498079" cy="4480559"/>
          </a:xfrm>
          <a:prstGeom prst="rect">
            <a:avLst/>
          </a:prstGeom>
        </p:spPr>
      </p:pic>
      <p:sp>
        <p:nvSpPr>
          <p:cNvPr id="5" name="Rectangle 4"/>
          <p:cNvSpPr/>
          <p:nvPr/>
        </p:nvSpPr>
        <p:spPr>
          <a:xfrm>
            <a:off x="8183879" y="1737360"/>
            <a:ext cx="91440" cy="2194560"/>
          </a:xfrm>
          <a:prstGeom prst="rect">
            <a:avLst/>
          </a:prstGeom>
          <a:solidFill>
            <a:srgbClr val="D13B2F"/>
          </a:solidFill>
          <a:ln>
            <a:noFill/>
          </a:ln>
          <a:effectLst/>
        </p:spPr>
        <p:txBody>
          <a:bodyPr rtlCol="0" anchor="ctr"/>
          <a:lstStyle/>
          <a:p>
            <a:pPr algn="ctr"/>
          </a:p>
        </p:txBody>
      </p:sp>
      <p:sp>
        <p:nvSpPr>
          <p:cNvPr id="6" name="TextBox 5"/>
          <p:cNvSpPr txBox="1"/>
          <p:nvPr/>
        </p:nvSpPr>
        <p:spPr>
          <a:xfrm>
            <a:off x="8458200" y="1737360"/>
            <a:ext cx="3200400" cy="2194560"/>
          </a:xfrm>
          <a:prstGeom prst="rect">
            <a:avLst/>
          </a:prstGeom>
          <a:noFill/>
        </p:spPr>
        <p:txBody>
          <a:bodyPr wrap="square" lIns="0" rIns="0" tIns="0" bIns="0" anchor="ctr">
            <a:spAutoFit/>
          </a:bodyPr>
          <a:lstStyle/>
          <a:p>
            <a:pPr algn="l">
              <a:lnSpc>
                <a:spcPct val="100000"/>
              </a:lnSpc>
              <a:spcAft>
                <a:spcPts val="0"/>
              </a:spcAft>
            </a:pPr>
            <a:r>
              <a:rPr sz="3600" b="1">
                <a:solidFill>
                  <a:srgbClr val="0B1F3A"/>
                </a:solidFill>
                <a:latin typeface="Arial"/>
              </a:rPr>
              <a:t>Rare 1-in-50 floods drown in noise.</a:t>
            </a:r>
          </a:p>
        </p:txBody>
      </p:sp>
      <p:sp>
        <p:nvSpPr>
          <p:cNvPr id="7" name="TextBox 6"/>
          <p:cNvSpPr txBox="1"/>
          <p:nvPr/>
        </p:nvSpPr>
        <p:spPr>
          <a:xfrm>
            <a:off x="8458200" y="4297680"/>
            <a:ext cx="3200400" cy="1097280"/>
          </a:xfrm>
          <a:prstGeom prst="rect">
            <a:avLst/>
          </a:prstGeom>
          <a:noFill/>
        </p:spPr>
        <p:txBody>
          <a:bodyPr wrap="square" lIns="0" rIns="0" tIns="0" bIns="0" anchor="t">
            <a:spAutoFit/>
          </a:bodyPr>
          <a:lstStyle/>
          <a:p>
            <a:pPr algn="l">
              <a:lnSpc>
                <a:spcPct val="100000"/>
              </a:lnSpc>
              <a:spcAft>
                <a:spcPts val="0"/>
              </a:spcAft>
            </a:pPr>
            <a:r>
              <a:rPr sz="2800" b="0">
                <a:solidFill>
                  <a:srgbClr val="6B7280"/>
                </a:solidFill>
                <a:latin typeface="Arial"/>
              </a:rPr>
              <a:t>Prices are computed classically.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4415" cy="731520"/>
          </a:xfrm>
          <a:prstGeom prst="rect">
            <a:avLst/>
          </a:prstGeom>
          <a:noFill/>
        </p:spPr>
        <p:txBody>
          <a:bodyPr wrap="square" lIns="0" rIns="0" tIns="0" bIns="0" anchor="t">
            <a:spAutoFit/>
          </a:bodyPr>
          <a:lstStyle/>
          <a:p>
            <a:pPr algn="l">
              <a:lnSpc>
                <a:spcPct val="100000"/>
              </a:lnSpc>
              <a:spcAft>
                <a:spcPts val="0"/>
              </a:spcAft>
            </a:pPr>
            <a:r>
              <a:rPr sz="4000" b="1">
                <a:solidFill>
                  <a:srgbClr val="0B1F3A"/>
                </a:solidFill>
                <a:latin typeface="Arial"/>
              </a:rPr>
              <a:t>Who pays</a:t>
            </a:r>
          </a:p>
        </p:txBody>
      </p:sp>
      <p:sp>
        <p:nvSpPr>
          <p:cNvPr id="3" name="TextBox 2"/>
          <p:cNvSpPr txBox="1"/>
          <p:nvPr/>
        </p:nvSpPr>
        <p:spPr>
          <a:xfrm>
            <a:off x="9814255" y="6473952"/>
            <a:ext cx="1828800" cy="228600"/>
          </a:xfrm>
          <a:prstGeom prst="rect">
            <a:avLst/>
          </a:prstGeom>
          <a:noFill/>
        </p:spPr>
        <p:txBody>
          <a:bodyPr wrap="square" lIns="0" rIns="0" tIns="0" bIns="0" anchor="t">
            <a:spAutoFit/>
          </a:bodyPr>
          <a:lstStyle/>
          <a:p>
            <a:pPr algn="r">
              <a:lnSpc>
                <a:spcPct val="100000"/>
              </a:lnSpc>
              <a:spcAft>
                <a:spcPts val="0"/>
              </a:spcAft>
            </a:pPr>
            <a:r>
              <a:rPr sz="1200" b="1">
                <a:solidFill>
                  <a:srgbClr val="0B1F3A"/>
                </a:solidFill>
                <a:latin typeface="Arial"/>
              </a:rPr>
              <a:t>Tulva</a:t>
            </a:r>
            <a:r>
              <a:rPr sz="1200" b="0">
                <a:solidFill>
                  <a:srgbClr val="6B7280"/>
                </a:solidFill>
                <a:latin typeface="Arial"/>
              </a:rPr>
              <a:t>   8</a:t>
            </a:r>
          </a:p>
        </p:txBody>
      </p:sp>
      <p:sp>
        <p:nvSpPr>
          <p:cNvPr id="4" name="Rounded Rectangle 3"/>
          <p:cNvSpPr/>
          <p:nvPr/>
        </p:nvSpPr>
        <p:spPr>
          <a:xfrm>
            <a:off x="548640" y="1508760"/>
            <a:ext cx="2743200" cy="1188720"/>
          </a:xfrm>
          <a:prstGeom prst="roundRect">
            <a:avLst>
              <a:gd name="adj" fmla="val 12000"/>
            </a:avLst>
          </a:prstGeom>
          <a:solidFill>
            <a:srgbClr val="1F6FEB"/>
          </a:solidFill>
          <a:ln>
            <a:noFill/>
          </a:ln>
          <a:effectLst/>
        </p:spPr>
        <p:txBody>
          <a:bodyPr rtlCol="0" anchor="ctr"/>
          <a:lstStyle/>
          <a:p>
            <a:pPr algn="ctr"/>
          </a:p>
        </p:txBody>
      </p:sp>
      <p:sp>
        <p:nvSpPr>
          <p:cNvPr id="5" name="TextBox 4"/>
          <p:cNvSpPr txBox="1"/>
          <p:nvPr/>
        </p:nvSpPr>
        <p:spPr>
          <a:xfrm>
            <a:off x="548640" y="1508760"/>
            <a:ext cx="2743200" cy="1188720"/>
          </a:xfrm>
          <a:prstGeom prst="rect">
            <a:avLst/>
          </a:prstGeom>
          <a:noFill/>
        </p:spPr>
        <p:txBody>
          <a:bodyPr wrap="square" lIns="0" rIns="0" tIns="0" bIns="0" anchor="ctr">
            <a:spAutoFit/>
          </a:bodyPr>
          <a:lstStyle/>
          <a:p>
            <a:pPr algn="ctr">
              <a:lnSpc>
                <a:spcPct val="100000"/>
              </a:lnSpc>
              <a:spcAft>
                <a:spcPts val="0"/>
              </a:spcAft>
            </a:pPr>
            <a:r>
              <a:rPr sz="3600" b="1">
                <a:solidFill>
                  <a:srgbClr val="FFFFFF"/>
                </a:solidFill>
                <a:latin typeface="Arial"/>
              </a:rPr>
              <a:t>Tulva</a:t>
            </a:r>
          </a:p>
        </p:txBody>
      </p:sp>
      <p:sp>
        <p:nvSpPr>
          <p:cNvPr id="6" name="Rounded Rectangle 5"/>
          <p:cNvSpPr/>
          <p:nvPr/>
        </p:nvSpPr>
        <p:spPr>
          <a:xfrm>
            <a:off x="4724247" y="1508760"/>
            <a:ext cx="2743200" cy="1188720"/>
          </a:xfrm>
          <a:prstGeom prst="roundRect">
            <a:avLst>
              <a:gd name="adj" fmla="val 12000"/>
            </a:avLst>
          </a:prstGeom>
          <a:solidFill>
            <a:srgbClr val="0B1F3A"/>
          </a:solidFill>
          <a:ln>
            <a:noFill/>
          </a:ln>
          <a:effectLst/>
        </p:spPr>
        <p:txBody>
          <a:bodyPr rtlCol="0" anchor="ctr"/>
          <a:lstStyle/>
          <a:p>
            <a:pPr algn="ctr"/>
          </a:p>
        </p:txBody>
      </p:sp>
      <p:sp>
        <p:nvSpPr>
          <p:cNvPr id="7" name="TextBox 6"/>
          <p:cNvSpPr txBox="1"/>
          <p:nvPr/>
        </p:nvSpPr>
        <p:spPr>
          <a:xfrm>
            <a:off x="4724247" y="1508760"/>
            <a:ext cx="2743200" cy="1188720"/>
          </a:xfrm>
          <a:prstGeom prst="rect">
            <a:avLst/>
          </a:prstGeom>
          <a:noFill/>
        </p:spPr>
        <p:txBody>
          <a:bodyPr wrap="square" lIns="0" rIns="0" tIns="0" bIns="0" anchor="ctr">
            <a:spAutoFit/>
          </a:bodyPr>
          <a:lstStyle/>
          <a:p>
            <a:pPr algn="ctr">
              <a:lnSpc>
                <a:spcPct val="100000"/>
              </a:lnSpc>
              <a:spcAft>
                <a:spcPts val="0"/>
              </a:spcAft>
            </a:pPr>
            <a:r>
              <a:rPr sz="3600" b="1">
                <a:solidFill>
                  <a:srgbClr val="FFFFFF"/>
                </a:solidFill>
                <a:latin typeface="Arial"/>
              </a:rPr>
              <a:t>Insurer</a:t>
            </a:r>
          </a:p>
        </p:txBody>
      </p:sp>
      <p:sp>
        <p:nvSpPr>
          <p:cNvPr id="8" name="Rounded Rectangle 7"/>
          <p:cNvSpPr/>
          <p:nvPr/>
        </p:nvSpPr>
        <p:spPr>
          <a:xfrm>
            <a:off x="8899855" y="1508760"/>
            <a:ext cx="2743200" cy="1188720"/>
          </a:xfrm>
          <a:prstGeom prst="roundRect">
            <a:avLst>
              <a:gd name="adj" fmla="val 12000"/>
            </a:avLst>
          </a:prstGeom>
          <a:solidFill>
            <a:srgbClr val="F3F6FA"/>
          </a:solidFill>
          <a:ln>
            <a:noFill/>
          </a:ln>
          <a:effectLst/>
        </p:spPr>
        <p:txBody>
          <a:bodyPr rtlCol="0" anchor="ctr"/>
          <a:lstStyle/>
          <a:p>
            <a:pPr algn="ctr"/>
          </a:p>
        </p:txBody>
      </p:sp>
      <p:sp>
        <p:nvSpPr>
          <p:cNvPr id="9" name="TextBox 8"/>
          <p:cNvSpPr txBox="1"/>
          <p:nvPr/>
        </p:nvSpPr>
        <p:spPr>
          <a:xfrm>
            <a:off x="8899855" y="1508760"/>
            <a:ext cx="2743200" cy="1188720"/>
          </a:xfrm>
          <a:prstGeom prst="rect">
            <a:avLst/>
          </a:prstGeom>
          <a:noFill/>
        </p:spPr>
        <p:txBody>
          <a:bodyPr wrap="square" lIns="0" rIns="0" tIns="0" bIns="0" anchor="ctr">
            <a:spAutoFit/>
          </a:bodyPr>
          <a:lstStyle/>
          <a:p>
            <a:pPr algn="ctr">
              <a:lnSpc>
                <a:spcPct val="100000"/>
              </a:lnSpc>
              <a:spcAft>
                <a:spcPts val="0"/>
              </a:spcAft>
            </a:pPr>
            <a:r>
              <a:rPr sz="3600" b="1">
                <a:solidFill>
                  <a:srgbClr val="0B1F3A"/>
                </a:solidFill>
                <a:latin typeface="Arial"/>
              </a:rPr>
              <a:t>Reinsurer</a:t>
            </a:r>
          </a:p>
        </p:txBody>
      </p:sp>
      <p:sp>
        <p:nvSpPr>
          <p:cNvPr id="10" name="Left Arrow 9"/>
          <p:cNvSpPr/>
          <p:nvPr/>
        </p:nvSpPr>
        <p:spPr>
          <a:xfrm>
            <a:off x="3429000" y="2057400"/>
            <a:ext cx="1158087" cy="457200"/>
          </a:xfrm>
          <a:prstGeom prst="leftArrow">
            <a:avLst/>
          </a:prstGeom>
          <a:solidFill>
            <a:srgbClr val="1F6FEB"/>
          </a:solidFill>
          <a:ln>
            <a:noFill/>
          </a:ln>
          <a:effectLst/>
        </p:spPr>
        <p:txBody>
          <a:bodyPr rtlCol="0" anchor="ctr"/>
          <a:lstStyle/>
          <a:p>
            <a:pPr algn="ctr"/>
          </a:p>
        </p:txBody>
      </p:sp>
      <p:sp>
        <p:nvSpPr>
          <p:cNvPr id="11" name="TextBox 10"/>
          <p:cNvSpPr txBox="1"/>
          <p:nvPr/>
        </p:nvSpPr>
        <p:spPr>
          <a:xfrm>
            <a:off x="3108960" y="1536191"/>
            <a:ext cx="1798167" cy="457200"/>
          </a:xfrm>
          <a:prstGeom prst="rect">
            <a:avLst/>
          </a:prstGeom>
          <a:noFill/>
        </p:spPr>
        <p:txBody>
          <a:bodyPr wrap="square" lIns="0" rIns="0" tIns="0" bIns="0" anchor="t">
            <a:spAutoFit/>
          </a:bodyPr>
          <a:lstStyle/>
          <a:p>
            <a:pPr algn="ctr">
              <a:lnSpc>
                <a:spcPct val="100000"/>
              </a:lnSpc>
              <a:spcAft>
                <a:spcPts val="0"/>
              </a:spcAft>
            </a:pPr>
            <a:r>
              <a:rPr sz="2400" b="1">
                <a:solidFill>
                  <a:srgbClr val="1F6FEB"/>
                </a:solidFill>
                <a:latin typeface="Arial"/>
              </a:rPr>
              <a:t>licence</a:t>
            </a:r>
          </a:p>
        </p:txBody>
      </p:sp>
      <p:sp>
        <p:nvSpPr>
          <p:cNvPr id="12" name="Right Arrow 11"/>
          <p:cNvSpPr/>
          <p:nvPr/>
        </p:nvSpPr>
        <p:spPr>
          <a:xfrm>
            <a:off x="7604607" y="2057400"/>
            <a:ext cx="1158087" cy="457200"/>
          </a:xfrm>
          <a:prstGeom prst="rightArrow">
            <a:avLst/>
          </a:prstGeom>
          <a:solidFill>
            <a:srgbClr val="1F6FEB"/>
          </a:solidFill>
          <a:ln>
            <a:noFill/>
          </a:ln>
          <a:effectLst/>
        </p:spPr>
        <p:txBody>
          <a:bodyPr rtlCol="0" anchor="ctr"/>
          <a:lstStyle/>
          <a:p>
            <a:pPr algn="ctr"/>
          </a:p>
        </p:txBody>
      </p:sp>
      <p:sp>
        <p:nvSpPr>
          <p:cNvPr id="13" name="TextBox 12"/>
          <p:cNvSpPr txBox="1"/>
          <p:nvPr/>
        </p:nvSpPr>
        <p:spPr>
          <a:xfrm>
            <a:off x="7284567" y="1536191"/>
            <a:ext cx="1798167" cy="457200"/>
          </a:xfrm>
          <a:prstGeom prst="rect">
            <a:avLst/>
          </a:prstGeom>
          <a:noFill/>
        </p:spPr>
        <p:txBody>
          <a:bodyPr wrap="square" lIns="0" rIns="0" tIns="0" bIns="0" anchor="t">
            <a:spAutoFit/>
          </a:bodyPr>
          <a:lstStyle/>
          <a:p>
            <a:pPr algn="ctr">
              <a:lnSpc>
                <a:spcPct val="100000"/>
              </a:lnSpc>
              <a:spcAft>
                <a:spcPts val="0"/>
              </a:spcAft>
            </a:pPr>
            <a:r>
              <a:rPr sz="2400" b="1">
                <a:solidFill>
                  <a:srgbClr val="1F6FEB"/>
                </a:solidFill>
                <a:latin typeface="Arial"/>
              </a:rPr>
              <a:t>premium</a:t>
            </a:r>
          </a:p>
        </p:txBody>
      </p:sp>
      <p:sp>
        <p:nvSpPr>
          <p:cNvPr id="14" name="TextBox 13"/>
          <p:cNvSpPr txBox="1"/>
          <p:nvPr/>
        </p:nvSpPr>
        <p:spPr>
          <a:xfrm>
            <a:off x="548640" y="2834640"/>
            <a:ext cx="4572000" cy="457200"/>
          </a:xfrm>
          <a:prstGeom prst="rect">
            <a:avLst/>
          </a:prstGeom>
          <a:noFill/>
        </p:spPr>
        <p:txBody>
          <a:bodyPr wrap="square" lIns="0" rIns="0" tIns="0" bIns="0" anchor="t">
            <a:spAutoFit/>
          </a:bodyPr>
          <a:lstStyle/>
          <a:p>
            <a:pPr algn="l">
              <a:lnSpc>
                <a:spcPct val="100000"/>
              </a:lnSpc>
              <a:spcAft>
                <a:spcPts val="0"/>
              </a:spcAft>
            </a:pPr>
            <a:r>
              <a:rPr sz="2800" b="1">
                <a:solidFill>
                  <a:srgbClr val="0B1F3A"/>
                </a:solidFill>
                <a:latin typeface="Arial"/>
              </a:rPr>
              <a:t>€25k pilot, then €75k / yr</a:t>
            </a:r>
          </a:p>
        </p:txBody>
      </p:sp>
      <p:sp>
        <p:nvSpPr>
          <p:cNvPr id="15" name="TextBox 14"/>
          <p:cNvSpPr txBox="1"/>
          <p:nvPr/>
        </p:nvSpPr>
        <p:spPr>
          <a:xfrm>
            <a:off x="548640" y="3429000"/>
            <a:ext cx="11094415" cy="1005840"/>
          </a:xfrm>
          <a:prstGeom prst="rect">
            <a:avLst/>
          </a:prstGeom>
          <a:noFill/>
        </p:spPr>
        <p:txBody>
          <a:bodyPr wrap="square" lIns="0" rIns="0" tIns="0" bIns="0" anchor="t">
            <a:spAutoFit/>
          </a:bodyPr>
          <a:lstStyle/>
          <a:p>
            <a:pPr algn="l">
              <a:lnSpc>
                <a:spcPct val="100000"/>
              </a:lnSpc>
              <a:spcAft>
                <a:spcPts val="0"/>
              </a:spcAft>
            </a:pPr>
            <a:r>
              <a:rPr sz="6400" b="1">
                <a:solidFill>
                  <a:srgbClr val="0B1F3A"/>
                </a:solidFill>
                <a:latin typeface="Arial"/>
              </a:rPr>
              <a:t>Year 3: €0.2–0.45M / yr</a:t>
            </a:r>
          </a:p>
        </p:txBody>
      </p:sp>
      <p:sp>
        <p:nvSpPr>
          <p:cNvPr id="16" name="TextBox 15"/>
          <p:cNvSpPr txBox="1"/>
          <p:nvPr/>
        </p:nvSpPr>
        <p:spPr>
          <a:xfrm>
            <a:off x="548640" y="4434840"/>
            <a:ext cx="11094415" cy="457200"/>
          </a:xfrm>
          <a:prstGeom prst="rect">
            <a:avLst/>
          </a:prstGeom>
          <a:noFill/>
        </p:spPr>
        <p:txBody>
          <a:bodyPr wrap="square" lIns="0" rIns="0" tIns="0" bIns="0" anchor="t">
            <a:spAutoFit/>
          </a:bodyPr>
          <a:lstStyle/>
          <a:p>
            <a:pPr algn="l">
              <a:lnSpc>
                <a:spcPct val="100000"/>
              </a:lnSpc>
              <a:spcAft>
                <a:spcPts val="0"/>
              </a:spcAft>
            </a:pPr>
            <a:r>
              <a:rPr sz="2800" b="0">
                <a:solidFill>
                  <a:srgbClr val="6B7280"/>
                </a:solidFill>
                <a:latin typeface="Arial"/>
              </a:rPr>
              <a:t>3–6 Finnish insurers, then the Nordics</a:t>
            </a:r>
          </a:p>
        </p:txBody>
      </p:sp>
      <p:sp>
        <p:nvSpPr>
          <p:cNvPr id="17" name="Rounded Rectangle 16"/>
          <p:cNvSpPr/>
          <p:nvPr/>
        </p:nvSpPr>
        <p:spPr>
          <a:xfrm>
            <a:off x="548640" y="5440680"/>
            <a:ext cx="11094415" cy="822960"/>
          </a:xfrm>
          <a:prstGeom prst="roundRect">
            <a:avLst>
              <a:gd name="adj" fmla="val 12000"/>
            </a:avLst>
          </a:prstGeom>
          <a:solidFill>
            <a:srgbClr val="0B1F3A"/>
          </a:solidFill>
          <a:ln>
            <a:noFill/>
          </a:ln>
          <a:effectLst/>
        </p:spPr>
        <p:txBody>
          <a:bodyPr rtlCol="0" anchor="ctr"/>
          <a:lstStyle/>
          <a:p>
            <a:pPr algn="ctr"/>
          </a:p>
        </p:txBody>
      </p:sp>
      <p:sp>
        <p:nvSpPr>
          <p:cNvPr id="18" name="TextBox 17"/>
          <p:cNvSpPr txBox="1"/>
          <p:nvPr/>
        </p:nvSpPr>
        <p:spPr>
          <a:xfrm>
            <a:off x="914400" y="5440680"/>
            <a:ext cx="10545775" cy="822960"/>
          </a:xfrm>
          <a:prstGeom prst="rect">
            <a:avLst/>
          </a:prstGeom>
          <a:noFill/>
        </p:spPr>
        <p:txBody>
          <a:bodyPr wrap="square" lIns="0" rIns="0" tIns="0" bIns="0" anchor="ctr">
            <a:spAutoFit/>
          </a:bodyPr>
          <a:lstStyle/>
          <a:p>
            <a:pPr algn="l">
              <a:lnSpc>
                <a:spcPct val="100000"/>
              </a:lnSpc>
              <a:spcAft>
                <a:spcPts val="0"/>
              </a:spcAft>
            </a:pPr>
            <a:r>
              <a:rPr sz="3200" b="1">
                <a:solidFill>
                  <a:srgbClr val="A9C8F5"/>
                </a:solidFill>
                <a:latin typeface="Arial"/>
              </a:rPr>
              <a:t>Ask:  </a:t>
            </a:r>
            <a:r>
              <a:rPr sz="3200" b="1">
                <a:solidFill>
                  <a:srgbClr val="FFFFFF"/>
                </a:solidFill>
                <a:latin typeface="Arial"/>
              </a:rPr>
              <a:t>one insurer's flood claims, 8 weeks.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txBody>
          <a:bodyPr rtlCol="0" anchor="ctr"/>
          <a:lstStyle/>
          <a:p>
            <a:pPr algn="ctr"/>
          </a:p>
        </p:txBody>
      </p:sp>
      <p:sp>
        <p:nvSpPr>
          <p:cNvPr id="3" name="TextBox 2"/>
          <p:cNvSpPr txBox="1"/>
          <p:nvPr/>
        </p:nvSpPr>
        <p:spPr>
          <a:xfrm>
            <a:off x="548640" y="457200"/>
            <a:ext cx="11094415" cy="731520"/>
          </a:xfrm>
          <a:prstGeom prst="rect">
            <a:avLst/>
          </a:prstGeom>
          <a:noFill/>
        </p:spPr>
        <p:txBody>
          <a:bodyPr wrap="square" lIns="0" rIns="0" tIns="0" bIns="0" anchor="t">
            <a:spAutoFit/>
          </a:bodyPr>
          <a:lstStyle/>
          <a:p>
            <a:pPr algn="l">
              <a:lnSpc>
                <a:spcPct val="100000"/>
              </a:lnSpc>
              <a:spcAft>
                <a:spcPts val="0"/>
              </a:spcAft>
            </a:pPr>
            <a:r>
              <a:rPr sz="4000" b="1">
                <a:solidFill>
                  <a:srgbClr val="FFFFFF"/>
                </a:solidFill>
                <a:latin typeface="Arial"/>
              </a:rPr>
              <a:t>Built this weekend</a:t>
            </a:r>
          </a:p>
        </p:txBody>
      </p:sp>
      <p:sp>
        <p:nvSpPr>
          <p:cNvPr id="4" name="TextBox 3"/>
          <p:cNvSpPr txBox="1"/>
          <p:nvPr/>
        </p:nvSpPr>
        <p:spPr>
          <a:xfrm>
            <a:off x="9814255" y="6473952"/>
            <a:ext cx="1828800" cy="228600"/>
          </a:xfrm>
          <a:prstGeom prst="rect">
            <a:avLst/>
          </a:prstGeom>
          <a:noFill/>
        </p:spPr>
        <p:txBody>
          <a:bodyPr wrap="square" lIns="0" rIns="0" tIns="0" bIns="0" anchor="t">
            <a:spAutoFit/>
          </a:bodyPr>
          <a:lstStyle/>
          <a:p>
            <a:pPr algn="r">
              <a:lnSpc>
                <a:spcPct val="100000"/>
              </a:lnSpc>
              <a:spcAft>
                <a:spcPts val="0"/>
              </a:spcAft>
            </a:pPr>
            <a:r>
              <a:rPr sz="1200" b="1">
                <a:solidFill>
                  <a:srgbClr val="FFFFFF"/>
                </a:solidFill>
                <a:latin typeface="Arial"/>
              </a:rPr>
              <a:t>Tulva</a:t>
            </a:r>
            <a:r>
              <a:rPr sz="1200" b="0">
                <a:solidFill>
                  <a:srgbClr val="A9C8F5"/>
                </a:solidFill>
                <a:latin typeface="Arial"/>
              </a:rPr>
              <a:t>   9</a:t>
            </a:r>
          </a:p>
        </p:txBody>
      </p:sp>
      <p:sp>
        <p:nvSpPr>
          <p:cNvPr id="5" name="Rounded Rectangle 4"/>
          <p:cNvSpPr/>
          <p:nvPr/>
        </p:nvSpPr>
        <p:spPr>
          <a:xfrm>
            <a:off x="548640" y="1417320"/>
            <a:ext cx="3083857" cy="594360"/>
          </a:xfrm>
          <a:prstGeom prst="roundRect">
            <a:avLst>
              <a:gd name="adj" fmla="val 50000"/>
            </a:avLst>
          </a:prstGeom>
          <a:solidFill>
            <a:srgbClr val="1A365F"/>
          </a:solidFill>
          <a:ln w="12700">
            <a:solidFill>
              <a:srgbClr val="A9C8F5"/>
            </a:solidFill>
          </a:ln>
          <a:effectLst/>
        </p:spPr>
        <p:txBody>
          <a:bodyPr rtlCol="0" anchor="ctr"/>
          <a:lstStyle/>
          <a:p>
            <a:pPr algn="ctr"/>
          </a:p>
        </p:txBody>
      </p:sp>
      <p:sp>
        <p:nvSpPr>
          <p:cNvPr id="6" name="TextBox 5"/>
          <p:cNvSpPr txBox="1"/>
          <p:nvPr/>
        </p:nvSpPr>
        <p:spPr>
          <a:xfrm>
            <a:off x="548640" y="1417320"/>
            <a:ext cx="3083857" cy="594360"/>
          </a:xfrm>
          <a:prstGeom prst="rect">
            <a:avLst/>
          </a:prstGeom>
          <a:noFill/>
        </p:spPr>
        <p:txBody>
          <a:bodyPr wrap="square" lIns="0" rIns="0" tIns="0" bIns="0" anchor="ctr">
            <a:spAutoFit/>
          </a:bodyPr>
          <a:lstStyle/>
          <a:p>
            <a:pPr algn="ctr">
              <a:lnSpc>
                <a:spcPct val="100000"/>
              </a:lnSpc>
              <a:spcAft>
                <a:spcPts val="0"/>
              </a:spcAft>
            </a:pPr>
            <a:r>
              <a:rPr sz="2400" b="0">
                <a:solidFill>
                  <a:srgbClr val="FFFFFF"/>
                </a:solidFill>
                <a:latin typeface="Arial"/>
              </a:rPr>
              <a:t>SYKE data pipeline</a:t>
            </a:r>
          </a:p>
        </p:txBody>
      </p:sp>
      <p:sp>
        <p:nvSpPr>
          <p:cNvPr id="7" name="Rounded Rectangle 6"/>
          <p:cNvSpPr/>
          <p:nvPr/>
        </p:nvSpPr>
        <p:spPr>
          <a:xfrm>
            <a:off x="3815377" y="1417320"/>
            <a:ext cx="2761654" cy="594360"/>
          </a:xfrm>
          <a:prstGeom prst="roundRect">
            <a:avLst>
              <a:gd name="adj" fmla="val 50000"/>
            </a:avLst>
          </a:prstGeom>
          <a:solidFill>
            <a:srgbClr val="1A365F"/>
          </a:solidFill>
          <a:ln w="12700">
            <a:solidFill>
              <a:srgbClr val="A9C8F5"/>
            </a:solidFill>
          </a:ln>
          <a:effectLst/>
        </p:spPr>
        <p:txBody>
          <a:bodyPr rtlCol="0" anchor="ctr"/>
          <a:lstStyle/>
          <a:p>
            <a:pPr algn="ctr"/>
          </a:p>
        </p:txBody>
      </p:sp>
      <p:sp>
        <p:nvSpPr>
          <p:cNvPr id="8" name="TextBox 7"/>
          <p:cNvSpPr txBox="1"/>
          <p:nvPr/>
        </p:nvSpPr>
        <p:spPr>
          <a:xfrm>
            <a:off x="3815377" y="1417320"/>
            <a:ext cx="2761654" cy="594360"/>
          </a:xfrm>
          <a:prstGeom prst="rect">
            <a:avLst/>
          </a:prstGeom>
          <a:noFill/>
        </p:spPr>
        <p:txBody>
          <a:bodyPr wrap="square" lIns="0" rIns="0" tIns="0" bIns="0" anchor="ctr">
            <a:spAutoFit/>
          </a:bodyPr>
          <a:lstStyle/>
          <a:p>
            <a:pPr algn="ctr">
              <a:lnSpc>
                <a:spcPct val="100000"/>
              </a:lnSpc>
              <a:spcAft>
                <a:spcPts val="0"/>
              </a:spcAft>
            </a:pPr>
            <a:r>
              <a:rPr sz="2400" b="0">
                <a:solidFill>
                  <a:srgbClr val="FFFFFF"/>
                </a:solidFill>
                <a:latin typeface="Arial"/>
              </a:rPr>
              <a:t>Joint flood model</a:t>
            </a:r>
          </a:p>
        </p:txBody>
      </p:sp>
      <p:sp>
        <p:nvSpPr>
          <p:cNvPr id="9" name="Rounded Rectangle 8"/>
          <p:cNvSpPr/>
          <p:nvPr/>
        </p:nvSpPr>
        <p:spPr>
          <a:xfrm>
            <a:off x="6759912" y="1417320"/>
            <a:ext cx="2185491" cy="594360"/>
          </a:xfrm>
          <a:prstGeom prst="roundRect">
            <a:avLst>
              <a:gd name="adj" fmla="val 50000"/>
            </a:avLst>
          </a:prstGeom>
          <a:solidFill>
            <a:srgbClr val="1A365F"/>
          </a:solidFill>
          <a:ln w="12700">
            <a:solidFill>
              <a:srgbClr val="A9C8F5"/>
            </a:solidFill>
          </a:ln>
          <a:effectLst/>
        </p:spPr>
        <p:txBody>
          <a:bodyPr rtlCol="0" anchor="ctr"/>
          <a:lstStyle/>
          <a:p>
            <a:pPr algn="ctr"/>
          </a:p>
        </p:txBody>
      </p:sp>
      <p:sp>
        <p:nvSpPr>
          <p:cNvPr id="10" name="TextBox 9"/>
          <p:cNvSpPr txBox="1"/>
          <p:nvPr/>
        </p:nvSpPr>
        <p:spPr>
          <a:xfrm>
            <a:off x="6759912" y="1417320"/>
            <a:ext cx="2185491" cy="594360"/>
          </a:xfrm>
          <a:prstGeom prst="rect">
            <a:avLst/>
          </a:prstGeom>
          <a:noFill/>
        </p:spPr>
        <p:txBody>
          <a:bodyPr wrap="square" lIns="0" rIns="0" tIns="0" bIns="0" anchor="ctr">
            <a:spAutoFit/>
          </a:bodyPr>
          <a:lstStyle/>
          <a:p>
            <a:pPr algn="ctr">
              <a:lnSpc>
                <a:spcPct val="100000"/>
              </a:lnSpc>
              <a:spcAft>
                <a:spcPts val="0"/>
              </a:spcAft>
            </a:pPr>
            <a:r>
              <a:rPr sz="2400" b="0">
                <a:solidFill>
                  <a:srgbClr val="FFFFFF"/>
                </a:solidFill>
                <a:latin typeface="Arial"/>
              </a:rPr>
              <a:t>Index pricing</a:t>
            </a:r>
          </a:p>
        </p:txBody>
      </p:sp>
      <p:sp>
        <p:nvSpPr>
          <p:cNvPr id="11" name="Rounded Rectangle 10"/>
          <p:cNvSpPr/>
          <p:nvPr/>
        </p:nvSpPr>
        <p:spPr>
          <a:xfrm>
            <a:off x="9128283" y="1417320"/>
            <a:ext cx="1609645" cy="594360"/>
          </a:xfrm>
          <a:prstGeom prst="roundRect">
            <a:avLst>
              <a:gd name="adj" fmla="val 50000"/>
            </a:avLst>
          </a:prstGeom>
          <a:solidFill>
            <a:srgbClr val="1A365F"/>
          </a:solidFill>
          <a:ln w="12700">
            <a:solidFill>
              <a:srgbClr val="A9C8F5"/>
            </a:solidFill>
          </a:ln>
          <a:effectLst/>
        </p:spPr>
        <p:txBody>
          <a:bodyPr rtlCol="0" anchor="ctr"/>
          <a:lstStyle/>
          <a:p>
            <a:pPr algn="ctr"/>
          </a:p>
        </p:txBody>
      </p:sp>
      <p:sp>
        <p:nvSpPr>
          <p:cNvPr id="12" name="TextBox 11"/>
          <p:cNvSpPr txBox="1"/>
          <p:nvPr/>
        </p:nvSpPr>
        <p:spPr>
          <a:xfrm>
            <a:off x="9128283" y="1417320"/>
            <a:ext cx="1609645" cy="594360"/>
          </a:xfrm>
          <a:prstGeom prst="rect">
            <a:avLst/>
          </a:prstGeom>
          <a:noFill/>
        </p:spPr>
        <p:txBody>
          <a:bodyPr wrap="square" lIns="0" rIns="0" tIns="0" bIns="0" anchor="ctr">
            <a:spAutoFit/>
          </a:bodyPr>
          <a:lstStyle/>
          <a:p>
            <a:pPr algn="ctr">
              <a:lnSpc>
                <a:spcPct val="100000"/>
              </a:lnSpc>
              <a:spcAft>
                <a:spcPts val="0"/>
              </a:spcAft>
            </a:pPr>
            <a:r>
              <a:rPr sz="2400" b="0">
                <a:solidFill>
                  <a:srgbClr val="FFFFFF"/>
                </a:solidFill>
                <a:latin typeface="Arial"/>
              </a:rPr>
              <a:t>Live app</a:t>
            </a:r>
          </a:p>
        </p:txBody>
      </p:sp>
      <p:sp>
        <p:nvSpPr>
          <p:cNvPr id="13" name="Rounded Rectangle 12"/>
          <p:cNvSpPr/>
          <p:nvPr/>
        </p:nvSpPr>
        <p:spPr>
          <a:xfrm>
            <a:off x="548640" y="2148840"/>
            <a:ext cx="3913921" cy="594360"/>
          </a:xfrm>
          <a:prstGeom prst="roundRect">
            <a:avLst>
              <a:gd name="adj" fmla="val 50000"/>
            </a:avLst>
          </a:prstGeom>
          <a:solidFill>
            <a:srgbClr val="1A365F"/>
          </a:solidFill>
          <a:ln w="12700">
            <a:solidFill>
              <a:srgbClr val="A9C8F5"/>
            </a:solidFill>
          </a:ln>
          <a:effectLst/>
        </p:spPr>
        <p:txBody>
          <a:bodyPr rtlCol="0" anchor="ctr"/>
          <a:lstStyle/>
          <a:p>
            <a:pPr algn="ctr"/>
          </a:p>
        </p:txBody>
      </p:sp>
      <p:sp>
        <p:nvSpPr>
          <p:cNvPr id="14" name="TextBox 13"/>
          <p:cNvSpPr txBox="1"/>
          <p:nvPr/>
        </p:nvSpPr>
        <p:spPr>
          <a:xfrm>
            <a:off x="548640" y="2148840"/>
            <a:ext cx="3913921" cy="594360"/>
          </a:xfrm>
          <a:prstGeom prst="rect">
            <a:avLst/>
          </a:prstGeom>
          <a:noFill/>
        </p:spPr>
        <p:txBody>
          <a:bodyPr wrap="square" lIns="0" rIns="0" tIns="0" bIns="0" anchor="ctr">
            <a:spAutoFit/>
          </a:bodyPr>
          <a:lstStyle/>
          <a:p>
            <a:pPr algn="ctr">
              <a:lnSpc>
                <a:spcPct val="100000"/>
              </a:lnSpc>
              <a:spcAft>
                <a:spcPts val="0"/>
              </a:spcAft>
            </a:pPr>
            <a:r>
              <a:rPr sz="2400" b="0">
                <a:solidFill>
                  <a:srgbClr val="FFFFFF"/>
                </a:solidFill>
                <a:latin typeface="Arial"/>
              </a:rPr>
              <a:t>Runs on 4 quantum chips</a:t>
            </a:r>
          </a:p>
        </p:txBody>
      </p:sp>
      <p:sp>
        <p:nvSpPr>
          <p:cNvPr id="15" name="TextBox 14"/>
          <p:cNvSpPr txBox="1"/>
          <p:nvPr/>
        </p:nvSpPr>
        <p:spPr>
          <a:xfrm>
            <a:off x="548640" y="3154680"/>
            <a:ext cx="11094415" cy="914400"/>
          </a:xfrm>
          <a:prstGeom prst="rect">
            <a:avLst/>
          </a:prstGeom>
          <a:noFill/>
        </p:spPr>
        <p:txBody>
          <a:bodyPr wrap="square" lIns="0" rIns="0" tIns="0" bIns="0" anchor="t">
            <a:spAutoFit/>
          </a:bodyPr>
          <a:lstStyle/>
          <a:p>
            <a:pPr algn="l">
              <a:lnSpc>
                <a:spcPct val="100000"/>
              </a:lnSpc>
              <a:spcAft>
                <a:spcPts val="0"/>
              </a:spcAft>
            </a:pPr>
            <a:r>
              <a:rPr sz="4400" b="1">
                <a:solidFill>
                  <a:srgbClr val="FFFFFF"/>
                </a:solidFill>
                <a:latin typeface="Arial"/>
              </a:rPr>
              <a:t>Next March, the snow will warn us </a:t>
            </a:r>
            <a:r>
              <a:rPr sz="4400" b="1">
                <a:solidFill>
                  <a:srgbClr val="A9C8F5"/>
                </a:solidFill>
                <a:latin typeface="Arial"/>
              </a:rPr>
              <a:t>again.</a:t>
            </a:r>
          </a:p>
        </p:txBody>
      </p:sp>
      <p:sp>
        <p:nvSpPr>
          <p:cNvPr id="16" name="TextBox 15"/>
          <p:cNvSpPr txBox="1"/>
          <p:nvPr/>
        </p:nvSpPr>
        <p:spPr>
          <a:xfrm>
            <a:off x="548640" y="4023360"/>
            <a:ext cx="11094415" cy="548640"/>
          </a:xfrm>
          <a:prstGeom prst="rect">
            <a:avLst/>
          </a:prstGeom>
          <a:noFill/>
        </p:spPr>
        <p:txBody>
          <a:bodyPr wrap="square" lIns="0" rIns="0" tIns="0" bIns="0" anchor="t">
            <a:spAutoFit/>
          </a:bodyPr>
          <a:lstStyle/>
          <a:p>
            <a:pPr algn="l">
              <a:lnSpc>
                <a:spcPct val="100000"/>
              </a:lnSpc>
              <a:spcAft>
                <a:spcPts val="0"/>
              </a:spcAft>
            </a:pPr>
            <a:r>
              <a:rPr sz="3200" b="0">
                <a:solidFill>
                  <a:srgbClr val="A9C8F5"/>
                </a:solidFill>
                <a:latin typeface="Arial"/>
              </a:rPr>
              <a:t>This time, it will have a price.</a:t>
            </a:r>
          </a:p>
        </p:txBody>
      </p:sp>
      <p:sp>
        <p:nvSpPr>
          <p:cNvPr id="17" name="TextBox 16"/>
          <p:cNvSpPr txBox="1"/>
          <p:nvPr/>
        </p:nvSpPr>
        <p:spPr>
          <a:xfrm>
            <a:off x="548640" y="5349240"/>
            <a:ext cx="10058400" cy="822960"/>
          </a:xfrm>
          <a:prstGeom prst="rect">
            <a:avLst/>
          </a:prstGeom>
          <a:noFill/>
        </p:spPr>
        <p:txBody>
          <a:bodyPr wrap="square" lIns="0" rIns="0" tIns="0" bIns="0" anchor="t">
            <a:spAutoFit/>
          </a:bodyPr>
          <a:lstStyle/>
          <a:p>
            <a:pPr algn="l">
              <a:lnSpc>
                <a:spcPct val="100000"/>
              </a:lnSpc>
              <a:spcAft>
                <a:spcPts val="400"/>
              </a:spcAft>
            </a:pPr>
            <a:r>
              <a:rPr sz="2400" b="1">
                <a:solidFill>
                  <a:srgbClr val="FFFFFF"/>
                </a:solidFill>
                <a:latin typeface="Arial"/>
              </a:rPr>
              <a:t>Toivo Kallio</a:t>
            </a:r>
            <a:r>
              <a:rPr sz="2400" b="0">
                <a:solidFill>
                  <a:srgbClr val="A9C8F5"/>
                </a:solidFill>
                <a:latin typeface="Arial"/>
              </a:rPr>
              <a:t>  ·  </a:t>
            </a:r>
            <a:r>
              <a:rPr sz="2400" b="1">
                <a:solidFill>
                  <a:srgbClr val="FFFFFF"/>
                </a:solidFill>
                <a:latin typeface="Arial"/>
              </a:rPr>
              <a:t>Vaishnav Rane</a:t>
            </a:r>
          </a:p>
          <a:p>
            <a:pPr algn="l">
              <a:lnSpc>
                <a:spcPct val="100000"/>
              </a:lnSpc>
              <a:spcAft>
                <a:spcPts val="400"/>
              </a:spcAft>
            </a:pPr>
            <a:r>
              <a:rPr sz="1800" b="0">
                <a:solidFill>
                  <a:srgbClr val="A9C8F5"/>
                </a:solidFill>
                <a:latin typeface="Arial"/>
              </a:rPr>
              <a:t>Team 21 STUHI  ·  Quantum x Finance 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