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(0:00–0:11)]</a:t>
            </a:r>
          </a:p>
          <a:p>
            <a:r>
              <a:t>In May 2005, four Lapland rivers hit flood levels TOGETHER. The snow had warned us two months EARLIER. Tulva turns that warning into a PRICE. [pause]</a:t>
            </a:r>
          </a:p>
          <a:p/>
          <a:p>
            <a:r>
              <a:t>Q&amp;A only (not spoken): "flood levels" = river flow (discharge) over each gauge's 1-in-10 level, not damage. Four = Ivalo, Kittilä, Rovaniemi, Tornio over their 1-in-10 level (the map's filled dots); Ivalo, Kittilä and Rovaniemi also passed their 1-in-50 level. "Warned us" = the North's 1 March snow was in its top 15 % (87th percentile): an in-sample back-test, not a forecast we made at the time.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(0:11–0:24)]</a:t>
            </a:r>
          </a:p>
          <a:p>
            <a:r>
              <a:t>Rivers in one region share ONE snowpack, so they flood TOGETHER: almost FOUR times more often than chance. [pause] Insurers buy cover in autumn, BEFORE the snow.</a:t>
            </a:r>
          </a:p>
          <a:p/>
          <a:p>
            <a:r>
              <a:t>Q&amp;A only (not spoken): 10 of 65 springs (15.4 %, 90 % interval 9–24 %) had ≥4 of 14 areas over 1-in-10; chance on the same gauge-years 3.9 % (3.9×). If all 14 gauges had reported every year, chance would be 4.4 % (3.5×).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(0:24–0:38)]</a:t>
            </a:r>
          </a:p>
          <a:p>
            <a:r>
              <a:t>Our index pays when SEVERAL northern rivers pass a rare flood level TOGETHER. Its expected loss is 1.8 TIMES the regulator's standard assumption. [pause] After a snowy March, it TRIPLES.</a:t>
            </a:r>
          </a:p>
          <a:p/>
          <a:p>
            <a:r>
              <a:t>Q&amp;A only (not spoken): a model comparison, not "the rule implies a price": expected loss 1.96 % of the limit a year (year-bootstrap 90 %: 1.6–2.2 %) vs 1.11 % for a model with one correlation of 0.27, the mean of the 2027 Finnish 19-zone flood matrix (1.77×). We used the 19-zone mean, not the Lapland zones' own entries (the repo has neither the entries nor the zone-to-region map). ≈5× only against independence (0.38 %). "Triples" = 6.4 % after a top-15 % snow March vs the autumn (normal) 1.96 % (3.3×, 90 %: 2.1–4.4×): snowy vs NORMAL, for the 5-river cover. Not the same as slide 6's 3.05× (snowy vs LOW snow, two-river pair on chip; snowy vs normal there is 1.51× chip / 1.55× exact). The product pays the full limit at ≥2; a staged payout is only a variant. The cover is priced in autumn; in March the insurer buys a top-up / second-layer cover if it wants one, staffs claims in the regions at risk and uses the number in its ORSA. Market price (2.5–3.5× expected loss): 4.9–6.9 % rate on line, ≈ €49–69k a year per €1M of cover.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video (0:38–1:15), narrated live]</a:t>
            </a:r>
          </a:p>
          <a:p>
            <a:r>
              <a:t>[0 s, map] This is our app. Lines join rivers that flood together. [5 s, snow high] March snow set to HIGH… and the northern price JUMPS. [12 s, low snow] IQM chip. Red: BOTH rivers flood. Low snow, little red. [18 s, snowy] Snowy versus low snow: about THREE times the risk, close to exact. [24 s, 14-area card] A simplified version of our 14-river model, on ONE chip. [29 s, 2005] And 2005: Lapland floods TOGETHER.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circuit (1:15–1:28)]</a:t>
            </a:r>
          </a:p>
          <a:p>
            <a:r>
              <a:t>Each qubit is the wet spring or a river; the gates ARE our model. Why quantum? Twice the accuracy costs sampling four times the runs; amplitude estimation, only twice.</a:t>
            </a:r>
          </a:p>
          <a:p/>
          <a:p>
            <a:r>
              <a:t>Q&amp;A only (not spoken): method = quantum amplitude estimation (QAE), in its maximum-likelihood form (MLAE): Grover powers k = 0, 1, 2, no phase estimation, plus noise-aware calibration on hardware. The figure is the circuit we ran (instance A3_kittila_ivalo_both in scripts/run_hw.py, drawn by scripts/qae_circuit_figure.py): A = RY on the wet-spring qubit, RY + controlled-RY on each river qubit (angles 2·arcsin(√p) from the model); CZ marks "both flood"; one Grover step = A† · reflect about |000⟩ · A. On an ideal simulator: 0.125 % (exact 0.125 %), ±0.011 pp vs Monte Carlo ±0.027 pp at the same 16,000 oracle queries (≈2.5× tighter). "Only twice" is the ideal scaling (error ∝ 1/N vs 1/√N); our shallow k = 0–2 runs do not reach it on today's chips (slide 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in practice (1:28–1:37)]</a:t>
            </a:r>
          </a:p>
          <a:p>
            <a:r>
              <a:t>On IBM, IQM and Finland's VTT Q50 chips, the snow effect SHOWS: snowy versus low snow, 3.05 times; exact, 2.75.</a:t>
            </a:r>
          </a:p>
          <a:p/>
          <a:p>
            <a:r>
              <a:t>Q&amp;A only (not spoken): the two-river core is a North-cluster pair with identical loadings and 1-in-50 trigger, not Kittilä and Ivalo specifically. The 3.05× is IQM Emerald (calibrated, 90 %: 2.6–3.6). The simplified 14-river model (two-level, 18 qubits, sampling only) ran on IQM's Emerald and Q50. Method: calibrated sampling plus shallow amplitude estimation (Grover steps k = 0–2). Signal kept at k = 1 in the runs shown: Emerald 0.56–0.59, IBM / Garnet 0.77–0.78, VTT Q50 0.12–0.19 (earlier runs 0.65–0.88), so the estimate is mostly the calibrated k = 0 circuit. VTT Q50 (via LUMI): three repeats gave 0.11–0.53 % vs exact 0.125 %; calibration not yet stable, k = 1 keeps only 0.12–0.19 of the signal. It is the fourth computer we ran on, not a headline result (QA.md).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honestly (1:37–1:46)]</a:t>
            </a:r>
          </a:p>
          <a:p>
            <a:r>
              <a:t>Classical computers still WIN today: rare floods drown in chip noise. The method is READY. The hardware is not, YET.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(1:46–2:16)]</a:t>
            </a:r>
          </a:p>
          <a:p>
            <a:r>
              <a:t>Our customers: insurers like OP and If. In March, two months before the melt, our index tells them how risky this spring is, so they can buy extra cover IN TIME, paid automatically on the index. They pay US a licence: 25 thousand to pilot, then 75 thousand a year. From 2027 the regulator's formula is BLIND to snow. Our ask: one insurer's flood claims, eight weeks.</a:t>
            </a:r>
          </a:p>
          <a:p/>
          <a:p>
            <a:r>
              <a:t>Q&amp;A only (not spoken): premium per €10M North layer ≈ €0.5–0.7M a year (model × 2.5–3.5 market multiple) goes insurer → reinsurer; the licence goes insurer → Tulva (the reinsurer pays Tulva nothing). "The regulator's formula" = the 2027 Solvency II standard formula; "their own model" = an approved internal model (If: Sampo's partial internal model; we don't claim OP uses one). Year 3 = 3–6 insurers × €75k (assumption); Nordic snowmelt upside unsized (assumption). We'd like to pilot with OP; there is no agreement. Basis risk (1-in-10 back-test): paid in loss springs 1966, 2005, 2018; missed Ostrobothnia 2012–13 and 2024 (snow flag on, index silent) and Lapland 2020; since 2005 also paid in 2015, 2023 and 2024 in the North with no recorded Lapland loss. At the 1-in-50 product level: paid 1966 and 2005 only.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(2:16–2:29)]</a:t>
            </a:r>
          </a:p>
          <a:p>
            <a:r>
              <a:t>Everything you saw, we built THIS weekend. [pause] Next March, the snow will warn us AGAIN. [long pause] This time, it will have a PRICE. Thank you.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548640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Tulva</a:t>
            </a:r>
          </a:p>
        </p:txBody>
      </p:sp>
      <p:sp>
        <p:nvSpPr>
          <p:cNvPr id="3" name="TextBox 2"/>
          <p:cNvSpPr txBox="1"/>
          <p:nvPr/>
        </p:nvSpPr>
        <p:spPr>
          <a:xfrm>
            <a:off x="548640" y="1600200"/>
            <a:ext cx="5120640" cy="3291840"/>
          </a:xfrm>
          <a:prstGeom prst="rect">
            <a:avLst/>
          </a:prstGeom>
          <a:noFill/>
        </p:spPr>
        <p:txBody>
          <a:bodyPr wrap="square" lIns="0" rIns="0" tIns="0" bIns="0" anchor="t">
            <a:spAutoFit/>
          </a:bodyPr>
          <a:lstStyle/>
          <a:p>
            <a:pPr algn="l">
              <a:lnSpc>
                <a:spcPct val="105000"/>
              </a:lnSpc>
              <a:spcAft>
                <a:spcPts val="0"/>
              </a:spcAft>
            </a:pPr>
            <a:r>
              <a:rPr sz="4800" b="1">
                <a:solidFill>
                  <a:srgbClr val="0B1F3A"/>
                </a:solidFill>
                <a:latin typeface="Arial"/>
              </a:rPr>
              <a:t>May 2005: four Lapland rivers flooded </a:t>
            </a:r>
            <a:r>
              <a:rPr sz="4800" b="1">
                <a:solidFill>
                  <a:srgbClr val="1F6FEB"/>
                </a:solidFill>
                <a:latin typeface="Arial"/>
              </a:rPr>
              <a:t>together.</a:t>
            </a:r>
          </a:p>
        </p:txBody>
      </p:sp>
      <p:sp>
        <p:nvSpPr>
          <p:cNvPr id="4" name="TextBox 3"/>
          <p:cNvSpPr txBox="1"/>
          <p:nvPr/>
        </p:nvSpPr>
        <p:spPr>
          <a:xfrm>
            <a:off x="548640" y="4160520"/>
            <a:ext cx="5120640" cy="548640"/>
          </a:xfrm>
          <a:prstGeom prst="rect">
            <a:avLst/>
          </a:prstGeom>
          <a:noFill/>
        </p:spPr>
        <p:txBody>
          <a:bodyPr wrap="square" lIns="0" rIns="0" tIns="0" bIns="0" anchor="t">
            <a:spAutoFit/>
          </a:bodyPr>
          <a:lstStyle/>
          <a:p>
            <a:pPr algn="l">
              <a:lnSpc>
                <a:spcPct val="100000"/>
              </a:lnSpc>
              <a:spcAft>
                <a:spcPts val="0"/>
              </a:spcAft>
            </a:pPr>
            <a:r>
              <a:rPr sz="3200" b="0">
                <a:solidFill>
                  <a:srgbClr val="6B7280"/>
                </a:solidFill>
                <a:latin typeface="Arial"/>
              </a:rPr>
              <a:t>The March snow warned us.</a:t>
            </a:r>
          </a:p>
        </p:txBody>
      </p:sp>
      <p:pic>
        <p:nvPicPr>
          <p:cNvPr id="5" name="Picture 4" descr="map_2005.png"/>
          <p:cNvPicPr>
            <a:picLocks noChangeAspect="1"/>
          </p:cNvPicPr>
          <p:nvPr/>
        </p:nvPicPr>
        <p:blipFill>
          <a:blip r:embed="rId2"/>
          <a:stretch>
            <a:fillRect/>
          </a:stretch>
        </p:blipFill>
        <p:spPr>
          <a:xfrm>
            <a:off x="5806440" y="411480"/>
            <a:ext cx="5852160" cy="4804011"/>
          </a:xfrm>
          <a:prstGeom prst="rect">
            <a:avLst/>
          </a:prstGeom>
          <a:ln>
            <a:solidFill>
              <a:srgbClr val="DDE3EA"/>
            </a:solidFill>
          </a:ln>
        </p:spPr>
      </p:pic>
      <p:sp>
        <p:nvSpPr>
          <p:cNvPr id="6" name="Rectangle 5"/>
          <p:cNvSpPr/>
          <p:nvPr/>
        </p:nvSpPr>
        <p:spPr>
          <a:xfrm>
            <a:off x="9247510" y="1513672"/>
            <a:ext cx="822960" cy="365760"/>
          </a:xfrm>
          <a:prstGeom prst="rect">
            <a:avLst/>
          </a:prstGeom>
          <a:solidFill>
            <a:srgbClr val="F3F6FA"/>
          </a:solidFill>
          <a:ln>
            <a:noFill/>
          </a:ln>
          <a:effectLst/>
        </p:spPr>
        <p:txBody>
          <a:bodyPr rtlCol="0" anchor="ctr"/>
          <a:lstStyle/>
          <a:p>
            <a:pPr algn="ctr"/>
          </a:p>
        </p:txBody>
      </p:sp>
      <p:sp>
        <p:nvSpPr>
          <p:cNvPr id="7" name="TextBox 6"/>
          <p:cNvSpPr txBox="1"/>
          <p:nvPr/>
        </p:nvSpPr>
        <p:spPr>
          <a:xfrm>
            <a:off x="9247510" y="1513672"/>
            <a:ext cx="822960"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Ivalo</a:t>
            </a:r>
          </a:p>
        </p:txBody>
      </p:sp>
      <p:sp>
        <p:nvSpPr>
          <p:cNvPr id="8" name="Rectangle 7"/>
          <p:cNvSpPr/>
          <p:nvPr/>
        </p:nvSpPr>
        <p:spPr>
          <a:xfrm>
            <a:off x="7091720" y="2282314"/>
            <a:ext cx="1078992" cy="365760"/>
          </a:xfrm>
          <a:prstGeom prst="rect">
            <a:avLst/>
          </a:prstGeom>
          <a:solidFill>
            <a:srgbClr val="F3F6FA"/>
          </a:solidFill>
          <a:ln>
            <a:noFill/>
          </a:ln>
          <a:effectLst/>
        </p:spPr>
        <p:txBody>
          <a:bodyPr rtlCol="0" anchor="ctr"/>
          <a:lstStyle/>
          <a:p>
            <a:pPr algn="ctr"/>
          </a:p>
        </p:txBody>
      </p:sp>
      <p:sp>
        <p:nvSpPr>
          <p:cNvPr id="9" name="TextBox 8"/>
          <p:cNvSpPr txBox="1"/>
          <p:nvPr/>
        </p:nvSpPr>
        <p:spPr>
          <a:xfrm>
            <a:off x="7091720" y="2282314"/>
            <a:ext cx="1078992"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Kittilä</a:t>
            </a:r>
          </a:p>
        </p:txBody>
      </p:sp>
      <p:sp>
        <p:nvSpPr>
          <p:cNvPr id="10" name="Rectangle 9"/>
          <p:cNvSpPr/>
          <p:nvPr/>
        </p:nvSpPr>
        <p:spPr>
          <a:xfrm>
            <a:off x="8732520" y="3120614"/>
            <a:ext cx="1335024" cy="365760"/>
          </a:xfrm>
          <a:prstGeom prst="rect">
            <a:avLst/>
          </a:prstGeom>
          <a:solidFill>
            <a:srgbClr val="F3F6FA"/>
          </a:solidFill>
          <a:ln>
            <a:noFill/>
          </a:ln>
          <a:effectLst/>
        </p:spPr>
        <p:txBody>
          <a:bodyPr rtlCol="0" anchor="ctr"/>
          <a:lstStyle/>
          <a:p>
            <a:pPr algn="ctr"/>
          </a:p>
        </p:txBody>
      </p:sp>
      <p:sp>
        <p:nvSpPr>
          <p:cNvPr id="11" name="TextBox 10"/>
          <p:cNvSpPr txBox="1"/>
          <p:nvPr/>
        </p:nvSpPr>
        <p:spPr>
          <a:xfrm>
            <a:off x="8732520" y="3120614"/>
            <a:ext cx="1335024"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Rovaniemi</a:t>
            </a:r>
          </a:p>
        </p:txBody>
      </p:sp>
      <p:sp>
        <p:nvSpPr>
          <p:cNvPr id="12" name="Rectangle 11"/>
          <p:cNvSpPr/>
          <p:nvPr/>
        </p:nvSpPr>
        <p:spPr>
          <a:xfrm>
            <a:off x="7003206" y="3591407"/>
            <a:ext cx="950976" cy="365760"/>
          </a:xfrm>
          <a:prstGeom prst="rect">
            <a:avLst/>
          </a:prstGeom>
          <a:solidFill>
            <a:srgbClr val="F3F6FA"/>
          </a:solidFill>
          <a:ln>
            <a:noFill/>
          </a:ln>
          <a:effectLst/>
        </p:spPr>
        <p:txBody>
          <a:bodyPr rtlCol="0" anchor="ctr"/>
          <a:lstStyle/>
          <a:p>
            <a:pPr algn="ctr"/>
          </a:p>
        </p:txBody>
      </p:sp>
      <p:sp>
        <p:nvSpPr>
          <p:cNvPr id="13" name="TextBox 12"/>
          <p:cNvSpPr txBox="1"/>
          <p:nvPr/>
        </p:nvSpPr>
        <p:spPr>
          <a:xfrm>
            <a:off x="7003206" y="3591407"/>
            <a:ext cx="950976"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Tornio</a:t>
            </a:r>
          </a:p>
        </p:txBody>
      </p:sp>
      <p:sp>
        <p:nvSpPr>
          <p:cNvPr id="14" name="TextBox 1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Rivers flood together, not one at a time</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2</a:t>
            </a:r>
          </a:p>
        </p:txBody>
      </p:sp>
      <p:sp>
        <p:nvSpPr>
          <p:cNvPr id="4" name="TextBox 3"/>
          <p:cNvSpPr txBox="1"/>
          <p:nvPr/>
        </p:nvSpPr>
        <p:spPr>
          <a:xfrm>
            <a:off x="548640" y="1280160"/>
            <a:ext cx="8229600"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Springs when ≥4 of 14 rivers flood</a:t>
            </a:r>
          </a:p>
        </p:txBody>
      </p:sp>
      <p:sp>
        <p:nvSpPr>
          <p:cNvPr id="5" name="Rectangle 4"/>
          <p:cNvSpPr/>
          <p:nvPr/>
        </p:nvSpPr>
        <p:spPr>
          <a:xfrm>
            <a:off x="1097280" y="2743200"/>
            <a:ext cx="2377440" cy="2331720"/>
          </a:xfrm>
          <a:prstGeom prst="rect">
            <a:avLst/>
          </a:prstGeom>
          <a:solidFill>
            <a:srgbClr val="0B1F3A"/>
          </a:solidFill>
          <a:ln>
            <a:noFill/>
          </a:ln>
          <a:effectLst/>
        </p:spPr>
        <p:txBody>
          <a:bodyPr rtlCol="0" anchor="ctr"/>
          <a:lstStyle/>
          <a:p>
            <a:pPr algn="ctr"/>
          </a:p>
        </p:txBody>
      </p:sp>
      <p:sp>
        <p:nvSpPr>
          <p:cNvPr id="6" name="TextBox 5"/>
          <p:cNvSpPr txBox="1"/>
          <p:nvPr/>
        </p:nvSpPr>
        <p:spPr>
          <a:xfrm>
            <a:off x="822959" y="1965960"/>
            <a:ext cx="2926080" cy="731520"/>
          </a:xfrm>
          <a:prstGeom prst="rect">
            <a:avLst/>
          </a:prstGeom>
          <a:noFill/>
        </p:spPr>
        <p:txBody>
          <a:bodyPr wrap="square" lIns="0" rIns="0" tIns="0" bIns="0" anchor="b">
            <a:spAutoFit/>
          </a:bodyPr>
          <a:lstStyle/>
          <a:p>
            <a:pPr algn="ctr">
              <a:lnSpc>
                <a:spcPct val="100000"/>
              </a:lnSpc>
              <a:spcAft>
                <a:spcPts val="0"/>
              </a:spcAft>
            </a:pPr>
            <a:r>
              <a:rPr sz="4400" b="1">
                <a:solidFill>
                  <a:srgbClr val="0B1F3A"/>
                </a:solidFill>
                <a:latin typeface="Arial"/>
              </a:rPr>
              <a:t>15.4 %</a:t>
            </a:r>
          </a:p>
        </p:txBody>
      </p:sp>
      <p:sp>
        <p:nvSpPr>
          <p:cNvPr id="7" name="TextBox 6"/>
          <p:cNvSpPr txBox="1"/>
          <p:nvPr/>
        </p:nvSpPr>
        <p:spPr>
          <a:xfrm>
            <a:off x="822959" y="5166359"/>
            <a:ext cx="2926080"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Observed</a:t>
            </a:r>
          </a:p>
        </p:txBody>
      </p:sp>
      <p:sp>
        <p:nvSpPr>
          <p:cNvPr id="8" name="Rectangle 7"/>
          <p:cNvSpPr/>
          <p:nvPr/>
        </p:nvSpPr>
        <p:spPr>
          <a:xfrm>
            <a:off x="4206240" y="4484419"/>
            <a:ext cx="2377440" cy="590500"/>
          </a:xfrm>
          <a:prstGeom prst="rect">
            <a:avLst/>
          </a:prstGeom>
          <a:solidFill>
            <a:srgbClr val="6B7280"/>
          </a:solidFill>
          <a:ln>
            <a:noFill/>
          </a:ln>
          <a:effectLst/>
        </p:spPr>
        <p:txBody>
          <a:bodyPr rtlCol="0" anchor="ctr"/>
          <a:lstStyle/>
          <a:p>
            <a:pPr algn="ctr"/>
          </a:p>
        </p:txBody>
      </p:sp>
      <p:sp>
        <p:nvSpPr>
          <p:cNvPr id="9" name="TextBox 8"/>
          <p:cNvSpPr txBox="1"/>
          <p:nvPr/>
        </p:nvSpPr>
        <p:spPr>
          <a:xfrm>
            <a:off x="3931920" y="3707179"/>
            <a:ext cx="2926080" cy="731520"/>
          </a:xfrm>
          <a:prstGeom prst="rect">
            <a:avLst/>
          </a:prstGeom>
          <a:noFill/>
        </p:spPr>
        <p:txBody>
          <a:bodyPr wrap="square" lIns="0" rIns="0" tIns="0" bIns="0" anchor="b">
            <a:spAutoFit/>
          </a:bodyPr>
          <a:lstStyle/>
          <a:p>
            <a:pPr algn="ctr">
              <a:lnSpc>
                <a:spcPct val="100000"/>
              </a:lnSpc>
              <a:spcAft>
                <a:spcPts val="0"/>
              </a:spcAft>
            </a:pPr>
            <a:r>
              <a:rPr sz="4400" b="1">
                <a:solidFill>
                  <a:srgbClr val="6B7280"/>
                </a:solidFill>
                <a:latin typeface="Arial"/>
              </a:rPr>
              <a:t>3.9 %</a:t>
            </a:r>
          </a:p>
        </p:txBody>
      </p:sp>
      <p:sp>
        <p:nvSpPr>
          <p:cNvPr id="10" name="TextBox 9"/>
          <p:cNvSpPr txBox="1"/>
          <p:nvPr/>
        </p:nvSpPr>
        <p:spPr>
          <a:xfrm>
            <a:off x="3931920" y="5166359"/>
            <a:ext cx="2926080"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By chance</a:t>
            </a:r>
          </a:p>
        </p:txBody>
      </p:sp>
      <p:sp>
        <p:nvSpPr>
          <p:cNvPr id="11" name="Rectangle 10"/>
          <p:cNvSpPr/>
          <p:nvPr/>
        </p:nvSpPr>
        <p:spPr>
          <a:xfrm>
            <a:off x="822960" y="5074920"/>
            <a:ext cx="6035040" cy="18288"/>
          </a:xfrm>
          <a:prstGeom prst="rect">
            <a:avLst/>
          </a:prstGeom>
          <a:solidFill>
            <a:srgbClr val="DDE3EA"/>
          </a:solidFill>
          <a:ln>
            <a:noFill/>
          </a:ln>
          <a:effectLst/>
        </p:spPr>
        <p:txBody>
          <a:bodyPr rtlCol="0" anchor="ctr"/>
          <a:lstStyle/>
          <a:p>
            <a:pPr algn="ctr"/>
          </a:p>
        </p:txBody>
      </p:sp>
      <p:sp>
        <p:nvSpPr>
          <p:cNvPr id="12" name="TextBox 11"/>
          <p:cNvSpPr txBox="1"/>
          <p:nvPr/>
        </p:nvSpPr>
        <p:spPr>
          <a:xfrm>
            <a:off x="7315200" y="2103120"/>
            <a:ext cx="4297680" cy="1645920"/>
          </a:xfrm>
          <a:prstGeom prst="rect">
            <a:avLst/>
          </a:prstGeom>
          <a:noFill/>
        </p:spPr>
        <p:txBody>
          <a:bodyPr wrap="square" lIns="0" rIns="0" tIns="0" bIns="0" anchor="ctr">
            <a:spAutoFit/>
          </a:bodyPr>
          <a:lstStyle/>
          <a:p>
            <a:pPr algn="ctr">
              <a:lnSpc>
                <a:spcPct val="100000"/>
              </a:lnSpc>
              <a:spcAft>
                <a:spcPts val="0"/>
              </a:spcAft>
            </a:pPr>
            <a:r>
              <a:rPr sz="12000" b="1">
                <a:solidFill>
                  <a:srgbClr val="D13B2F"/>
                </a:solidFill>
                <a:latin typeface="Arial"/>
              </a:rPr>
              <a:t>≈4×</a:t>
            </a:r>
          </a:p>
        </p:txBody>
      </p:sp>
      <p:sp>
        <p:nvSpPr>
          <p:cNvPr id="13" name="TextBox 12"/>
          <p:cNvSpPr txBox="1"/>
          <p:nvPr/>
        </p:nvSpPr>
        <p:spPr>
          <a:xfrm>
            <a:off x="7315200" y="3794760"/>
            <a:ext cx="4297680" cy="548640"/>
          </a:xfrm>
          <a:prstGeom prst="rect">
            <a:avLst/>
          </a:prstGeom>
          <a:noFill/>
        </p:spPr>
        <p:txBody>
          <a:bodyPr wrap="square" lIns="0" rIns="0" tIns="0" bIns="0" anchor="t">
            <a:spAutoFit/>
          </a:bodyPr>
          <a:lstStyle/>
          <a:p>
            <a:pPr algn="ctr">
              <a:lnSpc>
                <a:spcPct val="100000"/>
              </a:lnSpc>
              <a:spcAft>
                <a:spcPts val="0"/>
              </a:spcAft>
            </a:pPr>
            <a:r>
              <a:rPr sz="2800" b="0">
                <a:solidFill>
                  <a:srgbClr val="6B7280"/>
                </a:solidFill>
                <a:latin typeface="Arial"/>
              </a:rPr>
              <a:t>as often as chance</a:t>
            </a:r>
          </a:p>
        </p:txBody>
      </p:sp>
      <p:sp>
        <p:nvSpPr>
          <p:cNvPr id="14" name="Rectangle 13"/>
          <p:cNvSpPr/>
          <p:nvPr/>
        </p:nvSpPr>
        <p:spPr>
          <a:xfrm>
            <a:off x="548640" y="5760720"/>
            <a:ext cx="91440" cy="548640"/>
          </a:xfrm>
          <a:prstGeom prst="rect">
            <a:avLst/>
          </a:prstGeom>
          <a:solidFill>
            <a:srgbClr val="1F6FEB"/>
          </a:solidFill>
          <a:ln>
            <a:noFill/>
          </a:ln>
          <a:effectLst/>
        </p:spPr>
        <p:txBody>
          <a:bodyPr rtlCol="0" anchor="ctr"/>
          <a:lstStyle/>
          <a:p>
            <a:pPr algn="ctr"/>
          </a:p>
        </p:txBody>
      </p:sp>
      <p:sp>
        <p:nvSpPr>
          <p:cNvPr id="15" name="TextBox 14"/>
          <p:cNvSpPr txBox="1"/>
          <p:nvPr/>
        </p:nvSpPr>
        <p:spPr>
          <a:xfrm>
            <a:off x="822959" y="5760720"/>
            <a:ext cx="9144000" cy="548640"/>
          </a:xfrm>
          <a:prstGeom prst="rect">
            <a:avLst/>
          </a:prstGeom>
          <a:noFill/>
        </p:spPr>
        <p:txBody>
          <a:bodyPr wrap="square" lIns="0" rIns="0" tIns="0" bIns="0" anchor="ctr">
            <a:spAutoFit/>
          </a:bodyPr>
          <a:lstStyle/>
          <a:p>
            <a:pPr algn="l">
              <a:lnSpc>
                <a:spcPct val="100000"/>
              </a:lnSpc>
              <a:spcAft>
                <a:spcPts val="0"/>
              </a:spcAft>
            </a:pPr>
            <a:r>
              <a:rPr sz="3000" b="1">
                <a:solidFill>
                  <a:srgbClr val="0B1F3A"/>
                </a:solidFill>
                <a:latin typeface="Arial"/>
              </a:rPr>
              <a:t>Cover is bought in autumn, before the snow.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Tulva Index: pays if ≥2 northern rivers flood</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3</a:t>
            </a:r>
          </a:p>
        </p:txBody>
      </p:sp>
      <p:sp>
        <p:nvSpPr>
          <p:cNvPr id="4" name="TextBox 3"/>
          <p:cNvSpPr txBox="1"/>
          <p:nvPr/>
        </p:nvSpPr>
        <p:spPr>
          <a:xfrm>
            <a:off x="548640" y="1508760"/>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Standard assumption (regulator's average link)</a:t>
            </a:r>
          </a:p>
        </p:txBody>
      </p:sp>
      <p:sp>
        <p:nvSpPr>
          <p:cNvPr id="5" name="Rectangle 4"/>
          <p:cNvSpPr/>
          <p:nvPr/>
        </p:nvSpPr>
        <p:spPr>
          <a:xfrm>
            <a:off x="548640" y="2011680"/>
            <a:ext cx="856392" cy="548640"/>
          </a:xfrm>
          <a:prstGeom prst="rect">
            <a:avLst/>
          </a:prstGeom>
          <a:solidFill>
            <a:srgbClr val="6B7280"/>
          </a:solidFill>
          <a:ln>
            <a:noFill/>
          </a:ln>
          <a:effectLst/>
        </p:spPr>
        <p:txBody>
          <a:bodyPr rtlCol="0" anchor="ctr"/>
          <a:lstStyle/>
          <a:p>
            <a:pPr algn="ctr"/>
          </a:p>
        </p:txBody>
      </p:sp>
      <p:sp>
        <p:nvSpPr>
          <p:cNvPr id="6" name="TextBox 5"/>
          <p:cNvSpPr txBox="1"/>
          <p:nvPr/>
        </p:nvSpPr>
        <p:spPr>
          <a:xfrm>
            <a:off x="1587912" y="1965960"/>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6B7280"/>
                </a:solidFill>
                <a:latin typeface="Arial"/>
              </a:rPr>
              <a:t>1.11 %</a:t>
            </a:r>
          </a:p>
        </p:txBody>
      </p:sp>
      <p:sp>
        <p:nvSpPr>
          <p:cNvPr id="7" name="TextBox 6"/>
          <p:cNvSpPr txBox="1"/>
          <p:nvPr/>
        </p:nvSpPr>
        <p:spPr>
          <a:xfrm>
            <a:off x="548640" y="2788920"/>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Tulva</a:t>
            </a:r>
          </a:p>
        </p:txBody>
      </p:sp>
      <p:sp>
        <p:nvSpPr>
          <p:cNvPr id="8" name="Rectangle 7"/>
          <p:cNvSpPr/>
          <p:nvPr/>
        </p:nvSpPr>
        <p:spPr>
          <a:xfrm>
            <a:off x="548640" y="3291839"/>
            <a:ext cx="1512189" cy="548640"/>
          </a:xfrm>
          <a:prstGeom prst="rect">
            <a:avLst/>
          </a:prstGeom>
          <a:solidFill>
            <a:srgbClr val="1F6FEB"/>
          </a:solidFill>
          <a:ln>
            <a:noFill/>
          </a:ln>
          <a:effectLst/>
        </p:spPr>
        <p:txBody>
          <a:bodyPr rtlCol="0" anchor="ctr"/>
          <a:lstStyle/>
          <a:p>
            <a:pPr algn="ctr"/>
          </a:p>
        </p:txBody>
      </p:sp>
      <p:sp>
        <p:nvSpPr>
          <p:cNvPr id="9" name="TextBox 8"/>
          <p:cNvSpPr txBox="1"/>
          <p:nvPr/>
        </p:nvSpPr>
        <p:spPr>
          <a:xfrm>
            <a:off x="2243709" y="3246120"/>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1F6FEB"/>
                </a:solidFill>
                <a:latin typeface="Arial"/>
              </a:rPr>
              <a:t>1.96 %</a:t>
            </a:r>
          </a:p>
        </p:txBody>
      </p:sp>
      <p:sp>
        <p:nvSpPr>
          <p:cNvPr id="10" name="TextBox 9"/>
          <p:cNvSpPr txBox="1"/>
          <p:nvPr/>
        </p:nvSpPr>
        <p:spPr>
          <a:xfrm>
            <a:off x="548640" y="4069079"/>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Tulva, after a snowy March</a:t>
            </a:r>
          </a:p>
        </p:txBody>
      </p:sp>
      <p:sp>
        <p:nvSpPr>
          <p:cNvPr id="11" name="Rectangle 10"/>
          <p:cNvSpPr/>
          <p:nvPr/>
        </p:nvSpPr>
        <p:spPr>
          <a:xfrm>
            <a:off x="548640" y="4571999"/>
            <a:ext cx="4937760" cy="548640"/>
          </a:xfrm>
          <a:prstGeom prst="rect">
            <a:avLst/>
          </a:prstGeom>
          <a:solidFill>
            <a:srgbClr val="0B1F3A"/>
          </a:solidFill>
          <a:ln>
            <a:noFill/>
          </a:ln>
          <a:effectLst/>
        </p:spPr>
        <p:txBody>
          <a:bodyPr rtlCol="0" anchor="ctr"/>
          <a:lstStyle/>
          <a:p>
            <a:pPr algn="ctr"/>
          </a:p>
        </p:txBody>
      </p:sp>
      <p:sp>
        <p:nvSpPr>
          <p:cNvPr id="12" name="TextBox 11"/>
          <p:cNvSpPr txBox="1"/>
          <p:nvPr/>
        </p:nvSpPr>
        <p:spPr>
          <a:xfrm>
            <a:off x="5669280" y="4526279"/>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0B1F3A"/>
                </a:solidFill>
                <a:latin typeface="Arial"/>
              </a:rPr>
              <a:t>6.4 %</a:t>
            </a:r>
          </a:p>
        </p:txBody>
      </p:sp>
      <p:sp>
        <p:nvSpPr>
          <p:cNvPr id="13" name="TextBox 12"/>
          <p:cNvSpPr txBox="1"/>
          <p:nvPr/>
        </p:nvSpPr>
        <p:spPr>
          <a:xfrm>
            <a:off x="548640" y="5394960"/>
            <a:ext cx="7315200" cy="457200"/>
          </a:xfrm>
          <a:prstGeom prst="rect">
            <a:avLst/>
          </a:prstGeom>
          <a:noFill/>
        </p:spPr>
        <p:txBody>
          <a:bodyPr wrap="square" lIns="0" rIns="0" tIns="0" bIns="0" anchor="t">
            <a:spAutoFit/>
          </a:bodyPr>
          <a:lstStyle/>
          <a:p>
            <a:pPr algn="l">
              <a:lnSpc>
                <a:spcPct val="100000"/>
              </a:lnSpc>
              <a:spcAft>
                <a:spcPts val="0"/>
              </a:spcAft>
            </a:pPr>
            <a:r>
              <a:rPr sz="2400" b="0">
                <a:solidFill>
                  <a:srgbClr val="6B7280"/>
                </a:solidFill>
                <a:latin typeface="Arial"/>
              </a:rPr>
              <a:t>Expected loss, % of limit per year</a:t>
            </a:r>
          </a:p>
        </p:txBody>
      </p:sp>
      <p:sp>
        <p:nvSpPr>
          <p:cNvPr id="14" name="Rectangle 13"/>
          <p:cNvSpPr/>
          <p:nvPr/>
        </p:nvSpPr>
        <p:spPr>
          <a:xfrm>
            <a:off x="8229600" y="1508760"/>
            <a:ext cx="3410712" cy="4023360"/>
          </a:xfrm>
          <a:prstGeom prst="rect">
            <a:avLst/>
          </a:prstGeom>
          <a:solidFill>
            <a:srgbClr val="F3F6FA"/>
          </a:solidFill>
          <a:ln>
            <a:noFill/>
          </a:ln>
          <a:effectLst/>
        </p:spPr>
        <p:txBody>
          <a:bodyPr rtlCol="0" anchor="ctr"/>
          <a:lstStyle/>
          <a:p>
            <a:pPr algn="ctr"/>
          </a:p>
        </p:txBody>
      </p:sp>
      <p:sp>
        <p:nvSpPr>
          <p:cNvPr id="15" name="TextBox 14"/>
          <p:cNvSpPr txBox="1"/>
          <p:nvPr/>
        </p:nvSpPr>
        <p:spPr>
          <a:xfrm>
            <a:off x="8229600" y="1783080"/>
            <a:ext cx="3410712" cy="1828800"/>
          </a:xfrm>
          <a:prstGeom prst="rect">
            <a:avLst/>
          </a:prstGeom>
          <a:noFill/>
        </p:spPr>
        <p:txBody>
          <a:bodyPr wrap="square" lIns="0" rIns="0" tIns="0" bIns="0" anchor="ctr">
            <a:spAutoFit/>
          </a:bodyPr>
          <a:lstStyle/>
          <a:p>
            <a:pPr algn="ctr">
              <a:lnSpc>
                <a:spcPct val="100000"/>
              </a:lnSpc>
              <a:spcAft>
                <a:spcPts val="0"/>
              </a:spcAft>
            </a:pPr>
            <a:r>
              <a:rPr sz="13000" b="1">
                <a:solidFill>
                  <a:srgbClr val="D13B2F"/>
                </a:solidFill>
                <a:latin typeface="Arial"/>
              </a:rPr>
              <a:t>×3</a:t>
            </a:r>
          </a:p>
        </p:txBody>
      </p:sp>
      <p:sp>
        <p:nvSpPr>
          <p:cNvPr id="16" name="TextBox 15"/>
          <p:cNvSpPr txBox="1"/>
          <p:nvPr/>
        </p:nvSpPr>
        <p:spPr>
          <a:xfrm>
            <a:off x="8412480" y="3749039"/>
            <a:ext cx="3044952" cy="1371600"/>
          </a:xfrm>
          <a:prstGeom prst="rect">
            <a:avLst/>
          </a:prstGeom>
          <a:noFill/>
        </p:spPr>
        <p:txBody>
          <a:bodyPr wrap="square" lIns="0" rIns="0" tIns="0" bIns="0" anchor="t">
            <a:spAutoFit/>
          </a:bodyPr>
          <a:lstStyle/>
          <a:p>
            <a:pPr algn="ctr">
              <a:lnSpc>
                <a:spcPct val="100000"/>
              </a:lnSpc>
              <a:spcAft>
                <a:spcPts val="0"/>
              </a:spcAft>
            </a:pPr>
            <a:r>
              <a:rPr sz="2800" b="1">
                <a:solidFill>
                  <a:srgbClr val="0B1F3A"/>
                </a:solidFill>
                <a:latin typeface="Arial"/>
              </a:rPr>
              <a:t>expected loss after a snowy March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pic>
        <p:nvPicPr>
          <p:cNvPr id="3" name="tulva_demo.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340967" y="502920"/>
            <a:ext cx="9509759" cy="5349240"/>
          </a:xfrm>
          <a:prstGeom prst="rect">
            <a:avLst/>
          </a:prstGeom>
        </p:spPr>
      </p:pic>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4</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Our circuit: quantum amplitude estimation</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5</a:t>
            </a:r>
          </a:p>
        </p:txBody>
      </p:sp>
      <p:pic>
        <p:nvPicPr>
          <p:cNvPr id="4" name="Picture 3" descr="stage_qae_circuit.png"/>
          <p:cNvPicPr>
            <a:picLocks noChangeAspect="1"/>
          </p:cNvPicPr>
          <p:nvPr/>
        </p:nvPicPr>
        <p:blipFill>
          <a:blip r:embed="rId2"/>
          <a:stretch>
            <a:fillRect/>
          </a:stretch>
        </p:blipFill>
        <p:spPr>
          <a:xfrm>
            <a:off x="2239451" y="1234440"/>
            <a:ext cx="7712792" cy="3291840"/>
          </a:xfrm>
          <a:prstGeom prst="rect">
            <a:avLst/>
          </a:prstGeom>
        </p:spPr>
      </p:pic>
      <p:sp>
        <p:nvSpPr>
          <p:cNvPr id="5" name="TextBox 4"/>
          <p:cNvSpPr txBox="1"/>
          <p:nvPr/>
        </p:nvSpPr>
        <p:spPr>
          <a:xfrm>
            <a:off x="548640" y="4617720"/>
            <a:ext cx="11094415" cy="1600200"/>
          </a:xfrm>
          <a:prstGeom prst="rect">
            <a:avLst/>
          </a:prstGeom>
          <a:noFill/>
        </p:spPr>
        <p:txBody>
          <a:bodyPr wrap="square" lIns="0" rIns="0" tIns="0" bIns="0" anchor="t">
            <a:spAutoFit/>
          </a:bodyPr>
          <a:lstStyle/>
          <a:p>
            <a:pPr algn="l">
              <a:lnSpc>
                <a:spcPct val="100000"/>
              </a:lnSpc>
              <a:spcAft>
                <a:spcPts val="600"/>
              </a:spcAft>
            </a:pPr>
            <a:r>
              <a:rPr sz="2800" b="0">
                <a:solidFill>
                  <a:srgbClr val="0B1F3A"/>
                </a:solidFill>
                <a:latin typeface="Arial"/>
              </a:rPr>
              <a:t>Qubits = wet spring + rivers. Gates = our flood model.</a:t>
            </a:r>
          </a:p>
          <a:p>
            <a:pPr algn="l">
              <a:lnSpc>
                <a:spcPct val="100000"/>
              </a:lnSpc>
              <a:spcAft>
                <a:spcPts val="600"/>
              </a:spcAft>
            </a:pPr>
            <a:r>
              <a:rPr sz="2800" b="1">
                <a:solidFill>
                  <a:srgbClr val="D13B2F"/>
                </a:solidFill>
                <a:latin typeface="Arial"/>
              </a:rPr>
              <a:t>Why quantum?  </a:t>
            </a:r>
            <a:r>
              <a:rPr sz="2800" b="0">
                <a:solidFill>
                  <a:srgbClr val="0B1F3A"/>
                </a:solidFill>
                <a:latin typeface="Arial"/>
              </a:rPr>
              <a:t>2× accuracy: sampling needs 4× the runs, QAE 2×.</a:t>
            </a:r>
          </a:p>
          <a:p>
            <a:pPr algn="l">
              <a:lnSpc>
                <a:spcPct val="100000"/>
              </a:lnSpc>
              <a:spcAft>
                <a:spcPts val="600"/>
              </a:spcAft>
            </a:pPr>
            <a:r>
              <a:rPr sz="2800" b="0">
                <a:solidFill>
                  <a:srgbClr val="0B1F3A"/>
                </a:solidFill>
                <a:latin typeface="Arial"/>
              </a:rPr>
              <a:t>Perfect simulator: exact 0.125 %, ≈2.5× tighter than Monte Carlo</a:t>
            </a:r>
          </a:p>
        </p:txBody>
      </p:sp>
      <p:sp>
        <p:nvSpPr>
          <p:cNvPr id="6" name="TextBox 5"/>
          <p:cNvSpPr txBox="1"/>
          <p:nvPr/>
        </p:nvSpPr>
        <p:spPr>
          <a:xfrm>
            <a:off x="548640" y="6455664"/>
            <a:ext cx="9082735" cy="274320"/>
          </a:xfrm>
          <a:prstGeom prst="rect">
            <a:avLst/>
          </a:prstGeom>
          <a:noFill/>
        </p:spPr>
        <p:txBody>
          <a:bodyPr wrap="square" lIns="0" rIns="0" tIns="0" bIns="0" anchor="t">
            <a:spAutoFit/>
          </a:bodyPr>
          <a:lstStyle/>
          <a:p>
            <a:pPr algn="l">
              <a:lnSpc>
                <a:spcPct val="100000"/>
              </a:lnSpc>
              <a:spcAft>
                <a:spcPts val="0"/>
              </a:spcAft>
            </a:pPr>
            <a:r>
              <a:rPr sz="1200" b="0">
                <a:solidFill>
                  <a:srgbClr val="6B7280"/>
                </a:solidFill>
                <a:latin typeface="Arial"/>
              </a:rPr>
              <a:t>MLAE, Grover steps k = 0, 1, 2 · simulator ±0.011 vs Monte Carlo ±0.027 pp, 16,000 runs each · 2× vs 4× = ideal scaling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On real chips, the snow effect still shows</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6</a:t>
            </a:r>
          </a:p>
        </p:txBody>
      </p:sp>
      <p:sp>
        <p:nvSpPr>
          <p:cNvPr id="4" name="Rectangle 3"/>
          <p:cNvSpPr/>
          <p:nvPr/>
        </p:nvSpPr>
        <p:spPr>
          <a:xfrm>
            <a:off x="548640" y="1481328"/>
            <a:ext cx="292608" cy="292608"/>
          </a:xfrm>
          <a:prstGeom prst="rect">
            <a:avLst/>
          </a:prstGeom>
          <a:solidFill>
            <a:srgbClr val="1F6FEB"/>
          </a:solidFill>
          <a:ln>
            <a:noFill/>
          </a:ln>
          <a:effectLst/>
        </p:spPr>
        <p:txBody>
          <a:bodyPr rtlCol="0" anchor="ctr"/>
          <a:lstStyle/>
          <a:p>
            <a:pPr algn="ctr"/>
          </a:p>
        </p:txBody>
      </p:sp>
      <p:sp>
        <p:nvSpPr>
          <p:cNvPr id="5" name="TextBox 4"/>
          <p:cNvSpPr txBox="1"/>
          <p:nvPr/>
        </p:nvSpPr>
        <p:spPr>
          <a:xfrm>
            <a:off x="960120" y="1371600"/>
            <a:ext cx="1828800" cy="502920"/>
          </a:xfrm>
          <a:prstGeom prst="rect">
            <a:avLst/>
          </a:prstGeom>
          <a:noFill/>
        </p:spPr>
        <p:txBody>
          <a:bodyPr wrap="square" lIns="0" rIns="0" tIns="0" bIns="0" anchor="ctr">
            <a:spAutoFit/>
          </a:bodyPr>
          <a:lstStyle/>
          <a:p>
            <a:pPr algn="l">
              <a:lnSpc>
                <a:spcPct val="100000"/>
              </a:lnSpc>
              <a:spcAft>
                <a:spcPts val="0"/>
              </a:spcAft>
            </a:pPr>
            <a:r>
              <a:rPr sz="2800" b="0">
                <a:solidFill>
                  <a:srgbClr val="0B1F3A"/>
                </a:solidFill>
                <a:latin typeface="Arial"/>
              </a:rPr>
              <a:t>Exact</a:t>
            </a:r>
          </a:p>
        </p:txBody>
      </p:sp>
      <p:sp>
        <p:nvSpPr>
          <p:cNvPr id="6" name="Rectangle 5"/>
          <p:cNvSpPr/>
          <p:nvPr/>
        </p:nvSpPr>
        <p:spPr>
          <a:xfrm>
            <a:off x="2926080" y="1481328"/>
            <a:ext cx="292608" cy="292608"/>
          </a:xfrm>
          <a:prstGeom prst="rect">
            <a:avLst/>
          </a:prstGeom>
          <a:solidFill>
            <a:srgbClr val="8250DF"/>
          </a:solidFill>
          <a:ln>
            <a:noFill/>
          </a:ln>
          <a:effectLst/>
        </p:spPr>
        <p:txBody>
          <a:bodyPr rtlCol="0" anchor="ctr"/>
          <a:lstStyle/>
          <a:p>
            <a:pPr algn="ctr"/>
          </a:p>
        </p:txBody>
      </p:sp>
      <p:sp>
        <p:nvSpPr>
          <p:cNvPr id="7" name="TextBox 6"/>
          <p:cNvSpPr txBox="1"/>
          <p:nvPr/>
        </p:nvSpPr>
        <p:spPr>
          <a:xfrm>
            <a:off x="3337560" y="1371600"/>
            <a:ext cx="1828800" cy="502920"/>
          </a:xfrm>
          <a:prstGeom prst="rect">
            <a:avLst/>
          </a:prstGeom>
          <a:noFill/>
        </p:spPr>
        <p:txBody>
          <a:bodyPr wrap="square" lIns="0" rIns="0" tIns="0" bIns="0" anchor="ctr">
            <a:spAutoFit/>
          </a:bodyPr>
          <a:lstStyle/>
          <a:p>
            <a:pPr algn="l">
              <a:lnSpc>
                <a:spcPct val="100000"/>
              </a:lnSpc>
              <a:spcAft>
                <a:spcPts val="0"/>
              </a:spcAft>
            </a:pPr>
            <a:r>
              <a:rPr sz="2800" b="0">
                <a:solidFill>
                  <a:srgbClr val="0B1F3A"/>
                </a:solidFill>
                <a:latin typeface="Arial"/>
              </a:rPr>
              <a:t>IQM chip</a:t>
            </a:r>
          </a:p>
        </p:txBody>
      </p:sp>
      <p:sp>
        <p:nvSpPr>
          <p:cNvPr id="8" name="Rectangle 7"/>
          <p:cNvSpPr/>
          <p:nvPr/>
        </p:nvSpPr>
        <p:spPr>
          <a:xfrm>
            <a:off x="822960" y="4380594"/>
            <a:ext cx="1143000" cy="877205"/>
          </a:xfrm>
          <a:prstGeom prst="rect">
            <a:avLst/>
          </a:prstGeom>
          <a:solidFill>
            <a:srgbClr val="1F6FEB"/>
          </a:solidFill>
          <a:ln>
            <a:noFill/>
          </a:ln>
          <a:effectLst/>
        </p:spPr>
        <p:txBody>
          <a:bodyPr rtlCol="0" anchor="ctr"/>
          <a:lstStyle/>
          <a:p>
            <a:pPr algn="ctr"/>
          </a:p>
        </p:txBody>
      </p:sp>
      <p:sp>
        <p:nvSpPr>
          <p:cNvPr id="9" name="Rectangle 8"/>
          <p:cNvSpPr/>
          <p:nvPr/>
        </p:nvSpPr>
        <p:spPr>
          <a:xfrm>
            <a:off x="2039112" y="4238559"/>
            <a:ext cx="1143000" cy="1019240"/>
          </a:xfrm>
          <a:prstGeom prst="rect">
            <a:avLst/>
          </a:prstGeom>
          <a:solidFill>
            <a:srgbClr val="8250DF"/>
          </a:solidFill>
          <a:ln>
            <a:noFill/>
          </a:ln>
          <a:effectLst/>
        </p:spPr>
        <p:txBody>
          <a:bodyPr rtlCol="0" anchor="ctr"/>
          <a:lstStyle/>
          <a:p>
            <a:pPr algn="ctr"/>
          </a:p>
        </p:txBody>
      </p:sp>
      <p:sp>
        <p:nvSpPr>
          <p:cNvPr id="10" name="TextBox 9"/>
          <p:cNvSpPr txBox="1"/>
          <p:nvPr/>
        </p:nvSpPr>
        <p:spPr>
          <a:xfrm>
            <a:off x="548640" y="5349240"/>
            <a:ext cx="2907792"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Low-snow March</a:t>
            </a:r>
          </a:p>
        </p:txBody>
      </p:sp>
      <p:sp>
        <p:nvSpPr>
          <p:cNvPr id="11" name="Rectangle 10"/>
          <p:cNvSpPr/>
          <p:nvPr/>
        </p:nvSpPr>
        <p:spPr>
          <a:xfrm>
            <a:off x="3931920" y="2848396"/>
            <a:ext cx="1143000" cy="2409403"/>
          </a:xfrm>
          <a:prstGeom prst="rect">
            <a:avLst/>
          </a:prstGeom>
          <a:solidFill>
            <a:srgbClr val="1F6FEB"/>
          </a:solidFill>
          <a:ln>
            <a:noFill/>
          </a:ln>
          <a:effectLst/>
        </p:spPr>
        <p:txBody>
          <a:bodyPr rtlCol="0" anchor="ctr"/>
          <a:lstStyle/>
          <a:p>
            <a:pPr algn="ctr"/>
          </a:p>
        </p:txBody>
      </p:sp>
      <p:sp>
        <p:nvSpPr>
          <p:cNvPr id="12" name="Rectangle 11"/>
          <p:cNvSpPr/>
          <p:nvPr/>
        </p:nvSpPr>
        <p:spPr>
          <a:xfrm>
            <a:off x="5148072" y="2148840"/>
            <a:ext cx="1143000" cy="3108960"/>
          </a:xfrm>
          <a:prstGeom prst="rect">
            <a:avLst/>
          </a:prstGeom>
          <a:solidFill>
            <a:srgbClr val="8250DF"/>
          </a:solidFill>
          <a:ln>
            <a:noFill/>
          </a:ln>
          <a:effectLst/>
        </p:spPr>
        <p:txBody>
          <a:bodyPr rtlCol="0" anchor="ctr"/>
          <a:lstStyle/>
          <a:p>
            <a:pPr algn="ctr"/>
          </a:p>
        </p:txBody>
      </p:sp>
      <p:sp>
        <p:nvSpPr>
          <p:cNvPr id="13" name="TextBox 12"/>
          <p:cNvSpPr txBox="1"/>
          <p:nvPr/>
        </p:nvSpPr>
        <p:spPr>
          <a:xfrm>
            <a:off x="3657600" y="5349240"/>
            <a:ext cx="2907792"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Snowy March</a:t>
            </a:r>
          </a:p>
        </p:txBody>
      </p:sp>
      <p:sp>
        <p:nvSpPr>
          <p:cNvPr id="14" name="Rectangle 13"/>
          <p:cNvSpPr/>
          <p:nvPr/>
        </p:nvSpPr>
        <p:spPr>
          <a:xfrm>
            <a:off x="640080" y="5257800"/>
            <a:ext cx="6035040" cy="18288"/>
          </a:xfrm>
          <a:prstGeom prst="rect">
            <a:avLst/>
          </a:prstGeom>
          <a:solidFill>
            <a:srgbClr val="DDE3EA"/>
          </a:solidFill>
          <a:ln>
            <a:noFill/>
          </a:ln>
          <a:effectLst/>
        </p:spPr>
        <p:txBody>
          <a:bodyPr rtlCol="0" anchor="ctr"/>
          <a:lstStyle/>
          <a:p>
            <a:pPr algn="ctr"/>
          </a:p>
        </p:txBody>
      </p:sp>
      <p:sp>
        <p:nvSpPr>
          <p:cNvPr id="15" name="TextBox 14"/>
          <p:cNvSpPr txBox="1"/>
          <p:nvPr/>
        </p:nvSpPr>
        <p:spPr>
          <a:xfrm>
            <a:off x="7315200" y="1463040"/>
            <a:ext cx="4389120"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Snowy vs low-snow March</a:t>
            </a:r>
          </a:p>
        </p:txBody>
      </p:sp>
      <p:sp>
        <p:nvSpPr>
          <p:cNvPr id="16" name="TextBox 15"/>
          <p:cNvSpPr txBox="1"/>
          <p:nvPr/>
        </p:nvSpPr>
        <p:spPr>
          <a:xfrm>
            <a:off x="7315200" y="2057400"/>
            <a:ext cx="2834640" cy="1005840"/>
          </a:xfrm>
          <a:prstGeom prst="rect">
            <a:avLst/>
          </a:prstGeom>
          <a:noFill/>
        </p:spPr>
        <p:txBody>
          <a:bodyPr wrap="square" lIns="0" rIns="0" tIns="0" bIns="0" anchor="ctr">
            <a:spAutoFit/>
          </a:bodyPr>
          <a:lstStyle/>
          <a:p>
            <a:pPr algn="l">
              <a:lnSpc>
                <a:spcPct val="100000"/>
              </a:lnSpc>
              <a:spcAft>
                <a:spcPts val="0"/>
              </a:spcAft>
            </a:pPr>
            <a:r>
              <a:rPr sz="7200" b="1">
                <a:solidFill>
                  <a:srgbClr val="8250DF"/>
                </a:solidFill>
                <a:latin typeface="Arial"/>
              </a:rPr>
              <a:t>3.05×</a:t>
            </a:r>
          </a:p>
        </p:txBody>
      </p:sp>
      <p:sp>
        <p:nvSpPr>
          <p:cNvPr id="17" name="TextBox 16"/>
          <p:cNvSpPr txBox="1"/>
          <p:nvPr/>
        </p:nvSpPr>
        <p:spPr>
          <a:xfrm>
            <a:off x="10195560" y="2057400"/>
            <a:ext cx="1554480" cy="1005840"/>
          </a:xfrm>
          <a:prstGeom prst="rect">
            <a:avLst/>
          </a:prstGeom>
          <a:noFill/>
        </p:spPr>
        <p:txBody>
          <a:bodyPr wrap="square" lIns="0" rIns="0" tIns="0" bIns="0" anchor="ctr">
            <a:spAutoFit/>
          </a:bodyPr>
          <a:lstStyle/>
          <a:p>
            <a:pPr algn="l">
              <a:lnSpc>
                <a:spcPct val="100000"/>
              </a:lnSpc>
              <a:spcAft>
                <a:spcPts val="0"/>
              </a:spcAft>
            </a:pPr>
            <a:r>
              <a:rPr sz="2800" b="0">
                <a:solidFill>
                  <a:srgbClr val="0B1F3A"/>
                </a:solidFill>
                <a:latin typeface="Arial"/>
              </a:rPr>
              <a:t>on chip</a:t>
            </a:r>
          </a:p>
        </p:txBody>
      </p:sp>
      <p:sp>
        <p:nvSpPr>
          <p:cNvPr id="18" name="TextBox 17"/>
          <p:cNvSpPr txBox="1"/>
          <p:nvPr/>
        </p:nvSpPr>
        <p:spPr>
          <a:xfrm>
            <a:off x="7315200" y="3246120"/>
            <a:ext cx="2834640" cy="1005840"/>
          </a:xfrm>
          <a:prstGeom prst="rect">
            <a:avLst/>
          </a:prstGeom>
          <a:noFill/>
        </p:spPr>
        <p:txBody>
          <a:bodyPr wrap="square" lIns="0" rIns="0" tIns="0" bIns="0" anchor="ctr">
            <a:spAutoFit/>
          </a:bodyPr>
          <a:lstStyle/>
          <a:p>
            <a:pPr algn="l">
              <a:lnSpc>
                <a:spcPct val="100000"/>
              </a:lnSpc>
              <a:spcAft>
                <a:spcPts val="0"/>
              </a:spcAft>
            </a:pPr>
            <a:r>
              <a:rPr sz="7200" b="1">
                <a:solidFill>
                  <a:srgbClr val="1F6FEB"/>
                </a:solidFill>
                <a:latin typeface="Arial"/>
              </a:rPr>
              <a:t>2.75×</a:t>
            </a:r>
          </a:p>
        </p:txBody>
      </p:sp>
      <p:sp>
        <p:nvSpPr>
          <p:cNvPr id="19" name="TextBox 18"/>
          <p:cNvSpPr txBox="1"/>
          <p:nvPr/>
        </p:nvSpPr>
        <p:spPr>
          <a:xfrm>
            <a:off x="10195560" y="3246120"/>
            <a:ext cx="1554480" cy="1005840"/>
          </a:xfrm>
          <a:prstGeom prst="rect">
            <a:avLst/>
          </a:prstGeom>
          <a:noFill/>
        </p:spPr>
        <p:txBody>
          <a:bodyPr wrap="square" lIns="0" rIns="0" tIns="0" bIns="0" anchor="ctr">
            <a:spAutoFit/>
          </a:bodyPr>
          <a:lstStyle/>
          <a:p>
            <a:pPr algn="l">
              <a:lnSpc>
                <a:spcPct val="100000"/>
              </a:lnSpc>
              <a:spcAft>
                <a:spcPts val="0"/>
              </a:spcAft>
            </a:pPr>
            <a:r>
              <a:rPr sz="2800" b="0">
                <a:solidFill>
                  <a:srgbClr val="0B1F3A"/>
                </a:solidFill>
                <a:latin typeface="Arial"/>
              </a:rPr>
              <a:t>exact</a:t>
            </a:r>
          </a:p>
        </p:txBody>
      </p:sp>
      <p:sp>
        <p:nvSpPr>
          <p:cNvPr id="20" name="Rectangle 19"/>
          <p:cNvSpPr/>
          <p:nvPr/>
        </p:nvSpPr>
        <p:spPr>
          <a:xfrm>
            <a:off x="7315200" y="4617720"/>
            <a:ext cx="4325112" cy="18288"/>
          </a:xfrm>
          <a:prstGeom prst="rect">
            <a:avLst/>
          </a:prstGeom>
          <a:solidFill>
            <a:srgbClr val="DDE3EA"/>
          </a:solidFill>
          <a:ln>
            <a:noFill/>
          </a:ln>
          <a:effectLst/>
        </p:spPr>
        <p:txBody>
          <a:bodyPr rtlCol="0" anchor="ctr"/>
          <a:lstStyle/>
          <a:p>
            <a:pPr algn="ctr"/>
          </a:p>
        </p:txBody>
      </p:sp>
      <p:sp>
        <p:nvSpPr>
          <p:cNvPr id="21" name="TextBox 20"/>
          <p:cNvSpPr txBox="1"/>
          <p:nvPr/>
        </p:nvSpPr>
        <p:spPr>
          <a:xfrm>
            <a:off x="7315200" y="4754880"/>
            <a:ext cx="4389120"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Ran on</a:t>
            </a:r>
          </a:p>
        </p:txBody>
      </p:sp>
      <p:sp>
        <p:nvSpPr>
          <p:cNvPr id="22" name="TextBox 21"/>
          <p:cNvSpPr txBox="1"/>
          <p:nvPr/>
        </p:nvSpPr>
        <p:spPr>
          <a:xfrm>
            <a:off x="7315200" y="5212080"/>
            <a:ext cx="438912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IBM · IQM · VTT Q50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Classical still wins today</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7</a:t>
            </a:r>
          </a:p>
        </p:txBody>
      </p:sp>
      <p:pic>
        <p:nvPicPr>
          <p:cNvPr id="4" name="Picture 3" descr="stage_scaling.png"/>
          <p:cNvPicPr>
            <a:picLocks noChangeAspect="1"/>
          </p:cNvPicPr>
          <p:nvPr/>
        </p:nvPicPr>
        <p:blipFill>
          <a:blip r:embed="rId2"/>
          <a:stretch>
            <a:fillRect/>
          </a:stretch>
        </p:blipFill>
        <p:spPr>
          <a:xfrm>
            <a:off x="548640" y="1417320"/>
            <a:ext cx="7498079" cy="4480559"/>
          </a:xfrm>
          <a:prstGeom prst="rect">
            <a:avLst/>
          </a:prstGeom>
        </p:spPr>
      </p:pic>
      <p:sp>
        <p:nvSpPr>
          <p:cNvPr id="5" name="Rectangle 4"/>
          <p:cNvSpPr/>
          <p:nvPr/>
        </p:nvSpPr>
        <p:spPr>
          <a:xfrm>
            <a:off x="8183879" y="1737360"/>
            <a:ext cx="91440" cy="2194560"/>
          </a:xfrm>
          <a:prstGeom prst="rect">
            <a:avLst/>
          </a:prstGeom>
          <a:solidFill>
            <a:srgbClr val="D13B2F"/>
          </a:solidFill>
          <a:ln>
            <a:noFill/>
          </a:ln>
          <a:effectLst/>
        </p:spPr>
        <p:txBody>
          <a:bodyPr rtlCol="0" anchor="ctr"/>
          <a:lstStyle/>
          <a:p>
            <a:pPr algn="ctr"/>
          </a:p>
        </p:txBody>
      </p:sp>
      <p:sp>
        <p:nvSpPr>
          <p:cNvPr id="6" name="TextBox 5"/>
          <p:cNvSpPr txBox="1"/>
          <p:nvPr/>
        </p:nvSpPr>
        <p:spPr>
          <a:xfrm>
            <a:off x="8458200" y="1737360"/>
            <a:ext cx="3200400" cy="2194560"/>
          </a:xfrm>
          <a:prstGeom prst="rect">
            <a:avLst/>
          </a:prstGeom>
          <a:noFill/>
        </p:spPr>
        <p:txBody>
          <a:bodyPr wrap="square" lIns="0" rIns="0" tIns="0" bIns="0" anchor="ctr">
            <a:spAutoFit/>
          </a:bodyPr>
          <a:lstStyle/>
          <a:p>
            <a:pPr algn="l">
              <a:lnSpc>
                <a:spcPct val="100000"/>
              </a:lnSpc>
              <a:spcAft>
                <a:spcPts val="0"/>
              </a:spcAft>
            </a:pPr>
            <a:r>
              <a:rPr sz="3600" b="1">
                <a:solidFill>
                  <a:srgbClr val="0B1F3A"/>
                </a:solidFill>
                <a:latin typeface="Arial"/>
              </a:rPr>
              <a:t>Rare 1-in-50 floods drown in noise.</a:t>
            </a:r>
          </a:p>
        </p:txBody>
      </p:sp>
      <p:sp>
        <p:nvSpPr>
          <p:cNvPr id="7" name="TextBox 6"/>
          <p:cNvSpPr txBox="1"/>
          <p:nvPr/>
        </p:nvSpPr>
        <p:spPr>
          <a:xfrm>
            <a:off x="8458200" y="4297680"/>
            <a:ext cx="3200400" cy="109728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Prices are computed classically.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Who pays</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8</a:t>
            </a:r>
          </a:p>
        </p:txBody>
      </p:sp>
      <p:sp>
        <p:nvSpPr>
          <p:cNvPr id="4" name="Rounded Rectangle 3"/>
          <p:cNvSpPr/>
          <p:nvPr/>
        </p:nvSpPr>
        <p:spPr>
          <a:xfrm>
            <a:off x="548640" y="1508760"/>
            <a:ext cx="2743200" cy="1188720"/>
          </a:xfrm>
          <a:prstGeom prst="roundRect">
            <a:avLst>
              <a:gd name="adj" fmla="val 12000"/>
            </a:avLst>
          </a:prstGeom>
          <a:solidFill>
            <a:srgbClr val="1F6FEB"/>
          </a:solidFill>
          <a:ln>
            <a:noFill/>
          </a:ln>
          <a:effectLst/>
        </p:spPr>
        <p:txBody>
          <a:bodyPr rtlCol="0" anchor="ctr"/>
          <a:lstStyle/>
          <a:p>
            <a:pPr algn="ctr"/>
          </a:p>
        </p:txBody>
      </p:sp>
      <p:sp>
        <p:nvSpPr>
          <p:cNvPr id="5" name="TextBox 4"/>
          <p:cNvSpPr txBox="1"/>
          <p:nvPr/>
        </p:nvSpPr>
        <p:spPr>
          <a:xfrm>
            <a:off x="548640"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FFFFFF"/>
                </a:solidFill>
                <a:latin typeface="Arial"/>
              </a:rPr>
              <a:t>Tulva</a:t>
            </a:r>
          </a:p>
        </p:txBody>
      </p:sp>
      <p:sp>
        <p:nvSpPr>
          <p:cNvPr id="6" name="Rounded Rectangle 5"/>
          <p:cNvSpPr/>
          <p:nvPr/>
        </p:nvSpPr>
        <p:spPr>
          <a:xfrm>
            <a:off x="4724247" y="1508760"/>
            <a:ext cx="2743200" cy="1188720"/>
          </a:xfrm>
          <a:prstGeom prst="roundRect">
            <a:avLst>
              <a:gd name="adj" fmla="val 12000"/>
            </a:avLst>
          </a:prstGeom>
          <a:solidFill>
            <a:srgbClr val="0B1F3A"/>
          </a:solidFill>
          <a:ln>
            <a:noFill/>
          </a:ln>
          <a:effectLst/>
        </p:spPr>
        <p:txBody>
          <a:bodyPr rtlCol="0" anchor="ctr"/>
          <a:lstStyle/>
          <a:p>
            <a:pPr algn="ctr"/>
          </a:p>
        </p:txBody>
      </p:sp>
      <p:sp>
        <p:nvSpPr>
          <p:cNvPr id="7" name="TextBox 6"/>
          <p:cNvSpPr txBox="1"/>
          <p:nvPr/>
        </p:nvSpPr>
        <p:spPr>
          <a:xfrm>
            <a:off x="4724247"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FFFFFF"/>
                </a:solidFill>
                <a:latin typeface="Arial"/>
              </a:rPr>
              <a:t>Insurer</a:t>
            </a:r>
          </a:p>
        </p:txBody>
      </p:sp>
      <p:sp>
        <p:nvSpPr>
          <p:cNvPr id="8" name="Rounded Rectangle 7"/>
          <p:cNvSpPr/>
          <p:nvPr/>
        </p:nvSpPr>
        <p:spPr>
          <a:xfrm>
            <a:off x="8899855" y="1508760"/>
            <a:ext cx="2743200" cy="1188720"/>
          </a:xfrm>
          <a:prstGeom prst="roundRect">
            <a:avLst>
              <a:gd name="adj" fmla="val 12000"/>
            </a:avLst>
          </a:prstGeom>
          <a:solidFill>
            <a:srgbClr val="F3F6FA"/>
          </a:solidFill>
          <a:ln>
            <a:noFill/>
          </a:ln>
          <a:effectLst/>
        </p:spPr>
        <p:txBody>
          <a:bodyPr rtlCol="0" anchor="ctr"/>
          <a:lstStyle/>
          <a:p>
            <a:pPr algn="ctr"/>
          </a:p>
        </p:txBody>
      </p:sp>
      <p:sp>
        <p:nvSpPr>
          <p:cNvPr id="9" name="TextBox 8"/>
          <p:cNvSpPr txBox="1"/>
          <p:nvPr/>
        </p:nvSpPr>
        <p:spPr>
          <a:xfrm>
            <a:off x="8899855"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0B1F3A"/>
                </a:solidFill>
                <a:latin typeface="Arial"/>
              </a:rPr>
              <a:t>Reinsurer</a:t>
            </a:r>
          </a:p>
        </p:txBody>
      </p:sp>
      <p:sp>
        <p:nvSpPr>
          <p:cNvPr id="10" name="Left Arrow 9"/>
          <p:cNvSpPr/>
          <p:nvPr/>
        </p:nvSpPr>
        <p:spPr>
          <a:xfrm>
            <a:off x="3429000" y="2057400"/>
            <a:ext cx="1158087" cy="457200"/>
          </a:xfrm>
          <a:prstGeom prst="leftArrow">
            <a:avLst/>
          </a:prstGeom>
          <a:solidFill>
            <a:srgbClr val="1F6FEB"/>
          </a:solidFill>
          <a:ln>
            <a:noFill/>
          </a:ln>
          <a:effectLst/>
        </p:spPr>
        <p:txBody>
          <a:bodyPr rtlCol="0" anchor="ctr"/>
          <a:lstStyle/>
          <a:p>
            <a:pPr algn="ctr"/>
          </a:p>
        </p:txBody>
      </p:sp>
      <p:sp>
        <p:nvSpPr>
          <p:cNvPr id="11" name="TextBox 10"/>
          <p:cNvSpPr txBox="1"/>
          <p:nvPr/>
        </p:nvSpPr>
        <p:spPr>
          <a:xfrm>
            <a:off x="3108960" y="1536191"/>
            <a:ext cx="1798167" cy="457200"/>
          </a:xfrm>
          <a:prstGeom prst="rect">
            <a:avLst/>
          </a:prstGeom>
          <a:noFill/>
        </p:spPr>
        <p:txBody>
          <a:bodyPr wrap="square" lIns="0" rIns="0" tIns="0" bIns="0" anchor="t">
            <a:spAutoFit/>
          </a:bodyPr>
          <a:lstStyle/>
          <a:p>
            <a:pPr algn="ctr">
              <a:lnSpc>
                <a:spcPct val="100000"/>
              </a:lnSpc>
              <a:spcAft>
                <a:spcPts val="0"/>
              </a:spcAft>
            </a:pPr>
            <a:r>
              <a:rPr sz="2400" b="1">
                <a:solidFill>
                  <a:srgbClr val="1F6FEB"/>
                </a:solidFill>
                <a:latin typeface="Arial"/>
              </a:rPr>
              <a:t>licence</a:t>
            </a:r>
          </a:p>
        </p:txBody>
      </p:sp>
      <p:sp>
        <p:nvSpPr>
          <p:cNvPr id="12" name="Right Arrow 11"/>
          <p:cNvSpPr/>
          <p:nvPr/>
        </p:nvSpPr>
        <p:spPr>
          <a:xfrm>
            <a:off x="7604607" y="2057400"/>
            <a:ext cx="1158087" cy="457200"/>
          </a:xfrm>
          <a:prstGeom prst="rightArrow">
            <a:avLst/>
          </a:prstGeom>
          <a:solidFill>
            <a:srgbClr val="1F6FEB"/>
          </a:solidFill>
          <a:ln>
            <a:noFill/>
          </a:ln>
          <a:effectLst/>
        </p:spPr>
        <p:txBody>
          <a:bodyPr rtlCol="0" anchor="ctr"/>
          <a:lstStyle/>
          <a:p>
            <a:pPr algn="ctr"/>
          </a:p>
        </p:txBody>
      </p:sp>
      <p:sp>
        <p:nvSpPr>
          <p:cNvPr id="13" name="TextBox 12"/>
          <p:cNvSpPr txBox="1"/>
          <p:nvPr/>
        </p:nvSpPr>
        <p:spPr>
          <a:xfrm>
            <a:off x="7284567" y="1536191"/>
            <a:ext cx="1798167" cy="457200"/>
          </a:xfrm>
          <a:prstGeom prst="rect">
            <a:avLst/>
          </a:prstGeom>
          <a:noFill/>
        </p:spPr>
        <p:txBody>
          <a:bodyPr wrap="square" lIns="0" rIns="0" tIns="0" bIns="0" anchor="t">
            <a:spAutoFit/>
          </a:bodyPr>
          <a:lstStyle/>
          <a:p>
            <a:pPr algn="ctr">
              <a:lnSpc>
                <a:spcPct val="100000"/>
              </a:lnSpc>
              <a:spcAft>
                <a:spcPts val="0"/>
              </a:spcAft>
            </a:pPr>
            <a:r>
              <a:rPr sz="2400" b="1">
                <a:solidFill>
                  <a:srgbClr val="1F6FEB"/>
                </a:solidFill>
                <a:latin typeface="Arial"/>
              </a:rPr>
              <a:t>premium</a:t>
            </a:r>
          </a:p>
        </p:txBody>
      </p:sp>
      <p:sp>
        <p:nvSpPr>
          <p:cNvPr id="14" name="TextBox 13"/>
          <p:cNvSpPr txBox="1"/>
          <p:nvPr/>
        </p:nvSpPr>
        <p:spPr>
          <a:xfrm>
            <a:off x="548640" y="2834640"/>
            <a:ext cx="457200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€25k pilot, then €75k / yr</a:t>
            </a:r>
          </a:p>
        </p:txBody>
      </p:sp>
      <p:sp>
        <p:nvSpPr>
          <p:cNvPr id="15" name="TextBox 14"/>
          <p:cNvSpPr txBox="1"/>
          <p:nvPr/>
        </p:nvSpPr>
        <p:spPr>
          <a:xfrm>
            <a:off x="548640" y="3429000"/>
            <a:ext cx="11094415" cy="1005840"/>
          </a:xfrm>
          <a:prstGeom prst="rect">
            <a:avLst/>
          </a:prstGeom>
          <a:noFill/>
        </p:spPr>
        <p:txBody>
          <a:bodyPr wrap="square" lIns="0" rIns="0" tIns="0" bIns="0" anchor="t">
            <a:spAutoFit/>
          </a:bodyPr>
          <a:lstStyle/>
          <a:p>
            <a:pPr algn="l">
              <a:lnSpc>
                <a:spcPct val="100000"/>
              </a:lnSpc>
              <a:spcAft>
                <a:spcPts val="0"/>
              </a:spcAft>
            </a:pPr>
            <a:r>
              <a:rPr sz="6400" b="1">
                <a:solidFill>
                  <a:srgbClr val="0B1F3A"/>
                </a:solidFill>
                <a:latin typeface="Arial"/>
              </a:rPr>
              <a:t>Year 3: €0.2–0.45M / yr</a:t>
            </a:r>
          </a:p>
        </p:txBody>
      </p:sp>
      <p:sp>
        <p:nvSpPr>
          <p:cNvPr id="16" name="TextBox 15"/>
          <p:cNvSpPr txBox="1"/>
          <p:nvPr/>
        </p:nvSpPr>
        <p:spPr>
          <a:xfrm>
            <a:off x="548640" y="4434840"/>
            <a:ext cx="11094415"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3–6 Finnish insurers, then the Nordics</a:t>
            </a:r>
          </a:p>
        </p:txBody>
      </p:sp>
      <p:sp>
        <p:nvSpPr>
          <p:cNvPr id="17" name="Rounded Rectangle 16"/>
          <p:cNvSpPr/>
          <p:nvPr/>
        </p:nvSpPr>
        <p:spPr>
          <a:xfrm>
            <a:off x="548640" y="5440680"/>
            <a:ext cx="11094415" cy="822960"/>
          </a:xfrm>
          <a:prstGeom prst="roundRect">
            <a:avLst>
              <a:gd name="adj" fmla="val 12000"/>
            </a:avLst>
          </a:prstGeom>
          <a:solidFill>
            <a:srgbClr val="0B1F3A"/>
          </a:solidFill>
          <a:ln>
            <a:noFill/>
          </a:ln>
          <a:effectLst/>
        </p:spPr>
        <p:txBody>
          <a:bodyPr rtlCol="0" anchor="ctr"/>
          <a:lstStyle/>
          <a:p>
            <a:pPr algn="ctr"/>
          </a:p>
        </p:txBody>
      </p:sp>
      <p:sp>
        <p:nvSpPr>
          <p:cNvPr id="18" name="TextBox 17"/>
          <p:cNvSpPr txBox="1"/>
          <p:nvPr/>
        </p:nvSpPr>
        <p:spPr>
          <a:xfrm>
            <a:off x="914400" y="5440680"/>
            <a:ext cx="10545775" cy="822960"/>
          </a:xfrm>
          <a:prstGeom prst="rect">
            <a:avLst/>
          </a:prstGeom>
          <a:noFill/>
        </p:spPr>
        <p:txBody>
          <a:bodyPr wrap="square" lIns="0" rIns="0" tIns="0" bIns="0" anchor="ctr">
            <a:spAutoFit/>
          </a:bodyPr>
          <a:lstStyle/>
          <a:p>
            <a:pPr algn="l">
              <a:lnSpc>
                <a:spcPct val="100000"/>
              </a:lnSpc>
              <a:spcAft>
                <a:spcPts val="0"/>
              </a:spcAft>
            </a:pPr>
            <a:r>
              <a:rPr sz="3200" b="1">
                <a:solidFill>
                  <a:srgbClr val="A9C8F5"/>
                </a:solidFill>
                <a:latin typeface="Arial"/>
              </a:rPr>
              <a:t>Ask:  </a:t>
            </a:r>
            <a:r>
              <a:rPr sz="3200" b="1">
                <a:solidFill>
                  <a:srgbClr val="FFFFFF"/>
                </a:solidFill>
                <a:latin typeface="Arial"/>
              </a:rPr>
              <a:t>one insurer's flood claims, 8 weeks.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sp>
        <p:nvSpPr>
          <p:cNvPr id="3" name="TextBox 2"/>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FFFFFF"/>
                </a:solidFill>
                <a:latin typeface="Arial"/>
              </a:rPr>
              <a:t>Built this weekend</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9</a:t>
            </a:r>
          </a:p>
        </p:txBody>
      </p:sp>
      <p:sp>
        <p:nvSpPr>
          <p:cNvPr id="5" name="Rounded Rectangle 4"/>
          <p:cNvSpPr/>
          <p:nvPr/>
        </p:nvSpPr>
        <p:spPr>
          <a:xfrm>
            <a:off x="548640" y="1417320"/>
            <a:ext cx="3083857"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6" name="TextBox 5"/>
          <p:cNvSpPr txBox="1"/>
          <p:nvPr/>
        </p:nvSpPr>
        <p:spPr>
          <a:xfrm>
            <a:off x="548640" y="1417320"/>
            <a:ext cx="3083857"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SYKE data pipeline</a:t>
            </a:r>
          </a:p>
        </p:txBody>
      </p:sp>
      <p:sp>
        <p:nvSpPr>
          <p:cNvPr id="7" name="Rounded Rectangle 6"/>
          <p:cNvSpPr/>
          <p:nvPr/>
        </p:nvSpPr>
        <p:spPr>
          <a:xfrm>
            <a:off x="3815377" y="1417320"/>
            <a:ext cx="276165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8" name="TextBox 7"/>
          <p:cNvSpPr txBox="1"/>
          <p:nvPr/>
        </p:nvSpPr>
        <p:spPr>
          <a:xfrm>
            <a:off x="3815377" y="1417320"/>
            <a:ext cx="276165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Joint flood model</a:t>
            </a:r>
          </a:p>
        </p:txBody>
      </p:sp>
      <p:sp>
        <p:nvSpPr>
          <p:cNvPr id="9" name="Rounded Rectangle 8"/>
          <p:cNvSpPr/>
          <p:nvPr/>
        </p:nvSpPr>
        <p:spPr>
          <a:xfrm>
            <a:off x="6759912" y="1417320"/>
            <a:ext cx="2185491"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0" name="TextBox 9"/>
          <p:cNvSpPr txBox="1"/>
          <p:nvPr/>
        </p:nvSpPr>
        <p:spPr>
          <a:xfrm>
            <a:off x="6759912" y="1417320"/>
            <a:ext cx="2185491"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Index pricing</a:t>
            </a:r>
          </a:p>
        </p:txBody>
      </p:sp>
      <p:sp>
        <p:nvSpPr>
          <p:cNvPr id="11" name="Rounded Rectangle 10"/>
          <p:cNvSpPr/>
          <p:nvPr/>
        </p:nvSpPr>
        <p:spPr>
          <a:xfrm>
            <a:off x="9128283" y="1417320"/>
            <a:ext cx="1609645"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2" name="TextBox 11"/>
          <p:cNvSpPr txBox="1"/>
          <p:nvPr/>
        </p:nvSpPr>
        <p:spPr>
          <a:xfrm>
            <a:off x="9128283" y="1417320"/>
            <a:ext cx="1609645"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Live app</a:t>
            </a:r>
          </a:p>
        </p:txBody>
      </p:sp>
      <p:sp>
        <p:nvSpPr>
          <p:cNvPr id="13" name="Rounded Rectangle 12"/>
          <p:cNvSpPr/>
          <p:nvPr/>
        </p:nvSpPr>
        <p:spPr>
          <a:xfrm>
            <a:off x="548640" y="2148840"/>
            <a:ext cx="3913921"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4" name="TextBox 13"/>
          <p:cNvSpPr txBox="1"/>
          <p:nvPr/>
        </p:nvSpPr>
        <p:spPr>
          <a:xfrm>
            <a:off x="548640" y="2148840"/>
            <a:ext cx="3913921"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Runs on 4 quantum chips</a:t>
            </a:r>
          </a:p>
        </p:txBody>
      </p:sp>
      <p:sp>
        <p:nvSpPr>
          <p:cNvPr id="15" name="TextBox 14"/>
          <p:cNvSpPr txBox="1"/>
          <p:nvPr/>
        </p:nvSpPr>
        <p:spPr>
          <a:xfrm>
            <a:off x="548640" y="3154680"/>
            <a:ext cx="11094415" cy="914400"/>
          </a:xfrm>
          <a:prstGeom prst="rect">
            <a:avLst/>
          </a:prstGeom>
          <a:noFill/>
        </p:spPr>
        <p:txBody>
          <a:bodyPr wrap="square" lIns="0" rIns="0" tIns="0" bIns="0" anchor="t">
            <a:spAutoFit/>
          </a:bodyPr>
          <a:lstStyle/>
          <a:p>
            <a:pPr algn="l">
              <a:lnSpc>
                <a:spcPct val="100000"/>
              </a:lnSpc>
              <a:spcAft>
                <a:spcPts val="0"/>
              </a:spcAft>
            </a:pPr>
            <a:r>
              <a:rPr sz="4400" b="1">
                <a:solidFill>
                  <a:srgbClr val="FFFFFF"/>
                </a:solidFill>
                <a:latin typeface="Arial"/>
              </a:rPr>
              <a:t>Next March, the snow will warn us </a:t>
            </a:r>
            <a:r>
              <a:rPr sz="4400" b="1">
                <a:solidFill>
                  <a:srgbClr val="A9C8F5"/>
                </a:solidFill>
                <a:latin typeface="Arial"/>
              </a:rPr>
              <a:t>again.</a:t>
            </a:r>
          </a:p>
        </p:txBody>
      </p:sp>
      <p:sp>
        <p:nvSpPr>
          <p:cNvPr id="16" name="TextBox 15"/>
          <p:cNvSpPr txBox="1"/>
          <p:nvPr/>
        </p:nvSpPr>
        <p:spPr>
          <a:xfrm>
            <a:off x="548640" y="4023360"/>
            <a:ext cx="11094415" cy="548640"/>
          </a:xfrm>
          <a:prstGeom prst="rect">
            <a:avLst/>
          </a:prstGeom>
          <a:noFill/>
        </p:spPr>
        <p:txBody>
          <a:bodyPr wrap="square" lIns="0" rIns="0" tIns="0" bIns="0" anchor="t">
            <a:spAutoFit/>
          </a:bodyPr>
          <a:lstStyle/>
          <a:p>
            <a:pPr algn="l">
              <a:lnSpc>
                <a:spcPct val="100000"/>
              </a:lnSpc>
              <a:spcAft>
                <a:spcPts val="0"/>
              </a:spcAft>
            </a:pPr>
            <a:r>
              <a:rPr sz="3200" b="0">
                <a:solidFill>
                  <a:srgbClr val="A9C8F5"/>
                </a:solidFill>
                <a:latin typeface="Arial"/>
              </a:rPr>
              <a:t>This time, it will have a price.</a:t>
            </a:r>
          </a:p>
        </p:txBody>
      </p:sp>
      <p:sp>
        <p:nvSpPr>
          <p:cNvPr id="17" name="TextBox 16"/>
          <p:cNvSpPr txBox="1"/>
          <p:nvPr/>
        </p:nvSpPr>
        <p:spPr>
          <a:xfrm>
            <a:off x="548640" y="5349240"/>
            <a:ext cx="10058400" cy="822960"/>
          </a:xfrm>
          <a:prstGeom prst="rect">
            <a:avLst/>
          </a:prstGeom>
          <a:noFill/>
        </p:spPr>
        <p:txBody>
          <a:bodyPr wrap="square" lIns="0" rIns="0" tIns="0" bIns="0" anchor="t">
            <a:spAutoFit/>
          </a:bodyPr>
          <a:lstStyle/>
          <a:p>
            <a:pPr algn="l">
              <a:lnSpc>
                <a:spcPct val="100000"/>
              </a:lnSpc>
              <a:spcAft>
                <a:spcPts val="400"/>
              </a:spcAft>
            </a:pPr>
            <a:r>
              <a:rPr sz="2400" b="1">
                <a:solidFill>
                  <a:srgbClr val="FFFFFF"/>
                </a:solidFill>
                <a:latin typeface="Arial"/>
              </a:rPr>
              <a:t>Toivo Kallio</a:t>
            </a:r>
            <a:r>
              <a:rPr sz="2400" b="0">
                <a:solidFill>
                  <a:srgbClr val="A9C8F5"/>
                </a:solidFill>
                <a:latin typeface="Arial"/>
              </a:rPr>
              <a:t>  ·  </a:t>
            </a:r>
            <a:r>
              <a:rPr sz="2400" b="1">
                <a:solidFill>
                  <a:srgbClr val="FFFFFF"/>
                </a:solidFill>
                <a:latin typeface="Arial"/>
              </a:rPr>
              <a:t>Vaishnav Rane</a:t>
            </a:r>
          </a:p>
          <a:p>
            <a:pPr algn="l">
              <a:lnSpc>
                <a:spcPct val="100000"/>
              </a:lnSpc>
              <a:spcAft>
                <a:spcPts val="400"/>
              </a:spcAft>
            </a:pPr>
            <a:r>
              <a:rPr sz="1800" b="0">
                <a:solidFill>
                  <a:srgbClr val="A9C8F5"/>
                </a:solidFill>
                <a:latin typeface="Arial"/>
              </a:rPr>
              <a:t>Team 21 STUHI  ·  Quantum x Finance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BACKUP · Q&amp;A ONLY</a:t>
            </a:r>
          </a:p>
        </p:txBody>
      </p:sp>
      <p:sp>
        <p:nvSpPr>
          <p:cNvPr id="3" name="TextBox 2"/>
          <p:cNvSpPr txBox="1"/>
          <p:nvPr/>
        </p:nvSpPr>
        <p:spPr>
          <a:xfrm>
            <a:off x="548640" y="658368"/>
            <a:ext cx="11094415" cy="64008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Product and pricing in detail</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10</a:t>
            </a:r>
          </a:p>
        </p:txBody>
      </p:sp>
      <p:sp>
        <p:nvSpPr>
          <p:cNvPr id="5" name="TextBox 4"/>
          <p:cNvSpPr txBox="1"/>
          <p:nvPr/>
        </p:nvSpPr>
        <p:spPr>
          <a:xfrm>
            <a:off x="548640" y="1371600"/>
            <a:ext cx="8229600" cy="274320"/>
          </a:xfrm>
          <a:prstGeom prst="rect">
            <a:avLst/>
          </a:prstGeom>
          <a:noFill/>
        </p:spPr>
        <p:txBody>
          <a:bodyPr wrap="square" lIns="0" rIns="0" tIns="0" bIns="0" anchor="t">
            <a:spAutoFit/>
          </a:bodyPr>
          <a:lstStyle/>
          <a:p>
            <a:pPr algn="l">
              <a:lnSpc>
                <a:spcPct val="100000"/>
              </a:lnSpc>
              <a:spcAft>
                <a:spcPts val="0"/>
              </a:spcAft>
            </a:pPr>
            <a:r>
              <a:rPr sz="1400" b="1">
                <a:solidFill>
                  <a:srgbClr val="1F6FEB"/>
                </a:solidFill>
                <a:latin typeface="Arial"/>
              </a:rPr>
              <a:t>EXPECTED LOSS, % OF THE LIMIT PER YEAR (YEAR-BOOTSTRAP 90 % INTERVALS)</a:t>
            </a:r>
          </a:p>
        </p:txBody>
      </p:sp>
      <p:pic>
        <p:nvPicPr>
          <p:cNvPr id="6" name="Picture 5" descr="pitch_cost.png"/>
          <p:cNvPicPr>
            <a:picLocks noChangeAspect="1"/>
          </p:cNvPicPr>
          <p:nvPr/>
        </p:nvPicPr>
        <p:blipFill>
          <a:blip r:embed="rId2"/>
          <a:stretch>
            <a:fillRect/>
          </a:stretch>
        </p:blipFill>
        <p:spPr>
          <a:xfrm>
            <a:off x="563727" y="1691640"/>
            <a:ext cx="11064240" cy="1828800"/>
          </a:xfrm>
          <a:prstGeom prst="rect">
            <a:avLst/>
          </a:prstGeom>
        </p:spPr>
      </p:pic>
      <p:sp>
        <p:nvSpPr>
          <p:cNvPr id="7" name="TextBox 6"/>
          <p:cNvSpPr txBox="1"/>
          <p:nvPr/>
        </p:nvSpPr>
        <p:spPr>
          <a:xfrm>
            <a:off x="548640" y="3703320"/>
            <a:ext cx="11094415" cy="2743200"/>
          </a:xfrm>
          <a:prstGeom prst="rect">
            <a:avLst/>
          </a:prstGeom>
          <a:noFill/>
        </p:spPr>
        <p:txBody>
          <a:bodyPr wrap="square" lIns="0" rIns="0" tIns="0" bIns="0" anchor="t">
            <a:spAutoFit/>
          </a:bodyPr>
          <a:lstStyle/>
          <a:p>
            <a:pPr algn="l">
              <a:lnSpc>
                <a:spcPct val="105000"/>
              </a:lnSpc>
              <a:spcAft>
                <a:spcPts val="900"/>
              </a:spcAft>
            </a:pPr>
            <a:r>
              <a:rPr sz="1500" b="1">
                <a:solidFill>
                  <a:srgbClr val="1F6FEB"/>
                </a:solidFill>
                <a:latin typeface="Arial"/>
              </a:rPr>
              <a:t>▪  </a:t>
            </a:r>
            <a:r>
              <a:rPr sz="1500" b="0">
                <a:solidFill>
                  <a:srgbClr val="0B1F3A"/>
                </a:solidFill>
                <a:latin typeface="Arial"/>
              </a:rPr>
              <a:t>Index: pays the full limit if ≥2 of 5 northern rivers pass their 1-in-50 level (a staged payout is only a variant). Priced in autumn; in March the insurer can buy top-up cover and staff claims in the regions at risk.</a:t>
            </a:r>
          </a:p>
          <a:p>
            <a:pPr algn="l">
              <a:lnSpc>
                <a:spcPct val="105000"/>
              </a:lnSpc>
              <a:spcAft>
                <a:spcPts val="900"/>
              </a:spcAft>
            </a:pPr>
            <a:r>
              <a:rPr sz="1500" b="1">
                <a:solidFill>
                  <a:srgbClr val="1F6FEB"/>
                </a:solidFill>
                <a:latin typeface="Arial"/>
              </a:rPr>
              <a:t>▪  </a:t>
            </a:r>
            <a:r>
              <a:rPr sz="1500" b="0">
                <a:solidFill>
                  <a:srgbClr val="0B1F3A"/>
                </a:solidFill>
                <a:latin typeface="Arial"/>
              </a:rPr>
              <a:t>Tulva 1.96 % (1.6–2.2 %) vs 1.11 % for the standard assumption (a model with one 0.27 correlation) = 1.77× (≈1.8×). 0.27 = mean of the 2027 Finnish 19-zone flood matrix, Del. Reg. (EU) 2026/269. ≈5× only vs independence (0.38 %).</a:t>
            </a:r>
          </a:p>
          <a:p>
            <a:pPr algn="l">
              <a:lnSpc>
                <a:spcPct val="105000"/>
              </a:lnSpc>
              <a:spcAft>
                <a:spcPts val="900"/>
              </a:spcAft>
            </a:pPr>
            <a:r>
              <a:rPr sz="1500" b="1">
                <a:solidFill>
                  <a:srgbClr val="1F6FEB"/>
                </a:solidFill>
                <a:latin typeface="Arial"/>
              </a:rPr>
              <a:t>▪  </a:t>
            </a:r>
            <a:r>
              <a:rPr sz="1500" b="0">
                <a:solidFill>
                  <a:srgbClr val="0B1F3A"/>
                </a:solidFill>
                <a:latin typeface="Arial"/>
              </a:rPr>
              <a:t>Snowy (top-15 %) March vs autumn (normal): 6.4 % (3.6–9.1 %) vs 1.96 % = 3.3× (90 %: 2.1–4.4×).</a:t>
            </a:r>
          </a:p>
          <a:p>
            <a:pPr algn="l">
              <a:lnSpc>
                <a:spcPct val="105000"/>
              </a:lnSpc>
              <a:spcAft>
                <a:spcPts val="900"/>
              </a:spcAft>
            </a:pPr>
            <a:r>
              <a:rPr sz="1500" b="1">
                <a:solidFill>
                  <a:srgbClr val="1F6FEB"/>
                </a:solidFill>
                <a:latin typeface="Arial"/>
              </a:rPr>
              <a:t>▪  </a:t>
            </a:r>
            <a:r>
              <a:rPr sz="1500" b="0">
                <a:solidFill>
                  <a:srgbClr val="0B1F3A"/>
                </a:solidFill>
                <a:latin typeface="Arial"/>
              </a:rPr>
              <a:t>Market price = expected loss × 2.5–3.5: 4.9–6.9 % rate on line ≈ €49–69k a year per €1M of cover.</a:t>
            </a:r>
          </a:p>
          <a:p>
            <a:pPr algn="l">
              <a:lnSpc>
                <a:spcPct val="105000"/>
              </a:lnSpc>
              <a:spcAft>
                <a:spcPts val="900"/>
              </a:spcAft>
            </a:pPr>
            <a:r>
              <a:rPr sz="1500" b="1">
                <a:solidFill>
                  <a:srgbClr val="1F6FEB"/>
                </a:solidFill>
                <a:latin typeface="Arial"/>
              </a:rPr>
              <a:t>▪  </a:t>
            </a:r>
            <a:r>
              <a:rPr sz="1500" b="0">
                <a:solidFill>
                  <a:srgbClr val="0B1F3A"/>
                </a:solidFill>
                <a:latin typeface="Arial"/>
              </a:rPr>
              <a:t>Slide 1: 'flooded' = flow over each gauge's 1-in-10 level; North's 1 March snow in its top 15 % (in-sample). Slide 2: 10 of 65 springs (15.4 %, 90 %: 9–24 %) had ≥4 of 14 areas over 1-in-10; chance on the same gauge-years 3.9 % (3.9×), 4.4 % if all gauges reported (3.5×). SYKE 1961–2025 (+ SMHI Torne).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BACKUP · Q&amp;A ONLY</a:t>
            </a:r>
          </a:p>
        </p:txBody>
      </p:sp>
      <p:sp>
        <p:nvSpPr>
          <p:cNvPr id="3" name="TextBox 2"/>
          <p:cNvSpPr txBox="1"/>
          <p:nvPr/>
        </p:nvSpPr>
        <p:spPr>
          <a:xfrm>
            <a:off x="548640" y="658368"/>
            <a:ext cx="11094415" cy="64008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Basis risk and business in detail</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11</a:t>
            </a:r>
          </a:p>
        </p:txBody>
      </p:sp>
      <p:sp>
        <p:nvSpPr>
          <p:cNvPr id="5" name="TextBox 4"/>
          <p:cNvSpPr txBox="1"/>
          <p:nvPr/>
        </p:nvSpPr>
        <p:spPr>
          <a:xfrm>
            <a:off x="548640" y="1463040"/>
            <a:ext cx="11094415" cy="4937760"/>
          </a:xfrm>
          <a:prstGeom prst="rect">
            <a:avLst/>
          </a:prstGeom>
          <a:noFill/>
        </p:spPr>
        <p:txBody>
          <a:bodyPr wrap="square" lIns="0" rIns="0" tIns="0" bIns="0" anchor="t">
            <a:spAutoFit/>
          </a:bodyPr>
          <a:lstStyle/>
          <a:p>
            <a:pPr algn="l">
              <a:lnSpc>
                <a:spcPct val="105000"/>
              </a:lnSpc>
              <a:spcAft>
                <a:spcPts val="900"/>
              </a:spcAft>
            </a:pPr>
            <a:r>
              <a:rPr sz="1700" b="1">
                <a:solidFill>
                  <a:srgbClr val="0B1F3A"/>
                </a:solidFill>
                <a:latin typeface="Arial"/>
              </a:rPr>
              <a:t>Basis risk (1-in-10 back-test).  </a:t>
            </a:r>
            <a:r>
              <a:rPr sz="1700" b="0">
                <a:solidFill>
                  <a:srgbClr val="0B1F3A"/>
                </a:solidFill>
                <a:latin typeface="Arial"/>
              </a:rPr>
              <a:t>Paid in loss springs 1966, 2005, 2018; missed Ostrobothnia 2012–13 and 2024 and Lapland 2020; since 2005 also paid in 3 North springs with no recorded loss (2015, 2023, 2024). At the 1-in-50 product level: paid 1966 and 2005 only.</a:t>
            </a:r>
          </a:p>
          <a:p>
            <a:pPr algn="l">
              <a:lnSpc>
                <a:spcPct val="105000"/>
              </a:lnSpc>
              <a:spcAft>
                <a:spcPts val="900"/>
              </a:spcAft>
            </a:pPr>
            <a:r>
              <a:rPr sz="1700" b="1">
                <a:solidFill>
                  <a:srgbClr val="0B1F3A"/>
                </a:solidFill>
                <a:latin typeface="Arial"/>
              </a:rPr>
              <a:t>Why now.  </a:t>
            </a:r>
            <a:r>
              <a:rPr sz="1700" b="0">
                <a:solidFill>
                  <a:srgbClr val="0B1F3A"/>
                </a:solidFill>
                <a:latin typeface="Arial"/>
              </a:rPr>
              <a:t>From 2027 the Solvency II standard formula fixes flood correlations that ignore the snow (19-zone matrix inside Finland, mean ≈ 0.27; 0 % to SE/NO/DK; Del. Reg. (EU) 2026/269). Insurers with an approved internal model, like If, can use a snow-aware joint-flood number.</a:t>
            </a:r>
          </a:p>
          <a:p>
            <a:pPr algn="l">
              <a:lnSpc>
                <a:spcPct val="105000"/>
              </a:lnSpc>
              <a:spcAft>
                <a:spcPts val="900"/>
              </a:spcAft>
            </a:pPr>
            <a:r>
              <a:rPr sz="1700" b="1">
                <a:solidFill>
                  <a:srgbClr val="0B1F3A"/>
                </a:solidFill>
                <a:latin typeface="Arial"/>
              </a:rPr>
              <a:t>Money flows.  </a:t>
            </a:r>
            <a:r>
              <a:rPr sz="1700" b="0">
                <a:solidFill>
                  <a:srgbClr val="0B1F3A"/>
                </a:solidFill>
                <a:latin typeface="Arial"/>
              </a:rPr>
              <a:t>Insurer → reinsurer: premium ≈ €0.5–0.7M a year per €10M North layer (model × 2.5–3.5 market multiple). Insurer → Tulva: licence, €25k pilot, then ~€75k a year (assumption). The reinsurer pays Tulva nothing.</a:t>
            </a:r>
          </a:p>
          <a:p>
            <a:pPr algn="l">
              <a:lnSpc>
                <a:spcPct val="105000"/>
              </a:lnSpc>
              <a:spcAft>
                <a:spcPts val="900"/>
              </a:spcAft>
            </a:pPr>
            <a:r>
              <a:rPr sz="1700" b="1">
                <a:solidFill>
                  <a:srgbClr val="0B1F3A"/>
                </a:solidFill>
                <a:latin typeface="Arial"/>
              </a:rPr>
              <a:t>Year 3.  </a:t>
            </a:r>
            <a:r>
              <a:rPr sz="1700" b="0">
                <a:solidFill>
                  <a:srgbClr val="0B1F3A"/>
                </a:solidFill>
                <a:latin typeface="Arial"/>
              </a:rPr>
              <a:t>3–6 insurers × €75k ≈ €0.2–0.45M a year (assumption); Nordic snowmelt upside unsized (assumption). Buyers: Finnish home insurers (OP, If, LähiTapiola, …); no pilot agreement yet.</a:t>
            </a:r>
          </a:p>
          <a:p>
            <a:pPr algn="l">
              <a:lnSpc>
                <a:spcPct val="105000"/>
              </a:lnSpc>
              <a:spcAft>
                <a:spcPts val="900"/>
              </a:spcAft>
            </a:pPr>
            <a:r>
              <a:rPr sz="1700" b="1">
                <a:solidFill>
                  <a:srgbClr val="0B1F3A"/>
                </a:solidFill>
                <a:latin typeface="Arial"/>
              </a:rPr>
              <a:t>Market size.  </a:t>
            </a:r>
            <a:r>
              <a:rPr sz="1700" b="0">
                <a:solidFill>
                  <a:srgbClr val="0B1F3A"/>
                </a:solidFill>
                <a:latin typeface="Arial"/>
              </a:rPr>
              <a:t>Losses per event ≈ €5–20M; parametric insurance market $3.5bn to $18–21bn, 12–14 %/yr growth (business case, outside sources, quoted as a range).</a:t>
            </a:r>
          </a:p>
          <a:p>
            <a:pPr algn="l">
              <a:lnSpc>
                <a:spcPct val="105000"/>
              </a:lnSpc>
              <a:spcAft>
                <a:spcPts val="900"/>
              </a:spcAft>
            </a:pPr>
            <a:r>
              <a:rPr sz="1700" b="1">
                <a:solidFill>
                  <a:srgbClr val="0B1F3A"/>
                </a:solidFill>
                <a:latin typeface="Arial"/>
              </a:rPr>
              <a:t>Ask.  </a:t>
            </a:r>
            <a:r>
              <a:rPr sz="1700" b="0">
                <a:solidFill>
                  <a:srgbClr val="0B1F3A"/>
                </a:solidFill>
                <a:latin typeface="Arial"/>
              </a:rPr>
              <a:t>One insurer's flood claims for 8 weeks → basis-risk map + firm quote for 1 Jan 2028.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BACKUP · Q&amp;A ONLY</a:t>
            </a:r>
          </a:p>
        </p:txBody>
      </p:sp>
      <p:sp>
        <p:nvSpPr>
          <p:cNvPr id="3" name="TextBox 2"/>
          <p:cNvSpPr txBox="1"/>
          <p:nvPr/>
        </p:nvSpPr>
        <p:spPr>
          <a:xfrm>
            <a:off x="548640" y="658368"/>
            <a:ext cx="11094415" cy="64008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Hardware runs in detail</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12</a:t>
            </a:r>
          </a:p>
        </p:txBody>
      </p:sp>
      <p:sp>
        <p:nvSpPr>
          <p:cNvPr id="5" name="TextBox 4"/>
          <p:cNvSpPr txBox="1"/>
          <p:nvPr/>
        </p:nvSpPr>
        <p:spPr>
          <a:xfrm>
            <a:off x="548640" y="1280160"/>
            <a:ext cx="1402909" cy="384048"/>
          </a:xfrm>
          <a:prstGeom prst="rect">
            <a:avLst/>
          </a:prstGeom>
          <a:noFill/>
        </p:spPr>
        <p:txBody>
          <a:bodyPr wrap="square" lIns="0" rIns="0" tIns="0" bIns="0" anchor="ctr">
            <a:spAutoFit/>
          </a:bodyPr>
          <a:lstStyle/>
          <a:p>
            <a:pPr algn="l">
              <a:lnSpc>
                <a:spcPct val="100000"/>
              </a:lnSpc>
              <a:spcAft>
                <a:spcPts val="0"/>
              </a:spcAft>
            </a:pPr>
            <a:r>
              <a:rPr sz="1300" b="1">
                <a:solidFill>
                  <a:srgbClr val="1F6FEB"/>
                </a:solidFill>
                <a:latin typeface="Arial"/>
              </a:rPr>
              <a:t>Chip</a:t>
            </a:r>
          </a:p>
        </p:txBody>
      </p:sp>
      <p:sp>
        <p:nvSpPr>
          <p:cNvPr id="6" name="TextBox 5"/>
          <p:cNvSpPr txBox="1"/>
          <p:nvPr/>
        </p:nvSpPr>
        <p:spPr>
          <a:xfrm>
            <a:off x="2042989" y="1280160"/>
            <a:ext cx="3576509" cy="384048"/>
          </a:xfrm>
          <a:prstGeom prst="rect">
            <a:avLst/>
          </a:prstGeom>
          <a:noFill/>
        </p:spPr>
        <p:txBody>
          <a:bodyPr wrap="square" lIns="0" rIns="0" tIns="0" bIns="0" anchor="ctr">
            <a:spAutoFit/>
          </a:bodyPr>
          <a:lstStyle/>
          <a:p>
            <a:pPr algn="l">
              <a:lnSpc>
                <a:spcPct val="100000"/>
              </a:lnSpc>
              <a:spcAft>
                <a:spcPts val="0"/>
              </a:spcAft>
            </a:pPr>
            <a:r>
              <a:rPr sz="1300" b="1">
                <a:solidFill>
                  <a:srgbClr val="1F6FEB"/>
                </a:solidFill>
                <a:latin typeface="Arial"/>
              </a:rPr>
              <a:t>Circuit</a:t>
            </a:r>
          </a:p>
        </p:txBody>
      </p:sp>
      <p:sp>
        <p:nvSpPr>
          <p:cNvPr id="7" name="TextBox 6"/>
          <p:cNvSpPr txBox="1"/>
          <p:nvPr/>
        </p:nvSpPr>
        <p:spPr>
          <a:xfrm>
            <a:off x="5710939" y="1280160"/>
            <a:ext cx="723659" cy="384048"/>
          </a:xfrm>
          <a:prstGeom prst="rect">
            <a:avLst/>
          </a:prstGeom>
          <a:noFill/>
        </p:spPr>
        <p:txBody>
          <a:bodyPr wrap="square" lIns="0" rIns="0" tIns="0" bIns="0" anchor="ctr">
            <a:spAutoFit/>
          </a:bodyPr>
          <a:lstStyle/>
          <a:p>
            <a:pPr algn="l">
              <a:lnSpc>
                <a:spcPct val="100000"/>
              </a:lnSpc>
              <a:spcAft>
                <a:spcPts val="0"/>
              </a:spcAft>
            </a:pPr>
            <a:r>
              <a:rPr sz="1300" b="1">
                <a:solidFill>
                  <a:srgbClr val="1F6FEB"/>
                </a:solidFill>
                <a:latin typeface="Arial"/>
              </a:rPr>
              <a:t>Exact</a:t>
            </a:r>
          </a:p>
        </p:txBody>
      </p:sp>
      <p:sp>
        <p:nvSpPr>
          <p:cNvPr id="8" name="TextBox 7"/>
          <p:cNvSpPr txBox="1"/>
          <p:nvPr/>
        </p:nvSpPr>
        <p:spPr>
          <a:xfrm>
            <a:off x="6526039" y="1280160"/>
            <a:ext cx="1085926" cy="384048"/>
          </a:xfrm>
          <a:prstGeom prst="rect">
            <a:avLst/>
          </a:prstGeom>
          <a:noFill/>
        </p:spPr>
        <p:txBody>
          <a:bodyPr wrap="square" lIns="0" rIns="0" tIns="0" bIns="0" anchor="ctr">
            <a:spAutoFit/>
          </a:bodyPr>
          <a:lstStyle/>
          <a:p>
            <a:pPr algn="l">
              <a:lnSpc>
                <a:spcPct val="100000"/>
              </a:lnSpc>
              <a:spcAft>
                <a:spcPts val="0"/>
              </a:spcAft>
            </a:pPr>
            <a:r>
              <a:rPr sz="1300" b="1">
                <a:solidFill>
                  <a:srgbClr val="1F6FEB"/>
                </a:solidFill>
                <a:latin typeface="Arial"/>
              </a:rPr>
              <a:t>Raw</a:t>
            </a:r>
          </a:p>
        </p:txBody>
      </p:sp>
      <p:sp>
        <p:nvSpPr>
          <p:cNvPr id="9" name="TextBox 8"/>
          <p:cNvSpPr txBox="1"/>
          <p:nvPr/>
        </p:nvSpPr>
        <p:spPr>
          <a:xfrm>
            <a:off x="7703405" y="1280160"/>
            <a:ext cx="2218009" cy="384048"/>
          </a:xfrm>
          <a:prstGeom prst="rect">
            <a:avLst/>
          </a:prstGeom>
          <a:noFill/>
        </p:spPr>
        <p:txBody>
          <a:bodyPr wrap="square" lIns="0" rIns="0" tIns="0" bIns="0" anchor="ctr">
            <a:spAutoFit/>
          </a:bodyPr>
          <a:lstStyle/>
          <a:p>
            <a:pPr algn="l">
              <a:lnSpc>
                <a:spcPct val="100000"/>
              </a:lnSpc>
              <a:spcAft>
                <a:spcPts val="0"/>
              </a:spcAft>
            </a:pPr>
            <a:r>
              <a:rPr sz="1300" b="1">
                <a:solidFill>
                  <a:srgbClr val="1F6FEB"/>
                </a:solidFill>
                <a:latin typeface="Arial"/>
              </a:rPr>
              <a:t>Calibrated (90 % CI)</a:t>
            </a:r>
          </a:p>
        </p:txBody>
      </p:sp>
      <p:sp>
        <p:nvSpPr>
          <p:cNvPr id="10" name="TextBox 9"/>
          <p:cNvSpPr txBox="1"/>
          <p:nvPr/>
        </p:nvSpPr>
        <p:spPr>
          <a:xfrm>
            <a:off x="10012855" y="1280160"/>
            <a:ext cx="1538759" cy="384048"/>
          </a:xfrm>
          <a:prstGeom prst="rect">
            <a:avLst/>
          </a:prstGeom>
          <a:noFill/>
        </p:spPr>
        <p:txBody>
          <a:bodyPr wrap="square" lIns="0" rIns="0" tIns="0" bIns="0" anchor="ctr">
            <a:spAutoFit/>
          </a:bodyPr>
          <a:lstStyle/>
          <a:p>
            <a:pPr algn="l">
              <a:lnSpc>
                <a:spcPct val="100000"/>
              </a:lnSpc>
              <a:spcAft>
                <a:spcPts val="0"/>
              </a:spcAft>
            </a:pPr>
            <a:r>
              <a:rPr sz="1300" b="1">
                <a:solidFill>
                  <a:srgbClr val="1F6FEB"/>
                </a:solidFill>
                <a:latin typeface="Arial"/>
              </a:rPr>
              <a:t>Job</a:t>
            </a:r>
          </a:p>
        </p:txBody>
      </p:sp>
      <p:sp>
        <p:nvSpPr>
          <p:cNvPr id="11" name="Rectangle 10"/>
          <p:cNvSpPr/>
          <p:nvPr/>
        </p:nvSpPr>
        <p:spPr>
          <a:xfrm>
            <a:off x="548640" y="2039112"/>
            <a:ext cx="11094415" cy="10972"/>
          </a:xfrm>
          <a:prstGeom prst="rect">
            <a:avLst/>
          </a:prstGeom>
          <a:solidFill>
            <a:srgbClr val="DDE3EA"/>
          </a:solidFill>
          <a:ln>
            <a:noFill/>
          </a:ln>
          <a:effectLst/>
        </p:spPr>
        <p:txBody>
          <a:bodyPr rtlCol="0" anchor="ctr"/>
          <a:lstStyle/>
          <a:p>
            <a:pPr algn="ctr"/>
          </a:p>
        </p:txBody>
      </p:sp>
      <p:sp>
        <p:nvSpPr>
          <p:cNvPr id="12" name="TextBox 11"/>
          <p:cNvSpPr txBox="1"/>
          <p:nvPr/>
        </p:nvSpPr>
        <p:spPr>
          <a:xfrm>
            <a:off x="548640" y="1664207"/>
            <a:ext cx="140290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IBM Marrakesh</a:t>
            </a:r>
          </a:p>
        </p:txBody>
      </p:sp>
      <p:sp>
        <p:nvSpPr>
          <p:cNvPr id="13" name="TextBox 12"/>
          <p:cNvSpPr txBox="1"/>
          <p:nvPr/>
        </p:nvSpPr>
        <p:spPr>
          <a:xfrm>
            <a:off x="2042989" y="1664207"/>
            <a:ext cx="357650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North-cluster pair, 3 qubits, k = 0–2</a:t>
            </a:r>
          </a:p>
        </p:txBody>
      </p:sp>
      <p:sp>
        <p:nvSpPr>
          <p:cNvPr id="14" name="TextBox 13"/>
          <p:cNvSpPr txBox="1"/>
          <p:nvPr/>
        </p:nvSpPr>
        <p:spPr>
          <a:xfrm>
            <a:off x="5710939" y="1664207"/>
            <a:ext cx="72365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0.125 %</a:t>
            </a:r>
          </a:p>
        </p:txBody>
      </p:sp>
      <p:sp>
        <p:nvSpPr>
          <p:cNvPr id="15" name="TextBox 14"/>
          <p:cNvSpPr txBox="1"/>
          <p:nvPr/>
        </p:nvSpPr>
        <p:spPr>
          <a:xfrm>
            <a:off x="6526039" y="1664207"/>
            <a:ext cx="1085926"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0.262 %</a:t>
            </a:r>
          </a:p>
        </p:txBody>
      </p:sp>
      <p:sp>
        <p:nvSpPr>
          <p:cNvPr id="16" name="TextBox 15"/>
          <p:cNvSpPr txBox="1"/>
          <p:nvPr/>
        </p:nvSpPr>
        <p:spPr>
          <a:xfrm>
            <a:off x="7703405" y="1664207"/>
            <a:ext cx="2218009" cy="384048"/>
          </a:xfrm>
          <a:prstGeom prst="rect">
            <a:avLst/>
          </a:prstGeom>
          <a:noFill/>
        </p:spPr>
        <p:txBody>
          <a:bodyPr wrap="square" lIns="0" rIns="0" tIns="0" bIns="0" anchor="ctr">
            <a:spAutoFit/>
          </a:bodyPr>
          <a:lstStyle/>
          <a:p>
            <a:pPr algn="l">
              <a:lnSpc>
                <a:spcPct val="100000"/>
              </a:lnSpc>
              <a:spcAft>
                <a:spcPts val="0"/>
              </a:spcAft>
            </a:pPr>
            <a:r>
              <a:rPr sz="1400" b="1">
                <a:solidFill>
                  <a:srgbClr val="0B1F3A"/>
                </a:solidFill>
                <a:latin typeface="Arial"/>
              </a:rPr>
              <a:t>0.149 % (0.140–0.157)</a:t>
            </a:r>
          </a:p>
        </p:txBody>
      </p:sp>
      <p:sp>
        <p:nvSpPr>
          <p:cNvPr id="17" name="TextBox 16"/>
          <p:cNvSpPr txBox="1"/>
          <p:nvPr/>
        </p:nvSpPr>
        <p:spPr>
          <a:xfrm>
            <a:off x="10012855" y="1664207"/>
            <a:ext cx="1538759" cy="384048"/>
          </a:xfrm>
          <a:prstGeom prst="rect">
            <a:avLst/>
          </a:prstGeom>
          <a:noFill/>
        </p:spPr>
        <p:txBody>
          <a:bodyPr wrap="square" lIns="0" rIns="0" tIns="0" bIns="0" anchor="ctr">
            <a:spAutoFit/>
          </a:bodyPr>
          <a:lstStyle/>
          <a:p>
            <a:pPr algn="l">
              <a:lnSpc>
                <a:spcPct val="100000"/>
              </a:lnSpc>
              <a:spcAft>
                <a:spcPts val="0"/>
              </a:spcAft>
            </a:pPr>
            <a:r>
              <a:rPr sz="1200" b="0">
                <a:solidFill>
                  <a:srgbClr val="6B7280"/>
                </a:solidFill>
                <a:latin typeface="Arial"/>
              </a:rPr>
              <a:t>db3tddsvf2bc73ctoprg</a:t>
            </a:r>
          </a:p>
        </p:txBody>
      </p:sp>
      <p:sp>
        <p:nvSpPr>
          <p:cNvPr id="18" name="Rectangle 17"/>
          <p:cNvSpPr/>
          <p:nvPr/>
        </p:nvSpPr>
        <p:spPr>
          <a:xfrm>
            <a:off x="548640" y="2423160"/>
            <a:ext cx="11094415" cy="10972"/>
          </a:xfrm>
          <a:prstGeom prst="rect">
            <a:avLst/>
          </a:prstGeom>
          <a:solidFill>
            <a:srgbClr val="DDE3EA"/>
          </a:solidFill>
          <a:ln>
            <a:noFill/>
          </a:ln>
          <a:effectLst/>
        </p:spPr>
        <p:txBody>
          <a:bodyPr rtlCol="0" anchor="ctr"/>
          <a:lstStyle/>
          <a:p>
            <a:pPr algn="ctr"/>
          </a:p>
        </p:txBody>
      </p:sp>
      <p:sp>
        <p:nvSpPr>
          <p:cNvPr id="19" name="TextBox 18"/>
          <p:cNvSpPr txBox="1"/>
          <p:nvPr/>
        </p:nvSpPr>
        <p:spPr>
          <a:xfrm>
            <a:off x="548640" y="2048255"/>
            <a:ext cx="140290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IQM Garnet</a:t>
            </a:r>
          </a:p>
        </p:txBody>
      </p:sp>
      <p:sp>
        <p:nvSpPr>
          <p:cNvPr id="20" name="TextBox 19"/>
          <p:cNvSpPr txBox="1"/>
          <p:nvPr/>
        </p:nvSpPr>
        <p:spPr>
          <a:xfrm>
            <a:off x="2042989" y="2048255"/>
            <a:ext cx="357650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North-cluster pair, 3 qubits, k = 0–2</a:t>
            </a:r>
          </a:p>
        </p:txBody>
      </p:sp>
      <p:sp>
        <p:nvSpPr>
          <p:cNvPr id="21" name="TextBox 20"/>
          <p:cNvSpPr txBox="1"/>
          <p:nvPr/>
        </p:nvSpPr>
        <p:spPr>
          <a:xfrm>
            <a:off x="5710939" y="2048255"/>
            <a:ext cx="72365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0.125 %</a:t>
            </a:r>
          </a:p>
        </p:txBody>
      </p:sp>
      <p:sp>
        <p:nvSpPr>
          <p:cNvPr id="22" name="TextBox 21"/>
          <p:cNvSpPr txBox="1"/>
          <p:nvPr/>
        </p:nvSpPr>
        <p:spPr>
          <a:xfrm>
            <a:off x="6526039" y="2048255"/>
            <a:ext cx="1085926"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0.368 %</a:t>
            </a:r>
          </a:p>
        </p:txBody>
      </p:sp>
      <p:sp>
        <p:nvSpPr>
          <p:cNvPr id="23" name="TextBox 22"/>
          <p:cNvSpPr txBox="1"/>
          <p:nvPr/>
        </p:nvSpPr>
        <p:spPr>
          <a:xfrm>
            <a:off x="7703405" y="2048255"/>
            <a:ext cx="2218009" cy="384048"/>
          </a:xfrm>
          <a:prstGeom prst="rect">
            <a:avLst/>
          </a:prstGeom>
          <a:noFill/>
        </p:spPr>
        <p:txBody>
          <a:bodyPr wrap="square" lIns="0" rIns="0" tIns="0" bIns="0" anchor="ctr">
            <a:spAutoFit/>
          </a:bodyPr>
          <a:lstStyle/>
          <a:p>
            <a:pPr algn="l">
              <a:lnSpc>
                <a:spcPct val="100000"/>
              </a:lnSpc>
              <a:spcAft>
                <a:spcPts val="0"/>
              </a:spcAft>
            </a:pPr>
            <a:r>
              <a:rPr sz="1400" b="1">
                <a:solidFill>
                  <a:srgbClr val="0B1F3A"/>
                </a:solidFill>
                <a:latin typeface="Arial"/>
              </a:rPr>
              <a:t>0.164 % (0.147–0.180)</a:t>
            </a:r>
          </a:p>
        </p:txBody>
      </p:sp>
      <p:sp>
        <p:nvSpPr>
          <p:cNvPr id="24" name="TextBox 23"/>
          <p:cNvSpPr txBox="1"/>
          <p:nvPr/>
        </p:nvSpPr>
        <p:spPr>
          <a:xfrm>
            <a:off x="10012855" y="2048255"/>
            <a:ext cx="1538759" cy="384048"/>
          </a:xfrm>
          <a:prstGeom prst="rect">
            <a:avLst/>
          </a:prstGeom>
          <a:noFill/>
        </p:spPr>
        <p:txBody>
          <a:bodyPr wrap="square" lIns="0" rIns="0" tIns="0" bIns="0" anchor="ctr">
            <a:spAutoFit/>
          </a:bodyPr>
          <a:lstStyle/>
          <a:p>
            <a:pPr algn="l">
              <a:lnSpc>
                <a:spcPct val="100000"/>
              </a:lnSpc>
              <a:spcAft>
                <a:spcPts val="0"/>
              </a:spcAft>
            </a:pPr>
            <a:r>
              <a:rPr sz="1200" b="0">
                <a:solidFill>
                  <a:srgbClr val="6B7280"/>
                </a:solidFill>
                <a:latin typeface="Arial"/>
              </a:rPr>
              <a:t>01a11cc3-7f6c…</a:t>
            </a:r>
          </a:p>
        </p:txBody>
      </p:sp>
      <p:sp>
        <p:nvSpPr>
          <p:cNvPr id="25" name="Rectangle 24"/>
          <p:cNvSpPr/>
          <p:nvPr/>
        </p:nvSpPr>
        <p:spPr>
          <a:xfrm>
            <a:off x="548640" y="2807208"/>
            <a:ext cx="11094415" cy="10972"/>
          </a:xfrm>
          <a:prstGeom prst="rect">
            <a:avLst/>
          </a:prstGeom>
          <a:solidFill>
            <a:srgbClr val="DDE3EA"/>
          </a:solidFill>
          <a:ln>
            <a:noFill/>
          </a:ln>
          <a:effectLst/>
        </p:spPr>
        <p:txBody>
          <a:bodyPr rtlCol="0" anchor="ctr"/>
          <a:lstStyle/>
          <a:p>
            <a:pPr algn="ctr"/>
          </a:p>
        </p:txBody>
      </p:sp>
      <p:sp>
        <p:nvSpPr>
          <p:cNvPr id="26" name="TextBox 25"/>
          <p:cNvSpPr txBox="1"/>
          <p:nvPr/>
        </p:nvSpPr>
        <p:spPr>
          <a:xfrm>
            <a:off x="548640" y="2432303"/>
            <a:ext cx="140290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IQM Emerald</a:t>
            </a:r>
          </a:p>
        </p:txBody>
      </p:sp>
      <p:sp>
        <p:nvSpPr>
          <p:cNvPr id="27" name="TextBox 26"/>
          <p:cNvSpPr txBox="1"/>
          <p:nvPr/>
        </p:nvSpPr>
        <p:spPr>
          <a:xfrm>
            <a:off x="2042989" y="2432303"/>
            <a:ext cx="357650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Snowy / low-snow ratio, same pair, k = 0–2</a:t>
            </a:r>
          </a:p>
        </p:txBody>
      </p:sp>
      <p:sp>
        <p:nvSpPr>
          <p:cNvPr id="28" name="TextBox 27"/>
          <p:cNvSpPr txBox="1"/>
          <p:nvPr/>
        </p:nvSpPr>
        <p:spPr>
          <a:xfrm>
            <a:off x="5710939" y="2432303"/>
            <a:ext cx="72365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2.75×</a:t>
            </a:r>
          </a:p>
        </p:txBody>
      </p:sp>
      <p:sp>
        <p:nvSpPr>
          <p:cNvPr id="29" name="TextBox 28"/>
          <p:cNvSpPr txBox="1"/>
          <p:nvPr/>
        </p:nvSpPr>
        <p:spPr>
          <a:xfrm>
            <a:off x="6526039" y="2432303"/>
            <a:ext cx="1085926"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1.3×</a:t>
            </a:r>
          </a:p>
        </p:txBody>
      </p:sp>
      <p:sp>
        <p:nvSpPr>
          <p:cNvPr id="30" name="TextBox 29"/>
          <p:cNvSpPr txBox="1"/>
          <p:nvPr/>
        </p:nvSpPr>
        <p:spPr>
          <a:xfrm>
            <a:off x="7703405" y="2432303"/>
            <a:ext cx="2218009" cy="384048"/>
          </a:xfrm>
          <a:prstGeom prst="rect">
            <a:avLst/>
          </a:prstGeom>
          <a:noFill/>
        </p:spPr>
        <p:txBody>
          <a:bodyPr wrap="square" lIns="0" rIns="0" tIns="0" bIns="0" anchor="ctr">
            <a:spAutoFit/>
          </a:bodyPr>
          <a:lstStyle/>
          <a:p>
            <a:pPr algn="l">
              <a:lnSpc>
                <a:spcPct val="100000"/>
              </a:lnSpc>
              <a:spcAft>
                <a:spcPts val="0"/>
              </a:spcAft>
            </a:pPr>
            <a:r>
              <a:rPr sz="1400" b="1">
                <a:solidFill>
                  <a:srgbClr val="0B1F3A"/>
                </a:solidFill>
                <a:latin typeface="Arial"/>
              </a:rPr>
              <a:t>3.05× (2.6–3.6)</a:t>
            </a:r>
          </a:p>
        </p:txBody>
      </p:sp>
      <p:sp>
        <p:nvSpPr>
          <p:cNvPr id="31" name="TextBox 30"/>
          <p:cNvSpPr txBox="1"/>
          <p:nvPr/>
        </p:nvSpPr>
        <p:spPr>
          <a:xfrm>
            <a:off x="10012855" y="2432303"/>
            <a:ext cx="1538759" cy="384048"/>
          </a:xfrm>
          <a:prstGeom prst="rect">
            <a:avLst/>
          </a:prstGeom>
          <a:noFill/>
        </p:spPr>
        <p:txBody>
          <a:bodyPr wrap="square" lIns="0" rIns="0" tIns="0" bIns="0" anchor="ctr">
            <a:spAutoFit/>
          </a:bodyPr>
          <a:lstStyle/>
          <a:p>
            <a:pPr algn="l">
              <a:lnSpc>
                <a:spcPct val="100000"/>
              </a:lnSpc>
              <a:spcAft>
                <a:spcPts val="0"/>
              </a:spcAft>
            </a:pPr>
            <a:r>
              <a:rPr sz="1200" b="0">
                <a:solidFill>
                  <a:srgbClr val="6B7280"/>
                </a:solidFill>
                <a:latin typeface="Arial"/>
              </a:rPr>
              <a:t>01a11fa8-65a9…</a:t>
            </a:r>
          </a:p>
        </p:txBody>
      </p:sp>
      <p:sp>
        <p:nvSpPr>
          <p:cNvPr id="32" name="Rectangle 31"/>
          <p:cNvSpPr/>
          <p:nvPr/>
        </p:nvSpPr>
        <p:spPr>
          <a:xfrm>
            <a:off x="548640" y="3191256"/>
            <a:ext cx="11094415" cy="10972"/>
          </a:xfrm>
          <a:prstGeom prst="rect">
            <a:avLst/>
          </a:prstGeom>
          <a:solidFill>
            <a:srgbClr val="DDE3EA"/>
          </a:solidFill>
          <a:ln>
            <a:noFill/>
          </a:ln>
          <a:effectLst/>
        </p:spPr>
        <p:txBody>
          <a:bodyPr rtlCol="0" anchor="ctr"/>
          <a:lstStyle/>
          <a:p>
            <a:pPr algn="ctr"/>
          </a:p>
        </p:txBody>
      </p:sp>
      <p:sp>
        <p:nvSpPr>
          <p:cNvPr id="33" name="TextBox 32"/>
          <p:cNvSpPr txBox="1"/>
          <p:nvPr/>
        </p:nvSpPr>
        <p:spPr>
          <a:xfrm>
            <a:off x="548640" y="2816351"/>
            <a:ext cx="140290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IQM Emerald</a:t>
            </a:r>
          </a:p>
        </p:txBody>
      </p:sp>
      <p:sp>
        <p:nvSpPr>
          <p:cNvPr id="34" name="TextBox 33"/>
          <p:cNvSpPr txBox="1"/>
          <p:nvPr/>
        </p:nvSpPr>
        <p:spPr>
          <a:xfrm>
            <a:off x="2042989" y="2816351"/>
            <a:ext cx="357650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14 rivers ≥4 over 1-in-10, 18 q / 44 CZ</a:t>
            </a:r>
          </a:p>
        </p:txBody>
      </p:sp>
      <p:sp>
        <p:nvSpPr>
          <p:cNvPr id="35" name="TextBox 34"/>
          <p:cNvSpPr txBox="1"/>
          <p:nvPr/>
        </p:nvSpPr>
        <p:spPr>
          <a:xfrm>
            <a:off x="5710939" y="2816351"/>
            <a:ext cx="72365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10.9 %</a:t>
            </a:r>
          </a:p>
        </p:txBody>
      </p:sp>
      <p:sp>
        <p:nvSpPr>
          <p:cNvPr id="36" name="TextBox 35"/>
          <p:cNvSpPr txBox="1"/>
          <p:nvPr/>
        </p:nvSpPr>
        <p:spPr>
          <a:xfrm>
            <a:off x="6526039" y="2816351"/>
            <a:ext cx="1085926"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a:t>
            </a:r>
          </a:p>
        </p:txBody>
      </p:sp>
      <p:sp>
        <p:nvSpPr>
          <p:cNvPr id="37" name="TextBox 36"/>
          <p:cNvSpPr txBox="1"/>
          <p:nvPr/>
        </p:nvSpPr>
        <p:spPr>
          <a:xfrm>
            <a:off x="7703405" y="2816351"/>
            <a:ext cx="2218009" cy="384048"/>
          </a:xfrm>
          <a:prstGeom prst="rect">
            <a:avLst/>
          </a:prstGeom>
          <a:noFill/>
        </p:spPr>
        <p:txBody>
          <a:bodyPr wrap="square" lIns="0" rIns="0" tIns="0" bIns="0" anchor="ctr">
            <a:spAutoFit/>
          </a:bodyPr>
          <a:lstStyle/>
          <a:p>
            <a:pPr algn="l">
              <a:lnSpc>
                <a:spcPct val="100000"/>
              </a:lnSpc>
              <a:spcAft>
                <a:spcPts val="0"/>
              </a:spcAft>
            </a:pPr>
            <a:r>
              <a:rPr sz="1400" b="1">
                <a:solidFill>
                  <a:srgbClr val="0B1F3A"/>
                </a:solidFill>
                <a:latin typeface="Arial"/>
              </a:rPr>
              <a:t>13.8 % (readout-corr.)</a:t>
            </a:r>
          </a:p>
        </p:txBody>
      </p:sp>
      <p:sp>
        <p:nvSpPr>
          <p:cNvPr id="38" name="TextBox 37"/>
          <p:cNvSpPr txBox="1"/>
          <p:nvPr/>
        </p:nvSpPr>
        <p:spPr>
          <a:xfrm>
            <a:off x="10012855" y="2816351"/>
            <a:ext cx="1538759" cy="384048"/>
          </a:xfrm>
          <a:prstGeom prst="rect">
            <a:avLst/>
          </a:prstGeom>
          <a:noFill/>
        </p:spPr>
        <p:txBody>
          <a:bodyPr wrap="square" lIns="0" rIns="0" tIns="0" bIns="0" anchor="ctr">
            <a:spAutoFit/>
          </a:bodyPr>
          <a:lstStyle/>
          <a:p>
            <a:pPr algn="l">
              <a:lnSpc>
                <a:spcPct val="100000"/>
              </a:lnSpc>
              <a:spcAft>
                <a:spcPts val="0"/>
              </a:spcAft>
            </a:pPr>
            <a:r>
              <a:rPr sz="1200" b="0">
                <a:solidFill>
                  <a:srgbClr val="6B7280"/>
                </a:solidFill>
                <a:latin typeface="Arial"/>
              </a:rPr>
              <a:t>01a11cd4-da38…</a:t>
            </a:r>
          </a:p>
        </p:txBody>
      </p:sp>
      <p:sp>
        <p:nvSpPr>
          <p:cNvPr id="39" name="Rectangle 38"/>
          <p:cNvSpPr/>
          <p:nvPr/>
        </p:nvSpPr>
        <p:spPr>
          <a:xfrm>
            <a:off x="548640" y="3575303"/>
            <a:ext cx="11094415" cy="10972"/>
          </a:xfrm>
          <a:prstGeom prst="rect">
            <a:avLst/>
          </a:prstGeom>
          <a:solidFill>
            <a:srgbClr val="DDE3EA"/>
          </a:solidFill>
          <a:ln>
            <a:noFill/>
          </a:ln>
          <a:effectLst/>
        </p:spPr>
        <p:txBody>
          <a:bodyPr rtlCol="0" anchor="ctr"/>
          <a:lstStyle/>
          <a:p>
            <a:pPr algn="ctr"/>
          </a:p>
        </p:txBody>
      </p:sp>
      <p:sp>
        <p:nvSpPr>
          <p:cNvPr id="40" name="TextBox 39"/>
          <p:cNvSpPr txBox="1"/>
          <p:nvPr/>
        </p:nvSpPr>
        <p:spPr>
          <a:xfrm>
            <a:off x="548640" y="3200399"/>
            <a:ext cx="140290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IQM Emerald</a:t>
            </a:r>
          </a:p>
        </p:txBody>
      </p:sp>
      <p:sp>
        <p:nvSpPr>
          <p:cNvPr id="41" name="TextBox 40"/>
          <p:cNvSpPr txBox="1"/>
          <p:nvPr/>
        </p:nvSpPr>
        <p:spPr>
          <a:xfrm>
            <a:off x="2042989" y="3200399"/>
            <a:ext cx="357650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14 rivers ≥2 over 1-in-50, same circuit</a:t>
            </a:r>
          </a:p>
        </p:txBody>
      </p:sp>
      <p:sp>
        <p:nvSpPr>
          <p:cNvPr id="42" name="TextBox 41"/>
          <p:cNvSpPr txBox="1"/>
          <p:nvPr/>
        </p:nvSpPr>
        <p:spPr>
          <a:xfrm>
            <a:off x="5710939" y="3200399"/>
            <a:ext cx="72365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4.8 %</a:t>
            </a:r>
          </a:p>
        </p:txBody>
      </p:sp>
      <p:sp>
        <p:nvSpPr>
          <p:cNvPr id="43" name="TextBox 42"/>
          <p:cNvSpPr txBox="1"/>
          <p:nvPr/>
        </p:nvSpPr>
        <p:spPr>
          <a:xfrm>
            <a:off x="6526039" y="3200399"/>
            <a:ext cx="1085926"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a:t>
            </a:r>
          </a:p>
        </p:txBody>
      </p:sp>
      <p:sp>
        <p:nvSpPr>
          <p:cNvPr id="44" name="TextBox 43"/>
          <p:cNvSpPr txBox="1"/>
          <p:nvPr/>
        </p:nvSpPr>
        <p:spPr>
          <a:xfrm>
            <a:off x="7703405" y="3200399"/>
            <a:ext cx="2218009" cy="384048"/>
          </a:xfrm>
          <a:prstGeom prst="rect">
            <a:avLst/>
          </a:prstGeom>
          <a:noFill/>
        </p:spPr>
        <p:txBody>
          <a:bodyPr wrap="square" lIns="0" rIns="0" tIns="0" bIns="0" anchor="ctr">
            <a:spAutoFit/>
          </a:bodyPr>
          <a:lstStyle/>
          <a:p>
            <a:pPr algn="l">
              <a:lnSpc>
                <a:spcPct val="100000"/>
              </a:lnSpc>
              <a:spcAft>
                <a:spcPts val="0"/>
              </a:spcAft>
            </a:pPr>
            <a:r>
              <a:rPr sz="1400" b="1">
                <a:solidFill>
                  <a:srgbClr val="0B1F3A"/>
                </a:solidFill>
                <a:latin typeface="Arial"/>
              </a:rPr>
              <a:t>16.0 % (fails)</a:t>
            </a:r>
          </a:p>
        </p:txBody>
      </p:sp>
      <p:sp>
        <p:nvSpPr>
          <p:cNvPr id="45" name="TextBox 44"/>
          <p:cNvSpPr txBox="1"/>
          <p:nvPr/>
        </p:nvSpPr>
        <p:spPr>
          <a:xfrm>
            <a:off x="10012855" y="3200399"/>
            <a:ext cx="1538759" cy="384048"/>
          </a:xfrm>
          <a:prstGeom prst="rect">
            <a:avLst/>
          </a:prstGeom>
          <a:noFill/>
        </p:spPr>
        <p:txBody>
          <a:bodyPr wrap="square" lIns="0" rIns="0" tIns="0" bIns="0" anchor="ctr">
            <a:spAutoFit/>
          </a:bodyPr>
          <a:lstStyle/>
          <a:p>
            <a:pPr algn="l">
              <a:lnSpc>
                <a:spcPct val="100000"/>
              </a:lnSpc>
              <a:spcAft>
                <a:spcPts val="0"/>
              </a:spcAft>
            </a:pPr>
            <a:r>
              <a:rPr sz="1200" b="0">
                <a:solidFill>
                  <a:srgbClr val="6B7280"/>
                </a:solidFill>
                <a:latin typeface="Arial"/>
              </a:rPr>
              <a:t>01a11f9b-c62a…</a:t>
            </a:r>
          </a:p>
        </p:txBody>
      </p:sp>
      <p:sp>
        <p:nvSpPr>
          <p:cNvPr id="46" name="Rectangle 45"/>
          <p:cNvSpPr/>
          <p:nvPr/>
        </p:nvSpPr>
        <p:spPr>
          <a:xfrm>
            <a:off x="548640" y="3959351"/>
            <a:ext cx="11094415" cy="10972"/>
          </a:xfrm>
          <a:prstGeom prst="rect">
            <a:avLst/>
          </a:prstGeom>
          <a:solidFill>
            <a:srgbClr val="DDE3EA"/>
          </a:solidFill>
          <a:ln>
            <a:noFill/>
          </a:ln>
          <a:effectLst/>
        </p:spPr>
        <p:txBody>
          <a:bodyPr rtlCol="0" anchor="ctr"/>
          <a:lstStyle/>
          <a:p>
            <a:pPr algn="ctr"/>
          </a:p>
        </p:txBody>
      </p:sp>
      <p:sp>
        <p:nvSpPr>
          <p:cNvPr id="47" name="TextBox 46"/>
          <p:cNvSpPr txBox="1"/>
          <p:nvPr/>
        </p:nvSpPr>
        <p:spPr>
          <a:xfrm>
            <a:off x="548640" y="3584447"/>
            <a:ext cx="140290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IQM Emerald</a:t>
            </a:r>
          </a:p>
        </p:txBody>
      </p:sp>
      <p:sp>
        <p:nvSpPr>
          <p:cNvPr id="48" name="TextBox 47"/>
          <p:cNvSpPr txBox="1"/>
          <p:nvPr/>
        </p:nvSpPr>
        <p:spPr>
          <a:xfrm>
            <a:off x="2042989" y="3584447"/>
            <a:ext cx="357650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Control: independent circuit, ≥4 over 1-in-10</a:t>
            </a:r>
          </a:p>
        </p:txBody>
      </p:sp>
      <p:sp>
        <p:nvSpPr>
          <p:cNvPr id="49" name="TextBox 48"/>
          <p:cNvSpPr txBox="1"/>
          <p:nvPr/>
        </p:nvSpPr>
        <p:spPr>
          <a:xfrm>
            <a:off x="5710939" y="3584447"/>
            <a:ext cx="72365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4.4 %</a:t>
            </a:r>
          </a:p>
        </p:txBody>
      </p:sp>
      <p:sp>
        <p:nvSpPr>
          <p:cNvPr id="50" name="TextBox 49"/>
          <p:cNvSpPr txBox="1"/>
          <p:nvPr/>
        </p:nvSpPr>
        <p:spPr>
          <a:xfrm>
            <a:off x="6526039" y="3584447"/>
            <a:ext cx="1085926"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a:t>
            </a:r>
          </a:p>
        </p:txBody>
      </p:sp>
      <p:sp>
        <p:nvSpPr>
          <p:cNvPr id="51" name="TextBox 50"/>
          <p:cNvSpPr txBox="1"/>
          <p:nvPr/>
        </p:nvSpPr>
        <p:spPr>
          <a:xfrm>
            <a:off x="7703405" y="3584447"/>
            <a:ext cx="2218009" cy="384048"/>
          </a:xfrm>
          <a:prstGeom prst="rect">
            <a:avLst/>
          </a:prstGeom>
          <a:noFill/>
        </p:spPr>
        <p:txBody>
          <a:bodyPr wrap="square" lIns="0" rIns="0" tIns="0" bIns="0" anchor="ctr">
            <a:spAutoFit/>
          </a:bodyPr>
          <a:lstStyle/>
          <a:p>
            <a:pPr algn="l">
              <a:lnSpc>
                <a:spcPct val="100000"/>
              </a:lnSpc>
              <a:spcAft>
                <a:spcPts val="0"/>
              </a:spcAft>
            </a:pPr>
            <a:r>
              <a:rPr sz="1400" b="1">
                <a:solidFill>
                  <a:srgbClr val="0B1F3A"/>
                </a:solidFill>
                <a:latin typeface="Arial"/>
              </a:rPr>
              <a:t>9.7 % (noise fattens tails)</a:t>
            </a:r>
          </a:p>
        </p:txBody>
      </p:sp>
      <p:sp>
        <p:nvSpPr>
          <p:cNvPr id="52" name="TextBox 51"/>
          <p:cNvSpPr txBox="1"/>
          <p:nvPr/>
        </p:nvSpPr>
        <p:spPr>
          <a:xfrm>
            <a:off x="10012855" y="3584447"/>
            <a:ext cx="1538759" cy="384048"/>
          </a:xfrm>
          <a:prstGeom prst="rect">
            <a:avLst/>
          </a:prstGeom>
          <a:noFill/>
        </p:spPr>
        <p:txBody>
          <a:bodyPr wrap="square" lIns="0" rIns="0" tIns="0" bIns="0" anchor="ctr">
            <a:spAutoFit/>
          </a:bodyPr>
          <a:lstStyle/>
          <a:p>
            <a:pPr algn="l">
              <a:lnSpc>
                <a:spcPct val="100000"/>
              </a:lnSpc>
              <a:spcAft>
                <a:spcPts val="0"/>
              </a:spcAft>
            </a:pPr>
            <a:r>
              <a:rPr sz="1200" b="0">
                <a:solidFill>
                  <a:srgbClr val="6B7280"/>
                </a:solidFill>
                <a:latin typeface="Arial"/>
              </a:rPr>
              <a:t>01a120f5-ece7…</a:t>
            </a:r>
          </a:p>
        </p:txBody>
      </p:sp>
      <p:sp>
        <p:nvSpPr>
          <p:cNvPr id="53" name="Rectangle 52"/>
          <p:cNvSpPr/>
          <p:nvPr/>
        </p:nvSpPr>
        <p:spPr>
          <a:xfrm>
            <a:off x="548640" y="4343400"/>
            <a:ext cx="11094415" cy="10972"/>
          </a:xfrm>
          <a:prstGeom prst="rect">
            <a:avLst/>
          </a:prstGeom>
          <a:solidFill>
            <a:srgbClr val="DDE3EA"/>
          </a:solidFill>
          <a:ln>
            <a:noFill/>
          </a:ln>
          <a:effectLst/>
        </p:spPr>
        <p:txBody>
          <a:bodyPr rtlCol="0" anchor="ctr"/>
          <a:lstStyle/>
          <a:p>
            <a:pPr algn="ctr"/>
          </a:p>
        </p:txBody>
      </p:sp>
      <p:sp>
        <p:nvSpPr>
          <p:cNvPr id="54" name="TextBox 53"/>
          <p:cNvSpPr txBox="1"/>
          <p:nvPr/>
        </p:nvSpPr>
        <p:spPr>
          <a:xfrm>
            <a:off x="548640" y="3968496"/>
            <a:ext cx="140290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VTT Q50</a:t>
            </a:r>
          </a:p>
        </p:txBody>
      </p:sp>
      <p:sp>
        <p:nvSpPr>
          <p:cNvPr id="55" name="TextBox 54"/>
          <p:cNvSpPr txBox="1"/>
          <p:nvPr/>
        </p:nvSpPr>
        <p:spPr>
          <a:xfrm>
            <a:off x="2042989" y="3968496"/>
            <a:ext cx="357650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Same pair, 3 repeats: not stable</a:t>
            </a:r>
          </a:p>
        </p:txBody>
      </p:sp>
      <p:sp>
        <p:nvSpPr>
          <p:cNvPr id="56" name="TextBox 55"/>
          <p:cNvSpPr txBox="1"/>
          <p:nvPr/>
        </p:nvSpPr>
        <p:spPr>
          <a:xfrm>
            <a:off x="5710939" y="3968496"/>
            <a:ext cx="72365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0.125 %</a:t>
            </a:r>
          </a:p>
        </p:txBody>
      </p:sp>
      <p:sp>
        <p:nvSpPr>
          <p:cNvPr id="57" name="TextBox 56"/>
          <p:cNvSpPr txBox="1"/>
          <p:nvPr/>
        </p:nvSpPr>
        <p:spPr>
          <a:xfrm>
            <a:off x="6526039" y="3968496"/>
            <a:ext cx="1085926"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1.48–1.58 %</a:t>
            </a:r>
          </a:p>
        </p:txBody>
      </p:sp>
      <p:sp>
        <p:nvSpPr>
          <p:cNvPr id="58" name="TextBox 57"/>
          <p:cNvSpPr txBox="1"/>
          <p:nvPr/>
        </p:nvSpPr>
        <p:spPr>
          <a:xfrm>
            <a:off x="7703405" y="3968496"/>
            <a:ext cx="2218009" cy="384048"/>
          </a:xfrm>
          <a:prstGeom prst="rect">
            <a:avLst/>
          </a:prstGeom>
          <a:noFill/>
        </p:spPr>
        <p:txBody>
          <a:bodyPr wrap="square" lIns="0" rIns="0" tIns="0" bIns="0" anchor="ctr">
            <a:spAutoFit/>
          </a:bodyPr>
          <a:lstStyle/>
          <a:p>
            <a:pPr algn="l">
              <a:lnSpc>
                <a:spcPct val="100000"/>
              </a:lnSpc>
              <a:spcAft>
                <a:spcPts val="0"/>
              </a:spcAft>
            </a:pPr>
            <a:r>
              <a:rPr sz="1400" b="1">
                <a:solidFill>
                  <a:srgbClr val="0B1F3A"/>
                </a:solidFill>
                <a:latin typeface="Arial"/>
              </a:rPr>
              <a:t>0.47 / 0.53 / 0.11 %</a:t>
            </a:r>
          </a:p>
        </p:txBody>
      </p:sp>
      <p:sp>
        <p:nvSpPr>
          <p:cNvPr id="59" name="TextBox 58"/>
          <p:cNvSpPr txBox="1"/>
          <p:nvPr/>
        </p:nvSpPr>
        <p:spPr>
          <a:xfrm>
            <a:off x="10012855" y="3968496"/>
            <a:ext cx="1538759" cy="384048"/>
          </a:xfrm>
          <a:prstGeom prst="rect">
            <a:avLst/>
          </a:prstGeom>
          <a:noFill/>
        </p:spPr>
        <p:txBody>
          <a:bodyPr wrap="square" lIns="0" rIns="0" tIns="0" bIns="0" anchor="ctr">
            <a:spAutoFit/>
          </a:bodyPr>
          <a:lstStyle/>
          <a:p>
            <a:pPr algn="l">
              <a:lnSpc>
                <a:spcPct val="100000"/>
              </a:lnSpc>
              <a:spcAft>
                <a:spcPts val="0"/>
              </a:spcAft>
            </a:pPr>
            <a:r>
              <a:rPr sz="1200" b="0">
                <a:solidFill>
                  <a:srgbClr val="6B7280"/>
                </a:solidFill>
                <a:latin typeface="Arial"/>
              </a:rPr>
              <a:t>7d20d8ac / a6fb9d52 / 381179fb</a:t>
            </a:r>
          </a:p>
        </p:txBody>
      </p:sp>
      <p:sp>
        <p:nvSpPr>
          <p:cNvPr id="60" name="Rectangle 59"/>
          <p:cNvSpPr/>
          <p:nvPr/>
        </p:nvSpPr>
        <p:spPr>
          <a:xfrm>
            <a:off x="548640" y="4727448"/>
            <a:ext cx="11094415" cy="10972"/>
          </a:xfrm>
          <a:prstGeom prst="rect">
            <a:avLst/>
          </a:prstGeom>
          <a:solidFill>
            <a:srgbClr val="DDE3EA"/>
          </a:solidFill>
          <a:ln>
            <a:noFill/>
          </a:ln>
          <a:effectLst/>
        </p:spPr>
        <p:txBody>
          <a:bodyPr rtlCol="0" anchor="ctr"/>
          <a:lstStyle/>
          <a:p>
            <a:pPr algn="ctr"/>
          </a:p>
        </p:txBody>
      </p:sp>
      <p:sp>
        <p:nvSpPr>
          <p:cNvPr id="61" name="TextBox 60"/>
          <p:cNvSpPr txBox="1"/>
          <p:nvPr/>
        </p:nvSpPr>
        <p:spPr>
          <a:xfrm>
            <a:off x="548640" y="4352544"/>
            <a:ext cx="140290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VTT Q50</a:t>
            </a:r>
          </a:p>
        </p:txBody>
      </p:sp>
      <p:sp>
        <p:nvSpPr>
          <p:cNvPr id="62" name="TextBox 61"/>
          <p:cNvSpPr txBox="1"/>
          <p:nvPr/>
        </p:nvSpPr>
        <p:spPr>
          <a:xfrm>
            <a:off x="2042989" y="4352544"/>
            <a:ext cx="357650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14 rivers ≥4 over 1-in-10, 18 q / 49 CZ</a:t>
            </a:r>
          </a:p>
        </p:txBody>
      </p:sp>
      <p:sp>
        <p:nvSpPr>
          <p:cNvPr id="63" name="TextBox 62"/>
          <p:cNvSpPr txBox="1"/>
          <p:nvPr/>
        </p:nvSpPr>
        <p:spPr>
          <a:xfrm>
            <a:off x="5710939" y="4352544"/>
            <a:ext cx="723659"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10.9 %</a:t>
            </a:r>
          </a:p>
        </p:txBody>
      </p:sp>
      <p:sp>
        <p:nvSpPr>
          <p:cNvPr id="64" name="TextBox 63"/>
          <p:cNvSpPr txBox="1"/>
          <p:nvPr/>
        </p:nvSpPr>
        <p:spPr>
          <a:xfrm>
            <a:off x="6526039" y="4352544"/>
            <a:ext cx="1085926" cy="384048"/>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34.2 %</a:t>
            </a:r>
          </a:p>
        </p:txBody>
      </p:sp>
      <p:sp>
        <p:nvSpPr>
          <p:cNvPr id="65" name="TextBox 64"/>
          <p:cNvSpPr txBox="1"/>
          <p:nvPr/>
        </p:nvSpPr>
        <p:spPr>
          <a:xfrm>
            <a:off x="7703405" y="4352544"/>
            <a:ext cx="2218009" cy="384048"/>
          </a:xfrm>
          <a:prstGeom prst="rect">
            <a:avLst/>
          </a:prstGeom>
          <a:noFill/>
        </p:spPr>
        <p:txBody>
          <a:bodyPr wrap="square" lIns="0" rIns="0" tIns="0" bIns="0" anchor="ctr">
            <a:spAutoFit/>
          </a:bodyPr>
          <a:lstStyle/>
          <a:p>
            <a:pPr algn="l">
              <a:lnSpc>
                <a:spcPct val="100000"/>
              </a:lnSpc>
              <a:spcAft>
                <a:spcPts val="0"/>
              </a:spcAft>
            </a:pPr>
            <a:r>
              <a:rPr sz="1400" b="1">
                <a:solidFill>
                  <a:srgbClr val="0B1F3A"/>
                </a:solidFill>
                <a:latin typeface="Arial"/>
              </a:rPr>
              <a:t>31.2 % (readout-corr.)</a:t>
            </a:r>
          </a:p>
        </p:txBody>
      </p:sp>
      <p:sp>
        <p:nvSpPr>
          <p:cNvPr id="66" name="TextBox 65"/>
          <p:cNvSpPr txBox="1"/>
          <p:nvPr/>
        </p:nvSpPr>
        <p:spPr>
          <a:xfrm>
            <a:off x="10012855" y="4352544"/>
            <a:ext cx="1538759" cy="384048"/>
          </a:xfrm>
          <a:prstGeom prst="rect">
            <a:avLst/>
          </a:prstGeom>
          <a:noFill/>
        </p:spPr>
        <p:txBody>
          <a:bodyPr wrap="square" lIns="0" rIns="0" tIns="0" bIns="0" anchor="ctr">
            <a:spAutoFit/>
          </a:bodyPr>
          <a:lstStyle/>
          <a:p>
            <a:pPr algn="l">
              <a:lnSpc>
                <a:spcPct val="100000"/>
              </a:lnSpc>
              <a:spcAft>
                <a:spcPts val="0"/>
              </a:spcAft>
            </a:pPr>
            <a:r>
              <a:rPr sz="1200" b="0">
                <a:solidFill>
                  <a:srgbClr val="6B7280"/>
                </a:solidFill>
                <a:latin typeface="Arial"/>
              </a:rPr>
              <a:t>9cdb0158-7574…</a:t>
            </a:r>
          </a:p>
        </p:txBody>
      </p:sp>
      <p:sp>
        <p:nvSpPr>
          <p:cNvPr id="67" name="TextBox 66"/>
          <p:cNvSpPr txBox="1"/>
          <p:nvPr/>
        </p:nvSpPr>
        <p:spPr>
          <a:xfrm>
            <a:off x="548640" y="4782312"/>
            <a:ext cx="11094415" cy="1737360"/>
          </a:xfrm>
          <a:prstGeom prst="rect">
            <a:avLst/>
          </a:prstGeom>
          <a:noFill/>
        </p:spPr>
        <p:txBody>
          <a:bodyPr wrap="square" lIns="0" rIns="0" tIns="0" bIns="0" anchor="t">
            <a:spAutoFit/>
          </a:bodyPr>
          <a:lstStyle/>
          <a:p>
            <a:pPr algn="l">
              <a:lnSpc>
                <a:spcPct val="100000"/>
              </a:lnSpc>
              <a:spcAft>
                <a:spcPts val="400"/>
              </a:spcAft>
            </a:pPr>
            <a:r>
              <a:rPr sz="1200" b="0">
                <a:solidFill>
                  <a:srgbClr val="6B7280"/>
                </a:solidFill>
                <a:latin typeface="Arial"/>
              </a:rPr>
              <a:t>Method: calibrated sampling + shallow amplitude estimation (noise-aware MLAE, Grover steps k = 0–2, two known-answer calibration circuits in the same job; bootstrap 90 % intervals). Pair = two rivers with identical North-cluster loadings and 1-in-50 trigger. Snowy vs normal on the same pair: 1.51× chip, 1.55× exact. Simplified 14-river model = two-level version, 18 qubits, sampling only. IBM / Garnet intervals exclude exact (+19 % / +31 % bias). Classical Monte Carlo at the same budget is more precise (±0.004 pp).</a:t>
            </a:r>
          </a:p>
          <a:p>
            <a:pPr algn="l">
              <a:lnSpc>
                <a:spcPct val="100000"/>
              </a:lnSpc>
              <a:spcAft>
                <a:spcPts val="400"/>
              </a:spcAft>
            </a:pPr>
            <a:r>
              <a:rPr sz="1200" b="0">
                <a:solidFill>
                  <a:srgbClr val="6B7280"/>
                </a:solidFill>
                <a:latin typeface="Arial"/>
              </a:rPr>
              <a:t>Signal kept at k = 1 in the runs shown: Emerald 0.56–0.59, IBM / Garnet 0.77–0.78, VTT Q50 0.12–0.19 (earlier runs 0.65–0.88): the estimate is mostly the calibrated k = 0 circuit. Q50's zero-calibration offset moved 0.002 → 0.006 between repeats (the 5× spread). Not shown: first runs IBM 0.146 % (k = 0–3), Garnet 0.073 % (1 copy).</a:t>
            </a:r>
          </a:p>
          <a:p>
            <a:pPr algn="l">
              <a:lnSpc>
                <a:spcPct val="100000"/>
              </a:lnSpc>
              <a:spcAft>
                <a:spcPts val="400"/>
              </a:spcAft>
            </a:pPr>
            <a:r>
              <a:rPr sz="1200" b="0">
                <a:solidFill>
                  <a:srgbClr val="6B7280"/>
                </a:solidFill>
                <a:latin typeface="Arial"/>
              </a:rPr>
              <a:t>Resources: SYKE open data · IBM Marrakesh · IQM Garnet &amp; Emerald (Resonance) · VTT Q50 (LUMI) · Qrisp · Qiskit · AI coding agents.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