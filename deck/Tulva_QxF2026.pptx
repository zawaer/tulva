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(0:00–0:09)]</a:t>
            </a:r>
          </a:p>
          <a:p>
            <a:r>
              <a:t>In May 2005, Kittilä and Ivalo flooded together. The snow had warned us two months earlier. Nobody priced that warning. Tulva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(0:09–0:30)]</a:t>
            </a:r>
          </a:p>
          <a:p>
            <a:r>
              <a:t>Finnish rivers share one snowpack, so they flood together. In 65 years of SYKE data, four or more of fourteen river areas passed their 1-in-10 level in the same spring 15 percent of the time. Independence says 3.9. And reinsurance renews on 1 January, before the snow arrives.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(0:30–0:50)]</a:t>
            </a:r>
          </a:p>
          <a:p>
            <a:r>
              <a:t>The Tulva Index pays ten million euros if two of five northern gauges pass their 1-in-50 level this spring. Priced as if rivers were independent: about 100 thousand a year. Priced jointly: 500 to 700 thousand, five times more. Bought in winter, triggered by a public gauge.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(0:50–1:50)]</a:t>
            </a:r>
          </a:p>
          <a:p>
            <a:r>
              <a:t>This is Tulva, built this weekend on 65 years of SYKE river data. The map shows Finland's fourteen river flood-risk areas in three clusters; lines join areas whose spring peaks move together. Now set the March snow outlook to high snow. In the North, the chance that two gauges pass their 1-in-50 level jumps, and the market price of the cover follows: from about half a million to about two million euros a year. The product card shows the same cover three ways: independence, Tulva, and Tulva after a snowy March. Under the hood, the same joint model runs on real quantum chips, IBM Marrakesh and IQM Garnet and Emerald, next to the exact answer and classical Monte Carlo. Finally, replay 2005: the Lapland cluster lights up, Kittilä and Ivalo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(1:50–2:11)]</a:t>
            </a:r>
          </a:p>
          <a:p>
            <a:r>
              <a:t>All fourteen areas load onto IQM Emerald: 18 qubits, 44 two-qubit gates, and at the 1-in-10 level it reproduces the joint tail. Amplitude estimation runs on a 3-qubit piece, Kittilä and Ivalo, on IBM and IQM: within 0.04 points of exact, and the snow warning survives: 3.1 times versus 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(2:11–2:23)]</a:t>
            </a:r>
          </a:p>
          <a:p>
            <a:r>
              <a:t>Honestly: classical Monte Carlo still wins today. Quantum could pay off with fault-tolerant hardware and expensive models: a full hydrological simulation per scenario, many perils, daily repricing.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(2:23–2:49)]</a:t>
            </a:r>
          </a:p>
          <a:p>
            <a:r>
              <a:t>Who buys? Finland's non-life insurers, for the flood risk they keep, and the reinsurers behind them. We license the pricing and trigger engine. Why now? From 2027, Solvency II gives Finland a flood factor with zero correlation to its neighbours. Our first step: a paid pilot with one Finnish insurer this autumn, feeding the 1 January reinsurance buy and ORSA.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(2:49–2:56)]</a:t>
            </a:r>
          </a:p>
          <a:p>
            <a:r>
              <a:t>Tulva prices Finland's spring floods as a joint risk, and runs it on real quantum hardware.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3657600" cy="4572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Tulva</a:t>
            </a:r>
            <a:r>
              <a:rPr sz="1400" b="0">
                <a:solidFill>
                  <a:srgbClr val="6B7280"/>
                </a:solidFill>
                <a:latin typeface="Arial"/>
              </a:rPr>
              <a:t>   spring-flood risk, priced jointly</a:t>
            </a:r>
          </a:p>
        </p:txBody>
      </p:sp>
      <p:sp>
        <p:nvSpPr>
          <p:cNvPr id="3" name="TextBox 2"/>
          <p:cNvSpPr txBox="1"/>
          <p:nvPr/>
        </p:nvSpPr>
        <p:spPr>
          <a:xfrm>
            <a:off x="548640" y="1691640"/>
            <a:ext cx="6217920" cy="2926080"/>
          </a:xfrm>
          <a:prstGeom prst="rect">
            <a:avLst/>
          </a:prstGeom>
          <a:noFill/>
        </p:spPr>
        <p:txBody>
          <a:bodyPr wrap="square" lIns="0" rIns="0" tIns="0" bIns="0" anchor="t">
            <a:spAutoFit/>
          </a:bodyPr>
          <a:lstStyle/>
          <a:p>
            <a:pPr algn="l">
              <a:lnSpc>
                <a:spcPct val="105000"/>
              </a:lnSpc>
              <a:spcAft>
                <a:spcPts val="1800"/>
              </a:spcAft>
            </a:pPr>
            <a:r>
              <a:rPr sz="4200" b="1">
                <a:solidFill>
                  <a:srgbClr val="0B1F3A"/>
                </a:solidFill>
                <a:latin typeface="Arial"/>
              </a:rPr>
              <a:t>In May 2005, Kittilä and Ivalo flooded </a:t>
            </a:r>
            <a:r>
              <a:rPr sz="4200" b="1">
                <a:solidFill>
                  <a:srgbClr val="1F6FEB"/>
                </a:solidFill>
                <a:latin typeface="Arial"/>
              </a:rPr>
              <a:t>together.</a:t>
            </a:r>
          </a:p>
          <a:p>
            <a:pPr algn="l">
              <a:lnSpc>
                <a:spcPct val="105000"/>
              </a:lnSpc>
              <a:spcAft>
                <a:spcPts val="1800"/>
              </a:spcAft>
            </a:pPr>
            <a:r>
              <a:rPr sz="2400" b="0">
                <a:solidFill>
                  <a:srgbClr val="6B7280"/>
                </a:solidFill>
                <a:latin typeface="Arial"/>
              </a:rPr>
              <a:t>The snow had warned us two months earlier.</a:t>
            </a:r>
          </a:p>
        </p:txBody>
      </p:sp>
      <p:sp>
        <p:nvSpPr>
          <p:cNvPr id="4" name="TextBox 3"/>
          <p:cNvSpPr txBox="1"/>
          <p:nvPr/>
        </p:nvSpPr>
        <p:spPr>
          <a:xfrm>
            <a:off x="548640" y="4206240"/>
            <a:ext cx="5852160" cy="822960"/>
          </a:xfrm>
          <a:prstGeom prst="rect">
            <a:avLst/>
          </a:prstGeom>
          <a:noFill/>
        </p:spPr>
        <p:txBody>
          <a:bodyPr wrap="square" lIns="0" rIns="0" tIns="0" bIns="0" anchor="t">
            <a:spAutoFit/>
          </a:bodyPr>
          <a:lstStyle/>
          <a:p>
            <a:pPr algn="l">
              <a:lnSpc>
                <a:spcPct val="100000"/>
              </a:lnSpc>
              <a:spcAft>
                <a:spcPts val="0"/>
              </a:spcAft>
            </a:pPr>
            <a:r>
              <a:rPr sz="1500" b="0">
                <a:solidFill>
                  <a:srgbClr val="0B1F3A"/>
                </a:solidFill>
                <a:latin typeface="Arial"/>
              </a:rPr>
              <a:t>1 March snow flagged 2005 in advance. Kittilä and Ivalo then passed their flood levels in the same spring.</a:t>
            </a:r>
          </a:p>
        </p:txBody>
      </p:sp>
      <p:pic>
        <p:nvPicPr>
          <p:cNvPr id="5" name="Picture 4" descr="map_2005.png"/>
          <p:cNvPicPr>
            <a:picLocks noChangeAspect="1"/>
          </p:cNvPicPr>
          <p:nvPr/>
        </p:nvPicPr>
        <p:blipFill>
          <a:blip r:embed="rId2"/>
          <a:stretch>
            <a:fillRect/>
          </a:stretch>
        </p:blipFill>
        <p:spPr>
          <a:xfrm>
            <a:off x="6949440" y="868680"/>
            <a:ext cx="4663440" cy="3828197"/>
          </a:xfrm>
          <a:prstGeom prst="rect">
            <a:avLst/>
          </a:prstGeom>
          <a:ln>
            <a:solidFill>
              <a:srgbClr val="DDE3EA"/>
            </a:solidFill>
          </a:ln>
        </p:spPr>
      </p:pic>
      <p:sp>
        <p:nvSpPr>
          <p:cNvPr id="6" name="TextBox 5"/>
          <p:cNvSpPr txBox="1"/>
          <p:nvPr/>
        </p:nvSpPr>
        <p:spPr>
          <a:xfrm>
            <a:off x="6949440" y="4788317"/>
            <a:ext cx="4663440" cy="274320"/>
          </a:xfrm>
          <a:prstGeom prst="rect">
            <a:avLst/>
          </a:prstGeom>
          <a:noFill/>
        </p:spPr>
        <p:txBody>
          <a:bodyPr wrap="square" lIns="0" rIns="0" tIns="0" bIns="0" anchor="t">
            <a:spAutoFit/>
          </a:bodyPr>
          <a:lstStyle/>
          <a:p>
            <a:pPr algn="r">
              <a:lnSpc>
                <a:spcPct val="100000"/>
              </a:lnSpc>
              <a:spcAft>
                <a:spcPts val="0"/>
              </a:spcAft>
            </a:pPr>
            <a:r>
              <a:rPr sz="1000" b="0">
                <a:solidFill>
                  <a:srgbClr val="6B7280"/>
                </a:solidFill>
                <a:latin typeface="Arial"/>
              </a:rPr>
              <a:t>Tulva app, year replay: spring 2005</a:t>
            </a:r>
          </a:p>
        </p:txBody>
      </p:sp>
      <p:sp>
        <p:nvSpPr>
          <p:cNvPr id="7" name="TextBox 6"/>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discharge 1961–2025 and 1 March snow (SWE); Tulva back-test (out/backtest.json)</a:t>
            </a:r>
          </a:p>
        </p:txBody>
      </p:sp>
      <p:sp>
        <p:nvSpPr>
          <p:cNvPr id="8" name="TextBox 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2</a:t>
            </a:r>
          </a:p>
        </p:txBody>
      </p:sp>
      <p:pic>
        <p:nvPicPr>
          <p:cNvPr id="5" name="Picture 4" descr="pitch_gap.png"/>
          <p:cNvPicPr>
            <a:picLocks noChangeAspect="1"/>
          </p:cNvPicPr>
          <p:nvPr/>
        </p:nvPicPr>
        <p:blipFill>
          <a:blip r:embed="rId2"/>
          <a:stretch>
            <a:fillRect/>
          </a:stretch>
        </p:blipFill>
        <p:spPr>
          <a:xfrm>
            <a:off x="548640" y="1463040"/>
            <a:ext cx="7223760" cy="4800600"/>
          </a:xfrm>
          <a:prstGeom prst="rect">
            <a:avLst/>
          </a:prstGeom>
        </p:spPr>
      </p:pic>
      <p:sp>
        <p:nvSpPr>
          <p:cNvPr id="6" name="TextBox 5"/>
          <p:cNvSpPr txBox="1"/>
          <p:nvPr/>
        </p:nvSpPr>
        <p:spPr>
          <a:xfrm>
            <a:off x="8183879" y="1508760"/>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Springs when ≥4 of the 14 river areas flooded (own 1-in-10 level)</a:t>
            </a:r>
          </a:p>
        </p:txBody>
      </p:sp>
      <p:sp>
        <p:nvSpPr>
          <p:cNvPr id="7" name="TextBox 6"/>
          <p:cNvSpPr txBox="1"/>
          <p:nvPr/>
        </p:nvSpPr>
        <p:spPr>
          <a:xfrm>
            <a:off x="8183879" y="205740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0B1F3A"/>
                </a:solidFill>
                <a:latin typeface="Arial"/>
              </a:rPr>
              <a:t>15.4 %</a:t>
            </a:r>
          </a:p>
        </p:txBody>
      </p:sp>
      <p:sp>
        <p:nvSpPr>
          <p:cNvPr id="8" name="TextBox 7"/>
          <p:cNvSpPr txBox="1"/>
          <p:nvPr/>
        </p:nvSpPr>
        <p:spPr>
          <a:xfrm>
            <a:off x="8183879" y="2626868"/>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observed, 1961–2025 (10 of 65 years)</a:t>
            </a:r>
          </a:p>
        </p:txBody>
      </p:sp>
      <p:sp>
        <p:nvSpPr>
          <p:cNvPr id="9" name="TextBox 8"/>
          <p:cNvSpPr txBox="1"/>
          <p:nvPr/>
        </p:nvSpPr>
        <p:spPr>
          <a:xfrm>
            <a:off x="8183879" y="30175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1F6FEB"/>
                </a:solidFill>
                <a:latin typeface="Arial"/>
              </a:rPr>
              <a:t>12.2 %</a:t>
            </a:r>
          </a:p>
        </p:txBody>
      </p:sp>
      <p:sp>
        <p:nvSpPr>
          <p:cNvPr id="10" name="TextBox 9"/>
          <p:cNvSpPr txBox="1"/>
          <p:nvPr/>
        </p:nvSpPr>
        <p:spPr>
          <a:xfrm>
            <a:off x="8183879" y="3586988"/>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 joint model</a:t>
            </a:r>
          </a:p>
        </p:txBody>
      </p:sp>
      <p:sp>
        <p:nvSpPr>
          <p:cNvPr id="11" name="TextBox 10"/>
          <p:cNvSpPr txBox="1"/>
          <p:nvPr/>
        </p:nvSpPr>
        <p:spPr>
          <a:xfrm>
            <a:off x="8183879" y="3977639"/>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D13B2F"/>
                </a:solidFill>
                <a:latin typeface="Arial"/>
              </a:rPr>
              <a:t>3.9 %</a:t>
            </a:r>
          </a:p>
        </p:txBody>
      </p:sp>
      <p:sp>
        <p:nvSpPr>
          <p:cNvPr id="12" name="TextBox 11"/>
          <p:cNvSpPr txBox="1"/>
          <p:nvPr/>
        </p:nvSpPr>
        <p:spPr>
          <a:xfrm>
            <a:off x="8183879" y="4547107"/>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if areas were independent</a:t>
            </a:r>
          </a:p>
        </p:txBody>
      </p:sp>
      <p:sp>
        <p:nvSpPr>
          <p:cNvPr id="13" name="Rectangle 12"/>
          <p:cNvSpPr/>
          <p:nvPr/>
        </p:nvSpPr>
        <p:spPr>
          <a:xfrm>
            <a:off x="8183879" y="4983480"/>
            <a:ext cx="347472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183879" y="5120640"/>
            <a:ext cx="3474720" cy="914400"/>
          </a:xfrm>
          <a:prstGeom prst="rect">
            <a:avLst/>
          </a:prstGeom>
          <a:noFill/>
        </p:spPr>
        <p:txBody>
          <a:bodyPr wrap="square" lIns="0" rIns="0" tIns="0" bIns="0" anchor="t">
            <a:spAutoFit/>
          </a:bodyPr>
          <a:lstStyle/>
          <a:p>
            <a:pPr algn="l">
              <a:lnSpc>
                <a:spcPct val="100000"/>
              </a:lnSpc>
              <a:spcAft>
                <a:spcPts val="600"/>
              </a:spcAft>
            </a:pPr>
            <a:r>
              <a:rPr sz="1250" b="0">
                <a:solidFill>
                  <a:srgbClr val="0B1F3A"/>
                </a:solidFill>
                <a:latin typeface="Arial"/>
              </a:rPr>
              <a:t>Home insurance pays only for floods rarer than 1-in-50.</a:t>
            </a:r>
          </a:p>
          <a:p>
            <a:pPr algn="l">
              <a:lnSpc>
                <a:spcPct val="100000"/>
              </a:lnSpc>
              <a:spcAft>
                <a:spcPts val="600"/>
              </a:spcAft>
            </a:pPr>
            <a:r>
              <a:rPr sz="1250" b="0">
                <a:solidFill>
                  <a:srgbClr val="0B1F3A"/>
                </a:solidFill>
                <a:latin typeface="Arial"/>
              </a:rPr>
              <a:t>Reinsurance renews 1 January, before the snow signal.</a:t>
            </a:r>
          </a:p>
        </p:txBody>
      </p:sp>
      <p:sp>
        <p:nvSpPr>
          <p:cNvPr id="15" name="TextBox 14"/>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1961–2025 (+ SMHI Torne), Tulva model (exact); vesi.fi / OP (1-in-50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bought in winter, pays in spring</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3</a:t>
            </a:r>
          </a:p>
        </p:txBody>
      </p:sp>
      <p:sp>
        <p:nvSpPr>
          <p:cNvPr id="5" name="Rounded Rectangle 4"/>
          <p:cNvSpPr/>
          <p:nvPr/>
        </p:nvSpPr>
        <p:spPr>
          <a:xfrm>
            <a:off x="548640" y="1417320"/>
            <a:ext cx="11094415" cy="868680"/>
          </a:xfrm>
          <a:prstGeom prst="roundRect">
            <a:avLst>
              <a:gd name="adj" fmla="val 12000"/>
            </a:avLst>
          </a:prstGeom>
          <a:solidFill>
            <a:srgbClr val="0B1F3A"/>
          </a:solidFill>
          <a:ln>
            <a:noFill/>
          </a:ln>
          <a:effectLst/>
        </p:spPr>
        <p:txBody>
          <a:bodyPr rtlCol="0" anchor="ctr"/>
          <a:lstStyle/>
          <a:p>
            <a:pPr algn="ctr"/>
          </a:p>
        </p:txBody>
      </p:sp>
      <p:sp>
        <p:nvSpPr>
          <p:cNvPr id="6" name="TextBox 5"/>
          <p:cNvSpPr txBox="1"/>
          <p:nvPr/>
        </p:nvSpPr>
        <p:spPr>
          <a:xfrm>
            <a:off x="914400" y="1417320"/>
            <a:ext cx="10362895" cy="868680"/>
          </a:xfrm>
          <a:prstGeom prst="rect">
            <a:avLst/>
          </a:prstGeom>
          <a:noFill/>
        </p:spPr>
        <p:txBody>
          <a:bodyPr wrap="square" lIns="0" rIns="0" tIns="0" bIns="0" anchor="ctr">
            <a:spAutoFit/>
          </a:bodyPr>
          <a:lstStyle/>
          <a:p>
            <a:pPr algn="l">
              <a:lnSpc>
                <a:spcPct val="100000"/>
              </a:lnSpc>
              <a:spcAft>
                <a:spcPts val="0"/>
              </a:spcAft>
            </a:pPr>
            <a:r>
              <a:rPr sz="2400" b="1">
                <a:solidFill>
                  <a:srgbClr val="FFFFFF"/>
                </a:solidFill>
                <a:latin typeface="Arial"/>
              </a:rPr>
              <a:t>Pays €10M</a:t>
            </a:r>
            <a:r>
              <a:rPr sz="2400" b="0">
                <a:solidFill>
                  <a:srgbClr val="FFFFFF"/>
                </a:solidFill>
                <a:latin typeface="Arial"/>
              </a:rPr>
              <a:t> if ≥2 of 5 northern gauges pass their 1-in-50 level this spring</a:t>
            </a:r>
          </a:p>
        </p:txBody>
      </p:sp>
      <p:sp>
        <p:nvSpPr>
          <p:cNvPr id="7" name="TextBox 6"/>
          <p:cNvSpPr txBox="1"/>
          <p:nvPr/>
        </p:nvSpPr>
        <p:spPr>
          <a:xfrm>
            <a:off x="548640" y="2468880"/>
            <a:ext cx="548640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MARKET PRICE PER YEAR</a:t>
            </a:r>
          </a:p>
        </p:txBody>
      </p:sp>
      <p:pic>
        <p:nvPicPr>
          <p:cNvPr id="8" name="Picture 7" descr="pitch_cost.png"/>
          <p:cNvPicPr>
            <a:picLocks noChangeAspect="1"/>
          </p:cNvPicPr>
          <p:nvPr/>
        </p:nvPicPr>
        <p:blipFill>
          <a:blip r:embed="rId2"/>
          <a:stretch>
            <a:fillRect/>
          </a:stretch>
        </p:blipFill>
        <p:spPr>
          <a:xfrm>
            <a:off x="1965198" y="2697480"/>
            <a:ext cx="8261299" cy="2560320"/>
          </a:xfrm>
          <a:prstGeom prst="rect">
            <a:avLst/>
          </a:prstGeom>
        </p:spPr>
      </p:pic>
      <p:sp>
        <p:nvSpPr>
          <p:cNvPr id="9" name="Rectangle 8"/>
          <p:cNvSpPr/>
          <p:nvPr/>
        </p:nvSpPr>
        <p:spPr>
          <a:xfrm>
            <a:off x="548640" y="5349240"/>
            <a:ext cx="11094415" cy="18288"/>
          </a:xfrm>
          <a:prstGeom prst="rect">
            <a:avLst/>
          </a:prstGeom>
          <a:solidFill>
            <a:srgbClr val="DDE3EA"/>
          </a:solidFill>
          <a:ln>
            <a:noFill/>
          </a:ln>
          <a:effectLst/>
        </p:spPr>
        <p:txBody>
          <a:bodyPr rtlCol="0" anchor="ctr"/>
          <a:lstStyle/>
          <a:p>
            <a:pPr algn="ctr"/>
          </a:p>
        </p:txBody>
      </p:sp>
      <p:sp>
        <p:nvSpPr>
          <p:cNvPr id="10" name="Rectangle 9"/>
          <p:cNvSpPr/>
          <p:nvPr/>
        </p:nvSpPr>
        <p:spPr>
          <a:xfrm>
            <a:off x="548640" y="5532120"/>
            <a:ext cx="64008" cy="548640"/>
          </a:xfrm>
          <a:prstGeom prst="rect">
            <a:avLst/>
          </a:prstGeom>
          <a:solidFill>
            <a:srgbClr val="1F6FEB"/>
          </a:solidFill>
          <a:ln>
            <a:noFill/>
          </a:ln>
          <a:effectLst/>
        </p:spPr>
        <p:txBody>
          <a:bodyPr rtlCol="0" anchor="ctr"/>
          <a:lstStyle/>
          <a:p>
            <a:pPr algn="ctr"/>
          </a:p>
        </p:txBody>
      </p:sp>
      <p:sp>
        <p:nvSpPr>
          <p:cNvPr id="11" name="TextBox 10"/>
          <p:cNvSpPr txBox="1"/>
          <p:nvPr/>
        </p:nvSpPr>
        <p:spPr>
          <a:xfrm>
            <a:off x="749808" y="5504688"/>
            <a:ext cx="3291840" cy="64008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Bought in winter</a:t>
            </a:r>
          </a:p>
          <a:p>
            <a:pPr algn="l">
              <a:lnSpc>
                <a:spcPct val="100000"/>
              </a:lnSpc>
              <a:spcAft>
                <a:spcPts val="0"/>
              </a:spcAft>
            </a:pPr>
            <a:r>
              <a:rPr sz="1300" b="0">
                <a:solidFill>
                  <a:srgbClr val="6B7280"/>
                </a:solidFill>
                <a:latin typeface="Arial"/>
              </a:rPr>
              <a:t>before the snow signal exists</a:t>
            </a:r>
          </a:p>
        </p:txBody>
      </p:sp>
      <p:sp>
        <p:nvSpPr>
          <p:cNvPr id="12" name="Rectangle 11"/>
          <p:cNvSpPr/>
          <p:nvPr/>
        </p:nvSpPr>
        <p:spPr>
          <a:xfrm>
            <a:off x="4274820" y="5532120"/>
            <a:ext cx="64008" cy="548640"/>
          </a:xfrm>
          <a:prstGeom prst="rect">
            <a:avLst/>
          </a:prstGeom>
          <a:solidFill>
            <a:srgbClr val="1F6FEB"/>
          </a:solidFill>
          <a:ln>
            <a:noFill/>
          </a:ln>
          <a:effectLst/>
        </p:spPr>
        <p:txBody>
          <a:bodyPr rtlCol="0" anchor="ctr"/>
          <a:lstStyle/>
          <a:p>
            <a:pPr algn="ctr"/>
          </a:p>
        </p:txBody>
      </p:sp>
      <p:sp>
        <p:nvSpPr>
          <p:cNvPr id="13" name="TextBox 12"/>
          <p:cNvSpPr txBox="1"/>
          <p:nvPr/>
        </p:nvSpPr>
        <p:spPr>
          <a:xfrm>
            <a:off x="4475988" y="5504688"/>
            <a:ext cx="3291840" cy="64008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Staged option</a:t>
            </a:r>
          </a:p>
          <a:p>
            <a:pPr algn="l">
              <a:lnSpc>
                <a:spcPct val="100000"/>
              </a:lnSpc>
              <a:spcAft>
                <a:spcPts val="0"/>
              </a:spcAft>
            </a:pPr>
            <a:r>
              <a:rPr sz="1300" b="0">
                <a:solidFill>
                  <a:srgbClr val="6B7280"/>
                </a:solidFill>
                <a:latin typeface="Arial"/>
              </a:rPr>
              <a:t>50 % paid at 2 gauges, 100 % at 3</a:t>
            </a:r>
          </a:p>
        </p:txBody>
      </p:sp>
      <p:sp>
        <p:nvSpPr>
          <p:cNvPr id="14" name="Rectangle 13"/>
          <p:cNvSpPr/>
          <p:nvPr/>
        </p:nvSpPr>
        <p:spPr>
          <a:xfrm>
            <a:off x="8001000" y="5532120"/>
            <a:ext cx="64008"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02168" y="5504688"/>
            <a:ext cx="3291840" cy="64008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Public-gauge trigger</a:t>
            </a:r>
          </a:p>
          <a:p>
            <a:pPr algn="l">
              <a:lnSpc>
                <a:spcPct val="100000"/>
              </a:lnSpc>
              <a:spcAft>
                <a:spcPts val="0"/>
              </a:spcAft>
            </a:pPr>
            <a:r>
              <a:rPr sz="1300" b="0">
                <a:solidFill>
                  <a:srgbClr val="6B7280"/>
                </a:solidFill>
                <a:latin typeface="Arial"/>
              </a:rPr>
              <a:t>SYKE gauges anyone can check</a:t>
            </a:r>
          </a:p>
        </p:txBody>
      </p:sp>
      <p:sp>
        <p:nvSpPr>
          <p:cNvPr id="16" name="TextBox 15"/>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1961–2025, Tulva model (exact; MC 1M agrees). Market price = 2.5–3.5× expected payout (AM Best cat bonds, flood 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400" b="0">
                <a:solidFill>
                  <a:srgbClr val="FFFFFF"/>
                </a:solidFill>
                <a:latin typeface="Arial"/>
              </a:rPr>
              <a:t>Live app: the joint-flood map → March snow outlook → index price → real quantum runs → 2005 replay</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FFFFFF"/>
                </a:solidFill>
                <a:latin typeface="Arial"/>
              </a:rPr>
              <a:t>Tulva</a:t>
            </a:r>
            <a:r>
              <a:rPr sz="11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2400" b="1">
                <a:solidFill>
                  <a:srgbClr val="0B1F3A"/>
                </a:solidFill>
                <a:latin typeface="Arial"/>
              </a:rPr>
              <a:t>The full model fits on a chip today; amplitude estimation works on a 3-qubit piece of it.</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5</a:t>
            </a:r>
          </a:p>
        </p:txBody>
      </p:sp>
      <p:pic>
        <p:nvPicPr>
          <p:cNvPr id="5" name="Picture 4" descr="loader_emerald.png"/>
          <p:cNvPicPr>
            <a:picLocks noChangeAspect="1"/>
          </p:cNvPicPr>
          <p:nvPr/>
        </p:nvPicPr>
        <p:blipFill>
          <a:blip r:embed="rId2"/>
          <a:stretch>
            <a:fillRect/>
          </a:stretch>
        </p:blipFill>
        <p:spPr>
          <a:xfrm>
            <a:off x="548640" y="1600200"/>
            <a:ext cx="6949440" cy="3891686"/>
          </a:xfrm>
          <a:prstGeom prst="rect">
            <a:avLst/>
          </a:prstGeom>
        </p:spPr>
      </p:pic>
      <p:sp>
        <p:nvSpPr>
          <p:cNvPr id="6" name="TextBox 5"/>
          <p:cNvSpPr txBox="1"/>
          <p:nvPr/>
        </p:nvSpPr>
        <p:spPr>
          <a:xfrm>
            <a:off x="548640" y="5623560"/>
            <a:ext cx="6949440" cy="365760"/>
          </a:xfrm>
          <a:prstGeom prst="rect">
            <a:avLst/>
          </a:prstGeom>
          <a:noFill/>
        </p:spPr>
        <p:txBody>
          <a:bodyPr wrap="square" lIns="0" rIns="0" tIns="0" bIns="0" anchor="t">
            <a:spAutoFit/>
          </a:bodyPr>
          <a:lstStyle/>
          <a:p>
            <a:pPr algn="l">
              <a:lnSpc>
                <a:spcPct val="100000"/>
              </a:lnSpc>
              <a:spcAft>
                <a:spcPts val="0"/>
              </a:spcAft>
            </a:pPr>
            <a:r>
              <a:rPr sz="1400" b="0">
                <a:solidFill>
                  <a:srgbClr val="0B1F3A"/>
                </a:solidFill>
                <a:latin typeface="Arial"/>
              </a:rPr>
              <a:t>At the 1-in-10 flood level, the chip reproduces the joint tail that independence misses.</a:t>
            </a:r>
          </a:p>
        </p:txBody>
      </p:sp>
      <p:sp>
        <p:nvSpPr>
          <p:cNvPr id="7" name="TextBox 6"/>
          <p:cNvSpPr txBox="1"/>
          <p:nvPr/>
        </p:nvSpPr>
        <p:spPr>
          <a:xfrm>
            <a:off x="7863840" y="1600200"/>
            <a:ext cx="379476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ALL 14 AREAS ON IQM EMERALD · 1-IN-10 LEVEL</a:t>
            </a:r>
          </a:p>
        </p:txBody>
      </p:sp>
      <p:sp>
        <p:nvSpPr>
          <p:cNvPr id="8" name="TextBox 7"/>
          <p:cNvSpPr txBox="1"/>
          <p:nvPr/>
        </p:nvSpPr>
        <p:spPr>
          <a:xfrm>
            <a:off x="7863840" y="1828800"/>
            <a:ext cx="182880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18</a:t>
            </a:r>
          </a:p>
        </p:txBody>
      </p:sp>
      <p:sp>
        <p:nvSpPr>
          <p:cNvPr id="9" name="TextBox 8"/>
          <p:cNvSpPr txBox="1"/>
          <p:nvPr/>
        </p:nvSpPr>
        <p:spPr>
          <a:xfrm>
            <a:off x="7863840" y="2368296"/>
            <a:ext cx="182880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qubits</a:t>
            </a:r>
          </a:p>
        </p:txBody>
      </p:sp>
      <p:sp>
        <p:nvSpPr>
          <p:cNvPr id="10" name="TextBox 9"/>
          <p:cNvSpPr txBox="1"/>
          <p:nvPr/>
        </p:nvSpPr>
        <p:spPr>
          <a:xfrm>
            <a:off x="9784080" y="1828800"/>
            <a:ext cx="182880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44</a:t>
            </a:r>
          </a:p>
        </p:txBody>
      </p:sp>
      <p:sp>
        <p:nvSpPr>
          <p:cNvPr id="11" name="TextBox 10"/>
          <p:cNvSpPr txBox="1"/>
          <p:nvPr/>
        </p:nvSpPr>
        <p:spPr>
          <a:xfrm>
            <a:off x="9784080" y="2368296"/>
            <a:ext cx="182880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two-qubit gates</a:t>
            </a:r>
          </a:p>
        </p:txBody>
      </p:sp>
      <p:sp>
        <p:nvSpPr>
          <p:cNvPr id="12" name="Rectangle 11"/>
          <p:cNvSpPr/>
          <p:nvPr/>
        </p:nvSpPr>
        <p:spPr>
          <a:xfrm>
            <a:off x="7863840" y="2852928"/>
            <a:ext cx="3794760" cy="13716"/>
          </a:xfrm>
          <a:prstGeom prst="rect">
            <a:avLst/>
          </a:prstGeom>
          <a:solidFill>
            <a:srgbClr val="DDE3EA"/>
          </a:solidFill>
          <a:ln>
            <a:noFill/>
          </a:ln>
          <a:effectLst/>
        </p:spPr>
        <p:txBody>
          <a:bodyPr rtlCol="0" anchor="ctr"/>
          <a:lstStyle/>
          <a:p>
            <a:pPr algn="ctr"/>
          </a:p>
        </p:txBody>
      </p:sp>
      <p:sp>
        <p:nvSpPr>
          <p:cNvPr id="13" name="TextBox 12"/>
          <p:cNvSpPr txBox="1"/>
          <p:nvPr/>
        </p:nvSpPr>
        <p:spPr>
          <a:xfrm>
            <a:off x="7863840" y="2971800"/>
            <a:ext cx="379476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AMPLITUDE ESTIMATION, IBM &amp; IQM</a:t>
            </a:r>
          </a:p>
        </p:txBody>
      </p:sp>
      <p:sp>
        <p:nvSpPr>
          <p:cNvPr id="14" name="TextBox 13"/>
          <p:cNvSpPr txBox="1"/>
          <p:nvPr/>
        </p:nvSpPr>
        <p:spPr>
          <a:xfrm>
            <a:off x="7863840" y="3218688"/>
            <a:ext cx="379476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P(Kittilä and Ivalo both pass 1-in-50)</a:t>
            </a:r>
          </a:p>
        </p:txBody>
      </p:sp>
      <p:sp>
        <p:nvSpPr>
          <p:cNvPr id="15" name="TextBox 14"/>
          <p:cNvSpPr txBox="1"/>
          <p:nvPr/>
        </p:nvSpPr>
        <p:spPr>
          <a:xfrm>
            <a:off x="7863840" y="3547872"/>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Exact</a:t>
            </a:r>
          </a:p>
        </p:txBody>
      </p:sp>
      <p:sp>
        <p:nvSpPr>
          <p:cNvPr id="16" name="TextBox 15"/>
          <p:cNvSpPr txBox="1"/>
          <p:nvPr/>
        </p:nvSpPr>
        <p:spPr>
          <a:xfrm>
            <a:off x="9555480" y="3566160"/>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
            </a:r>
          </a:p>
        </p:txBody>
      </p:sp>
      <p:sp>
        <p:nvSpPr>
          <p:cNvPr id="17" name="TextBox 16"/>
          <p:cNvSpPr txBox="1"/>
          <p:nvPr/>
        </p:nvSpPr>
        <p:spPr>
          <a:xfrm>
            <a:off x="10515600" y="3474720"/>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0B1F3A"/>
                </a:solidFill>
                <a:latin typeface="Arial"/>
              </a:rPr>
              <a:t>0.125 %</a:t>
            </a:r>
          </a:p>
        </p:txBody>
      </p:sp>
      <p:sp>
        <p:nvSpPr>
          <p:cNvPr id="18" name="Rectangle 17"/>
          <p:cNvSpPr/>
          <p:nvPr/>
        </p:nvSpPr>
        <p:spPr>
          <a:xfrm>
            <a:off x="7863840" y="3931920"/>
            <a:ext cx="3794760" cy="10972"/>
          </a:xfrm>
          <a:prstGeom prst="rect">
            <a:avLst/>
          </a:prstGeom>
          <a:solidFill>
            <a:srgbClr val="DDE3EA"/>
          </a:solidFill>
          <a:ln>
            <a:noFill/>
          </a:ln>
          <a:effectLst/>
        </p:spPr>
        <p:txBody>
          <a:bodyPr rtlCol="0" anchor="ctr"/>
          <a:lstStyle/>
          <a:p>
            <a:pPr algn="ctr"/>
          </a:p>
        </p:txBody>
      </p:sp>
      <p:sp>
        <p:nvSpPr>
          <p:cNvPr id="19" name="TextBox 18"/>
          <p:cNvSpPr txBox="1"/>
          <p:nvPr/>
        </p:nvSpPr>
        <p:spPr>
          <a:xfrm>
            <a:off x="7863840" y="4023360"/>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IBM Marrakesh</a:t>
            </a:r>
          </a:p>
        </p:txBody>
      </p:sp>
      <p:sp>
        <p:nvSpPr>
          <p:cNvPr id="20" name="TextBox 19"/>
          <p:cNvSpPr txBox="1"/>
          <p:nvPr/>
        </p:nvSpPr>
        <p:spPr>
          <a:xfrm>
            <a:off x="9555480" y="4041648"/>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0.262 →</a:t>
            </a:r>
          </a:p>
        </p:txBody>
      </p:sp>
      <p:sp>
        <p:nvSpPr>
          <p:cNvPr id="21" name="TextBox 20"/>
          <p:cNvSpPr txBox="1"/>
          <p:nvPr/>
        </p:nvSpPr>
        <p:spPr>
          <a:xfrm>
            <a:off x="10515600" y="3950208"/>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1F6FEB"/>
                </a:solidFill>
                <a:latin typeface="Arial"/>
              </a:rPr>
              <a:t>0.148 %</a:t>
            </a:r>
          </a:p>
        </p:txBody>
      </p:sp>
      <p:sp>
        <p:nvSpPr>
          <p:cNvPr id="22" name="Rectangle 21"/>
          <p:cNvSpPr/>
          <p:nvPr/>
        </p:nvSpPr>
        <p:spPr>
          <a:xfrm>
            <a:off x="7863840" y="4407408"/>
            <a:ext cx="3794760" cy="10972"/>
          </a:xfrm>
          <a:prstGeom prst="rect">
            <a:avLst/>
          </a:prstGeom>
          <a:solidFill>
            <a:srgbClr val="DDE3EA"/>
          </a:solidFill>
          <a:ln>
            <a:noFill/>
          </a:ln>
          <a:effectLst/>
        </p:spPr>
        <p:txBody>
          <a:bodyPr rtlCol="0" anchor="ctr"/>
          <a:lstStyle/>
          <a:p>
            <a:pPr algn="ctr"/>
          </a:p>
        </p:txBody>
      </p:sp>
      <p:sp>
        <p:nvSpPr>
          <p:cNvPr id="23" name="TextBox 22"/>
          <p:cNvSpPr txBox="1"/>
          <p:nvPr/>
        </p:nvSpPr>
        <p:spPr>
          <a:xfrm>
            <a:off x="7863840" y="4498848"/>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IQM Garnet</a:t>
            </a:r>
          </a:p>
        </p:txBody>
      </p:sp>
      <p:sp>
        <p:nvSpPr>
          <p:cNvPr id="24" name="TextBox 23"/>
          <p:cNvSpPr txBox="1"/>
          <p:nvPr/>
        </p:nvSpPr>
        <p:spPr>
          <a:xfrm>
            <a:off x="9555480" y="4517136"/>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0.368 →</a:t>
            </a:r>
          </a:p>
        </p:txBody>
      </p:sp>
      <p:sp>
        <p:nvSpPr>
          <p:cNvPr id="25" name="TextBox 24"/>
          <p:cNvSpPr txBox="1"/>
          <p:nvPr/>
        </p:nvSpPr>
        <p:spPr>
          <a:xfrm>
            <a:off x="10515600" y="4425696"/>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1F6FEB"/>
                </a:solidFill>
                <a:latin typeface="Arial"/>
              </a:rPr>
              <a:t>0.163 %</a:t>
            </a:r>
          </a:p>
        </p:txBody>
      </p:sp>
      <p:sp>
        <p:nvSpPr>
          <p:cNvPr id="26" name="Rectangle 25"/>
          <p:cNvSpPr/>
          <p:nvPr/>
        </p:nvSpPr>
        <p:spPr>
          <a:xfrm>
            <a:off x="7863840" y="4882896"/>
            <a:ext cx="3794760" cy="10972"/>
          </a:xfrm>
          <a:prstGeom prst="rect">
            <a:avLst/>
          </a:prstGeom>
          <a:solidFill>
            <a:srgbClr val="DDE3EA"/>
          </a:solidFill>
          <a:ln>
            <a:noFill/>
          </a:ln>
          <a:effectLst/>
        </p:spPr>
        <p:txBody>
          <a:bodyPr rtlCol="0" anchor="ctr"/>
          <a:lstStyle/>
          <a:p>
            <a:pPr algn="ctr"/>
          </a:p>
        </p:txBody>
      </p:sp>
      <p:sp>
        <p:nvSpPr>
          <p:cNvPr id="27" name="TextBox 26"/>
          <p:cNvSpPr txBox="1"/>
          <p:nvPr/>
        </p:nvSpPr>
        <p:spPr>
          <a:xfrm>
            <a:off x="7863840" y="4928616"/>
            <a:ext cx="3794760" cy="274320"/>
          </a:xfrm>
          <a:prstGeom prst="rect">
            <a:avLst/>
          </a:prstGeom>
          <a:noFill/>
        </p:spPr>
        <p:txBody>
          <a:bodyPr wrap="square" lIns="0" rIns="0" tIns="0" bIns="0" anchor="t">
            <a:spAutoFit/>
          </a:bodyPr>
          <a:lstStyle/>
          <a:p>
            <a:pPr algn="r">
              <a:lnSpc>
                <a:spcPct val="100000"/>
              </a:lnSpc>
              <a:spcAft>
                <a:spcPts val="0"/>
              </a:spcAft>
            </a:pPr>
            <a:r>
              <a:rPr sz="1100" b="0">
                <a:solidFill>
                  <a:srgbClr val="6B7280"/>
                </a:solidFill>
                <a:latin typeface="Arial"/>
              </a:rPr>
              <a:t>raw → calibrated</a:t>
            </a:r>
          </a:p>
        </p:txBody>
      </p:sp>
      <p:sp>
        <p:nvSpPr>
          <p:cNvPr id="28" name="TextBox 27"/>
          <p:cNvSpPr txBox="1"/>
          <p:nvPr/>
        </p:nvSpPr>
        <p:spPr>
          <a:xfrm>
            <a:off x="7863840" y="5212080"/>
            <a:ext cx="3794760" cy="457200"/>
          </a:xfrm>
          <a:prstGeom prst="rect">
            <a:avLst/>
          </a:prstGeom>
          <a:noFill/>
        </p:spPr>
        <p:txBody>
          <a:bodyPr wrap="square" lIns="0" rIns="0" tIns="0" bIns="0" anchor="t">
            <a:spAutoFit/>
          </a:bodyPr>
          <a:lstStyle/>
          <a:p>
            <a:pPr algn="l">
              <a:lnSpc>
                <a:spcPct val="100000"/>
              </a:lnSpc>
              <a:spcAft>
                <a:spcPts val="0"/>
              </a:spcAft>
            </a:pPr>
            <a:r>
              <a:rPr sz="1200" b="0">
                <a:solidFill>
                  <a:srgbClr val="0B1F3A"/>
                </a:solidFill>
                <a:latin typeface="Arial"/>
              </a:rPr>
              <a:t>25 side-by-side copies on IBM Marrakesh · best-qubit selection from live calibration</a:t>
            </a:r>
          </a:p>
        </p:txBody>
      </p:sp>
      <p:sp>
        <p:nvSpPr>
          <p:cNvPr id="29" name="TextBox 28"/>
          <p:cNvSpPr txBox="1"/>
          <p:nvPr/>
        </p:nvSpPr>
        <p:spPr>
          <a:xfrm>
            <a:off x="7863840" y="5715000"/>
            <a:ext cx="3794760" cy="548640"/>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rial"/>
              </a:rPr>
              <a:t>Snow signal on the chip: </a:t>
            </a:r>
            <a:r>
              <a:rPr sz="1300" b="1">
                <a:solidFill>
                  <a:srgbClr val="1F6FEB"/>
                </a:solidFill>
                <a:latin typeface="Arial"/>
              </a:rPr>
              <a:t>snowy vs low March 3.1× (exact 2.7×)</a:t>
            </a:r>
          </a:p>
        </p:txBody>
      </p:sp>
      <p:sp>
        <p:nvSpPr>
          <p:cNvPr id="30" name="TextBox 29"/>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IQM Emerald job 01a11cd4…; snow: Emerald, 10 copies × 240k shots; ibm_marrakesh 25 copies (table: 20 best-qubit copies); IQM Garnet 4 copies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6</a:t>
            </a:r>
          </a:p>
        </p:txBody>
      </p:sp>
      <p:pic>
        <p:nvPicPr>
          <p:cNvPr id="5" name="Picture 4" descr="qae_scaling.png"/>
          <p:cNvPicPr>
            <a:picLocks noChangeAspect="1"/>
          </p:cNvPicPr>
          <p:nvPr/>
        </p:nvPicPr>
        <p:blipFill>
          <a:blip r:embed="rId2"/>
          <a:stretch>
            <a:fillRect/>
          </a:stretch>
        </p:blipFill>
        <p:spPr>
          <a:xfrm>
            <a:off x="548640" y="1508760"/>
            <a:ext cx="6949440" cy="4169663"/>
          </a:xfrm>
          <a:prstGeom prst="rect">
            <a:avLst/>
          </a:prstGeom>
        </p:spPr>
      </p:pic>
      <p:sp>
        <p:nvSpPr>
          <p:cNvPr id="6" name="TextBox 5"/>
          <p:cNvSpPr txBox="1"/>
          <p:nvPr/>
        </p:nvSpPr>
        <p:spPr>
          <a:xfrm>
            <a:off x="5386519" y="2364075"/>
            <a:ext cx="2377440" cy="274320"/>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rial"/>
              </a:rPr>
              <a:t>hardware today</a:t>
            </a:r>
          </a:p>
        </p:txBody>
      </p:sp>
      <p:sp>
        <p:nvSpPr>
          <p:cNvPr id="7" name="TextBox 6"/>
          <p:cNvSpPr txBox="1"/>
          <p:nvPr/>
        </p:nvSpPr>
        <p:spPr>
          <a:xfrm>
            <a:off x="5627076" y="3860878"/>
            <a:ext cx="2194560" cy="274320"/>
          </a:xfrm>
          <a:prstGeom prst="rect">
            <a:avLst/>
          </a:prstGeom>
          <a:noFill/>
        </p:spPr>
        <p:txBody>
          <a:bodyPr wrap="square" lIns="0" rIns="0" tIns="0" bIns="0" anchor="t">
            <a:spAutoFit/>
          </a:bodyPr>
          <a:lstStyle/>
          <a:p>
            <a:pPr algn="l">
              <a:lnSpc>
                <a:spcPct val="100000"/>
              </a:lnSpc>
              <a:spcAft>
                <a:spcPts val="0"/>
              </a:spcAft>
            </a:pPr>
            <a:r>
              <a:rPr sz="1300" b="1">
                <a:solidFill>
                  <a:srgbClr val="1F6FEB"/>
                </a:solidFill>
                <a:latin typeface="Arial"/>
              </a:rPr>
              <a:t>needs fault tolerance</a:t>
            </a:r>
          </a:p>
        </p:txBody>
      </p:sp>
      <p:sp>
        <p:nvSpPr>
          <p:cNvPr id="8" name="TextBox 7"/>
          <p:cNvSpPr txBox="1"/>
          <p:nvPr/>
        </p:nvSpPr>
        <p:spPr>
          <a:xfrm>
            <a:off x="8001000" y="1600200"/>
            <a:ext cx="3657600" cy="36576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Where quantum could pay off</a:t>
            </a:r>
          </a:p>
        </p:txBody>
      </p:sp>
      <p:sp>
        <p:nvSpPr>
          <p:cNvPr id="9" name="Rectangle 8"/>
          <p:cNvSpPr/>
          <p:nvPr/>
        </p:nvSpPr>
        <p:spPr>
          <a:xfrm>
            <a:off x="8001000" y="2221992"/>
            <a:ext cx="73152" cy="685800"/>
          </a:xfrm>
          <a:prstGeom prst="rect">
            <a:avLst/>
          </a:prstGeom>
          <a:solidFill>
            <a:srgbClr val="1F6FEB"/>
          </a:solidFill>
          <a:ln>
            <a:noFill/>
          </a:ln>
          <a:effectLst/>
        </p:spPr>
        <p:txBody>
          <a:bodyPr rtlCol="0" anchor="ctr"/>
          <a:lstStyle/>
          <a:p>
            <a:pPr algn="ctr"/>
          </a:p>
        </p:txBody>
      </p:sp>
      <p:sp>
        <p:nvSpPr>
          <p:cNvPr id="10" name="TextBox 9"/>
          <p:cNvSpPr txBox="1"/>
          <p:nvPr/>
        </p:nvSpPr>
        <p:spPr>
          <a:xfrm>
            <a:off x="8275320" y="214884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Fault-tolerant hardware</a:t>
            </a:r>
          </a:p>
          <a:p>
            <a:pPr algn="l">
              <a:lnSpc>
                <a:spcPct val="100000"/>
              </a:lnSpc>
              <a:spcAft>
                <a:spcPts val="0"/>
              </a:spcAft>
            </a:pPr>
            <a:r>
              <a:rPr sz="1300" b="0">
                <a:solidFill>
                  <a:srgbClr val="6B7280"/>
                </a:solidFill>
                <a:latin typeface="Arial"/>
              </a:rPr>
              <a:t>~8k logical qubits for comparable pricing (Chakrabarti et al. 2021)</a:t>
            </a:r>
          </a:p>
        </p:txBody>
      </p:sp>
      <p:sp>
        <p:nvSpPr>
          <p:cNvPr id="11" name="Rectangle 10"/>
          <p:cNvSpPr/>
          <p:nvPr/>
        </p:nvSpPr>
        <p:spPr>
          <a:xfrm>
            <a:off x="8001000" y="3273552"/>
            <a:ext cx="73152" cy="457200"/>
          </a:xfrm>
          <a:prstGeom prst="rect">
            <a:avLst/>
          </a:prstGeom>
          <a:solidFill>
            <a:srgbClr val="1F6FEB"/>
          </a:solidFill>
          <a:ln>
            <a:noFill/>
          </a:ln>
          <a:effectLst/>
        </p:spPr>
        <p:txBody>
          <a:bodyPr rtlCol="0" anchor="ctr"/>
          <a:lstStyle/>
          <a:p>
            <a:pPr algn="ctr"/>
          </a:p>
        </p:txBody>
      </p:sp>
      <p:sp>
        <p:nvSpPr>
          <p:cNvPr id="12" name="TextBox 11"/>
          <p:cNvSpPr txBox="1"/>
          <p:nvPr/>
        </p:nvSpPr>
        <p:spPr>
          <a:xfrm>
            <a:off x="8275320" y="320040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Expensive models</a:t>
            </a:r>
          </a:p>
          <a:p>
            <a:pPr algn="l">
              <a:lnSpc>
                <a:spcPct val="100000"/>
              </a:lnSpc>
              <a:spcAft>
                <a:spcPts val="0"/>
              </a:spcAft>
            </a:pPr>
            <a:r>
              <a:rPr sz="1300" b="0">
                <a:solidFill>
                  <a:srgbClr val="6B7280"/>
                </a:solidFill>
                <a:latin typeface="Arial"/>
              </a:rPr>
              <a:t>full hydrological simulation per scenario</a:t>
            </a:r>
          </a:p>
        </p:txBody>
      </p:sp>
      <p:sp>
        <p:nvSpPr>
          <p:cNvPr id="13" name="Rectangle 12"/>
          <p:cNvSpPr/>
          <p:nvPr/>
        </p:nvSpPr>
        <p:spPr>
          <a:xfrm>
            <a:off x="8001000" y="4325112"/>
            <a:ext cx="73152" cy="457200"/>
          </a:xfrm>
          <a:prstGeom prst="rect">
            <a:avLst/>
          </a:prstGeom>
          <a:solidFill>
            <a:srgbClr val="1F6FEB"/>
          </a:solidFill>
          <a:ln>
            <a:noFill/>
          </a:ln>
          <a:effectLst/>
        </p:spPr>
        <p:txBody>
          <a:bodyPr rtlCol="0" anchor="ctr"/>
          <a:lstStyle/>
          <a:p>
            <a:pPr algn="ctr"/>
          </a:p>
        </p:txBody>
      </p:sp>
      <p:sp>
        <p:nvSpPr>
          <p:cNvPr id="14" name="TextBox 13"/>
          <p:cNvSpPr txBox="1"/>
          <p:nvPr/>
        </p:nvSpPr>
        <p:spPr>
          <a:xfrm>
            <a:off x="8275320" y="425196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More work per price</a:t>
            </a:r>
          </a:p>
          <a:p>
            <a:pPr algn="l">
              <a:lnSpc>
                <a:spcPct val="100000"/>
              </a:lnSpc>
              <a:spcAft>
                <a:spcPts val="0"/>
              </a:spcAft>
            </a:pPr>
            <a:r>
              <a:rPr sz="1300" b="0">
                <a:solidFill>
                  <a:srgbClr val="6B7280"/>
                </a:solidFill>
                <a:latin typeface="Arial"/>
              </a:rPr>
              <a:t>multi-peril, daily repricing</a:t>
            </a:r>
          </a:p>
        </p:txBody>
      </p:sp>
      <p:sp>
        <p:nvSpPr>
          <p:cNvPr id="15" name="Rectangle 14"/>
          <p:cNvSpPr/>
          <p:nvPr/>
        </p:nvSpPr>
        <p:spPr>
          <a:xfrm>
            <a:off x="8001000" y="5349240"/>
            <a:ext cx="3657600" cy="18288"/>
          </a:xfrm>
          <a:prstGeom prst="rect">
            <a:avLst/>
          </a:prstGeom>
          <a:solidFill>
            <a:srgbClr val="DDE3EA"/>
          </a:solidFill>
          <a:ln>
            <a:noFill/>
          </a:ln>
          <a:effectLst/>
        </p:spPr>
        <p:txBody>
          <a:bodyPr rtlCol="0" anchor="ctr"/>
          <a:lstStyle/>
          <a:p>
            <a:pPr algn="ctr"/>
          </a:p>
        </p:txBody>
      </p:sp>
      <p:sp>
        <p:nvSpPr>
          <p:cNvPr id="16" name="TextBox 15"/>
          <p:cNvSpPr txBox="1"/>
          <p:nvPr/>
        </p:nvSpPr>
        <p:spPr>
          <a:xfrm>
            <a:off x="8001000" y="5440680"/>
            <a:ext cx="3657600" cy="640080"/>
          </a:xfrm>
          <a:prstGeom prst="rect">
            <a:avLst/>
          </a:prstGeom>
          <a:noFill/>
        </p:spPr>
        <p:txBody>
          <a:bodyPr wrap="square" lIns="0" rIns="0" tIns="0" bIns="0" anchor="t">
            <a:spAutoFit/>
          </a:bodyPr>
          <a:lstStyle/>
          <a:p>
            <a:pPr algn="l">
              <a:lnSpc>
                <a:spcPct val="100000"/>
              </a:lnSpc>
              <a:spcAft>
                <a:spcPts val="0"/>
              </a:spcAft>
            </a:pPr>
            <a:r>
              <a:rPr sz="1300" b="0">
                <a:solidFill>
                  <a:srgbClr val="0B1F3A"/>
                </a:solidFill>
                <a:latin typeface="Arial"/>
              </a:rPr>
              <a:t>Ideal QAE error falls like 1/N, Monte Carlo like 1/√N.</a:t>
            </a:r>
          </a:p>
        </p:txBody>
      </p:sp>
      <p:sp>
        <p:nvSpPr>
          <p:cNvPr id="17" name="TextBox 16"/>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Tulva simulations (qae-sim) + IBM Marrakesh / IQM Garnet runs; Chakrabarti et al., Quantum 5, 463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7</a:t>
            </a:r>
          </a:p>
        </p:txBody>
      </p:sp>
      <p:sp>
        <p:nvSpPr>
          <p:cNvPr id="5" name="Rectangle 4"/>
          <p:cNvSpPr/>
          <p:nvPr/>
        </p:nvSpPr>
        <p:spPr>
          <a:xfrm>
            <a:off x="548640" y="1508760"/>
            <a:ext cx="2606040" cy="38862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508760"/>
            <a:ext cx="2606040"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77240"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WHO BUYS</a:t>
            </a:r>
          </a:p>
        </p:txBody>
      </p:sp>
      <p:sp>
        <p:nvSpPr>
          <p:cNvPr id="8" name="TextBox 7"/>
          <p:cNvSpPr txBox="1"/>
          <p:nvPr/>
        </p:nvSpPr>
        <p:spPr>
          <a:xfrm>
            <a:off x="777240"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Finnish non-life insurers</a:t>
            </a:r>
          </a:p>
        </p:txBody>
      </p:sp>
      <p:sp>
        <p:nvSpPr>
          <p:cNvPr id="9" name="TextBox 8"/>
          <p:cNvSpPr txBox="1"/>
          <p:nvPr/>
        </p:nvSpPr>
        <p:spPr>
          <a:xfrm>
            <a:off x="777240"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For the flood they keep under reinsurance. Four groups write 91 % of the market. Then reinsurers and ILS investors.</a:t>
            </a:r>
          </a:p>
        </p:txBody>
      </p:sp>
      <p:sp>
        <p:nvSpPr>
          <p:cNvPr id="10" name="Rectangle 9"/>
          <p:cNvSpPr/>
          <p:nvPr/>
        </p:nvSpPr>
        <p:spPr>
          <a:xfrm>
            <a:off x="3331159" y="1508760"/>
            <a:ext cx="2606040" cy="3886200"/>
          </a:xfrm>
          <a:prstGeom prst="rect">
            <a:avLst/>
          </a:prstGeom>
          <a:solidFill>
            <a:srgbClr val="F3F6FA"/>
          </a:solidFill>
          <a:ln>
            <a:noFill/>
          </a:ln>
          <a:effectLst/>
        </p:spPr>
        <p:txBody>
          <a:bodyPr rtlCol="0" anchor="ctr"/>
          <a:lstStyle/>
          <a:p>
            <a:pPr algn="ctr"/>
          </a:p>
        </p:txBody>
      </p:sp>
      <p:sp>
        <p:nvSpPr>
          <p:cNvPr id="11" name="Rectangle 10"/>
          <p:cNvSpPr/>
          <p:nvPr/>
        </p:nvSpPr>
        <p:spPr>
          <a:xfrm>
            <a:off x="3331159" y="1508760"/>
            <a:ext cx="2606040" cy="64008"/>
          </a:xfrm>
          <a:prstGeom prst="rect">
            <a:avLst/>
          </a:prstGeom>
          <a:solidFill>
            <a:srgbClr val="1F6FEB"/>
          </a:solidFill>
          <a:ln>
            <a:noFill/>
          </a:ln>
          <a:effectLst/>
        </p:spPr>
        <p:txBody>
          <a:bodyPr rtlCol="0" anchor="ctr"/>
          <a:lstStyle/>
          <a:p>
            <a:pPr algn="ctr"/>
          </a:p>
        </p:txBody>
      </p:sp>
      <p:sp>
        <p:nvSpPr>
          <p:cNvPr id="12" name="TextBox 11"/>
          <p:cNvSpPr txBox="1"/>
          <p:nvPr/>
        </p:nvSpPr>
        <p:spPr>
          <a:xfrm>
            <a:off x="3559759"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HOW WE EARN</a:t>
            </a:r>
          </a:p>
        </p:txBody>
      </p:sp>
      <p:sp>
        <p:nvSpPr>
          <p:cNvPr id="13" name="TextBox 12"/>
          <p:cNvSpPr txBox="1"/>
          <p:nvPr/>
        </p:nvSpPr>
        <p:spPr>
          <a:xfrm>
            <a:off x="3559759"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Engine licence</a:t>
            </a:r>
          </a:p>
        </p:txBody>
      </p:sp>
      <p:sp>
        <p:nvSpPr>
          <p:cNvPr id="14" name="TextBox 13"/>
          <p:cNvSpPr txBox="1"/>
          <p:nvPr/>
        </p:nvSpPr>
        <p:spPr>
          <a:xfrm>
            <a:off x="3559759"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Pricing and trigger engine, licensed per insurer or reinsurer. Structuring fee on placed covers.</a:t>
            </a:r>
          </a:p>
        </p:txBody>
      </p:sp>
      <p:sp>
        <p:nvSpPr>
          <p:cNvPr id="15" name="Rectangle 14"/>
          <p:cNvSpPr/>
          <p:nvPr/>
        </p:nvSpPr>
        <p:spPr>
          <a:xfrm>
            <a:off x="6113678" y="1508760"/>
            <a:ext cx="2606040" cy="3886200"/>
          </a:xfrm>
          <a:prstGeom prst="rect">
            <a:avLst/>
          </a:prstGeom>
          <a:solidFill>
            <a:srgbClr val="F3F6FA"/>
          </a:solidFill>
          <a:ln>
            <a:noFill/>
          </a:ln>
          <a:effectLst/>
        </p:spPr>
        <p:txBody>
          <a:bodyPr rtlCol="0" anchor="ctr"/>
          <a:lstStyle/>
          <a:p>
            <a:pPr algn="ctr"/>
          </a:p>
        </p:txBody>
      </p:sp>
      <p:sp>
        <p:nvSpPr>
          <p:cNvPr id="16" name="Rectangle 15"/>
          <p:cNvSpPr/>
          <p:nvPr/>
        </p:nvSpPr>
        <p:spPr>
          <a:xfrm>
            <a:off x="6113678" y="1508760"/>
            <a:ext cx="2606040" cy="64008"/>
          </a:xfrm>
          <a:prstGeom prst="rect">
            <a:avLst/>
          </a:prstGeom>
          <a:solidFill>
            <a:srgbClr val="D13B2F"/>
          </a:solidFill>
          <a:ln>
            <a:noFill/>
          </a:ln>
          <a:effectLst/>
        </p:spPr>
        <p:txBody>
          <a:bodyPr rtlCol="0" anchor="ctr"/>
          <a:lstStyle/>
          <a:p>
            <a:pPr algn="ctr"/>
          </a:p>
        </p:txBody>
      </p:sp>
      <p:sp>
        <p:nvSpPr>
          <p:cNvPr id="17" name="TextBox 16"/>
          <p:cNvSpPr txBox="1"/>
          <p:nvPr/>
        </p:nvSpPr>
        <p:spPr>
          <a:xfrm>
            <a:off x="6342278"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D13B2F"/>
                </a:solidFill>
                <a:latin typeface="Arial"/>
              </a:rPr>
              <a:t>WHY NOW</a:t>
            </a:r>
          </a:p>
        </p:txBody>
      </p:sp>
      <p:sp>
        <p:nvSpPr>
          <p:cNvPr id="18" name="TextBox 17"/>
          <p:cNvSpPr txBox="1"/>
          <p:nvPr/>
        </p:nvSpPr>
        <p:spPr>
          <a:xfrm>
            <a:off x="6342278"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30 Jan 2027</a:t>
            </a:r>
          </a:p>
        </p:txBody>
      </p:sp>
      <p:sp>
        <p:nvSpPr>
          <p:cNvPr id="19" name="TextBox 18"/>
          <p:cNvSpPr txBox="1"/>
          <p:nvPr/>
        </p:nvSpPr>
        <p:spPr>
          <a:xfrm>
            <a:off x="6342278"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Solvency II flood factor for Finland: 0 % correlation with SE/NO/DK (25 % for snowmelt rejected). ORSA needs climate scenarios.</a:t>
            </a:r>
          </a:p>
        </p:txBody>
      </p:sp>
      <p:sp>
        <p:nvSpPr>
          <p:cNvPr id="20" name="Rectangle 19"/>
          <p:cNvSpPr/>
          <p:nvPr/>
        </p:nvSpPr>
        <p:spPr>
          <a:xfrm>
            <a:off x="8896197" y="1508760"/>
            <a:ext cx="2606040" cy="3886200"/>
          </a:xfrm>
          <a:prstGeom prst="rect">
            <a:avLst/>
          </a:prstGeom>
          <a:solidFill>
            <a:srgbClr val="F3F6FA"/>
          </a:solidFill>
          <a:ln>
            <a:noFill/>
          </a:ln>
          <a:effectLst/>
        </p:spPr>
        <p:txBody>
          <a:bodyPr rtlCol="0" anchor="ctr"/>
          <a:lstStyle/>
          <a:p>
            <a:pPr algn="ctr"/>
          </a:p>
        </p:txBody>
      </p:sp>
      <p:sp>
        <p:nvSpPr>
          <p:cNvPr id="21" name="Rectangle 20"/>
          <p:cNvSpPr/>
          <p:nvPr/>
        </p:nvSpPr>
        <p:spPr>
          <a:xfrm>
            <a:off x="8896197" y="1508760"/>
            <a:ext cx="2606040" cy="64008"/>
          </a:xfrm>
          <a:prstGeom prst="rect">
            <a:avLst/>
          </a:prstGeom>
          <a:solidFill>
            <a:srgbClr val="1F6FEB"/>
          </a:solidFill>
          <a:ln>
            <a:noFill/>
          </a:ln>
          <a:effectLst/>
        </p:spPr>
        <p:txBody>
          <a:bodyPr rtlCol="0" anchor="ctr"/>
          <a:lstStyle/>
          <a:p>
            <a:pPr algn="ctr"/>
          </a:p>
        </p:txBody>
      </p:sp>
      <p:sp>
        <p:nvSpPr>
          <p:cNvPr id="22" name="TextBox 21"/>
          <p:cNvSpPr txBox="1"/>
          <p:nvPr/>
        </p:nvSpPr>
        <p:spPr>
          <a:xfrm>
            <a:off x="9124797"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SCALE</a:t>
            </a:r>
          </a:p>
        </p:txBody>
      </p:sp>
      <p:sp>
        <p:nvSpPr>
          <p:cNvPr id="23" name="TextBox 22"/>
          <p:cNvSpPr txBox="1"/>
          <p:nvPr/>
        </p:nvSpPr>
        <p:spPr>
          <a:xfrm>
            <a:off x="9124797"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Finland → Nordics → Central Europe</a:t>
            </a:r>
          </a:p>
        </p:txBody>
      </p:sp>
      <p:sp>
        <p:nvSpPr>
          <p:cNvPr id="24" name="TextBox 23"/>
          <p:cNvSpPr txBox="1"/>
          <p:nvPr/>
        </p:nvSpPr>
        <p:spPr>
          <a:xfrm>
            <a:off x="9124797"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Same engine, any snowmelt or river region. Gävle 2021: SEK 1.9bn claims. Storm Boris 2024: €2.15bn insured.</a:t>
            </a:r>
          </a:p>
        </p:txBody>
      </p:sp>
      <p:sp>
        <p:nvSpPr>
          <p:cNvPr id="25" name="Rectangle 24"/>
          <p:cNvSpPr/>
          <p:nvPr/>
        </p:nvSpPr>
        <p:spPr>
          <a:xfrm>
            <a:off x="548640" y="5577840"/>
            <a:ext cx="73152" cy="411480"/>
          </a:xfrm>
          <a:prstGeom prst="rect">
            <a:avLst/>
          </a:prstGeom>
          <a:solidFill>
            <a:srgbClr val="1F6FEB"/>
          </a:solidFill>
          <a:ln>
            <a:noFill/>
          </a:ln>
          <a:effectLst/>
        </p:spPr>
        <p:txBody>
          <a:bodyPr rtlCol="0" anchor="ctr"/>
          <a:lstStyle/>
          <a:p>
            <a:pPr algn="ctr"/>
          </a:p>
        </p:txBody>
      </p:sp>
      <p:sp>
        <p:nvSpPr>
          <p:cNvPr id="26" name="TextBox 25"/>
          <p:cNvSpPr txBox="1"/>
          <p:nvPr/>
        </p:nvSpPr>
        <p:spPr>
          <a:xfrm>
            <a:off x="777240" y="5577840"/>
            <a:ext cx="11094415" cy="411480"/>
          </a:xfrm>
          <a:prstGeom prst="rect">
            <a:avLst/>
          </a:prstGeom>
          <a:noFill/>
        </p:spPr>
        <p:txBody>
          <a:bodyPr wrap="square" lIns="0" rIns="0" tIns="0" bIns="0" anchor="ctr">
            <a:spAutoFit/>
          </a:bodyPr>
          <a:lstStyle/>
          <a:p>
            <a:pPr algn="l">
              <a:lnSpc>
                <a:spcPct val="100000"/>
              </a:lnSpc>
              <a:spcAft>
                <a:spcPts val="0"/>
              </a:spcAft>
            </a:pPr>
            <a:r>
              <a:rPr sz="1500" b="1">
                <a:solidFill>
                  <a:srgbClr val="1F6FEB"/>
                </a:solidFill>
                <a:latin typeface="Arial"/>
              </a:rPr>
              <a:t>Ask  </a:t>
            </a:r>
            <a:r>
              <a:rPr sz="1500" b="1">
                <a:solidFill>
                  <a:srgbClr val="0B1F3A"/>
                </a:solidFill>
                <a:latin typeface="Arial"/>
              </a:rPr>
              <a:t>First step: a paid pilot with one Finnish insurer this autumn, feeding the 1 January reinsurance buy and ORSA.</a:t>
            </a:r>
          </a:p>
        </p:txBody>
      </p:sp>
      <p:sp>
        <p:nvSpPr>
          <p:cNvPr id="27" name="TextBox 26"/>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Sources: Finance Finland 2024; Del. Reg. (EU) 2026/269; EIOPA-BoS-24/462 §4.70; Finansinspektionen 2023 (Gävle); PERILS 2025 (Boris)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64008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600200"/>
            <a:ext cx="10515600" cy="1828800"/>
          </a:xfrm>
          <a:prstGeom prst="rect">
            <a:avLst/>
          </a:prstGeom>
          <a:noFill/>
        </p:spPr>
        <p:txBody>
          <a:bodyPr wrap="square" lIns="0" rIns="0" tIns="0" bIns="0" anchor="t">
            <a:spAutoFit/>
          </a:bodyPr>
          <a:lstStyle/>
          <a:p>
            <a:pPr algn="l">
              <a:lnSpc>
                <a:spcPct val="105000"/>
              </a:lnSpc>
              <a:spcAft>
                <a:spcPts val="0"/>
              </a:spcAft>
            </a:pPr>
            <a:r>
              <a:rPr sz="3800" b="1">
                <a:solidFill>
                  <a:srgbClr val="FFFFFF"/>
                </a:solidFill>
                <a:latin typeface="Arial"/>
              </a:rPr>
              <a:t>Tulva prices Finland's spring floods as a </a:t>
            </a:r>
            <a:r>
              <a:rPr sz="3800" b="1">
                <a:solidFill>
                  <a:srgbClr val="A9C8F5"/>
                </a:solidFill>
                <a:latin typeface="Arial"/>
              </a:rPr>
              <a:t>joint risk</a:t>
            </a:r>
            <a:r>
              <a:rPr sz="3800" b="1">
                <a:solidFill>
                  <a:srgbClr val="FFFFFF"/>
                </a:solidFill>
                <a:latin typeface="Arial"/>
              </a:rPr>
              <a:t>, and runs it on real quantum hardware.</a:t>
            </a:r>
          </a:p>
        </p:txBody>
      </p:sp>
      <p:sp>
        <p:nvSpPr>
          <p:cNvPr id="5" name="TextBox 4"/>
          <p:cNvSpPr txBox="1"/>
          <p:nvPr/>
        </p:nvSpPr>
        <p:spPr>
          <a:xfrm>
            <a:off x="731520" y="3794760"/>
            <a:ext cx="10058400" cy="320040"/>
          </a:xfrm>
          <a:prstGeom prst="rect">
            <a:avLst/>
          </a:prstGeom>
          <a:noFill/>
        </p:spPr>
        <p:txBody>
          <a:bodyPr wrap="square" lIns="0" rIns="0" tIns="0" bIns="0" anchor="t">
            <a:spAutoFit/>
          </a:bodyPr>
          <a:lstStyle/>
          <a:p>
            <a:pPr algn="l">
              <a:lnSpc>
                <a:spcPct val="100000"/>
              </a:lnSpc>
              <a:spcAft>
                <a:spcPts val="0"/>
              </a:spcAft>
            </a:pPr>
            <a:r>
              <a:rPr sz="1200" b="1">
                <a:solidFill>
                  <a:srgbClr val="A9C8F5"/>
                </a:solidFill>
                <a:latin typeface="Arial"/>
              </a:rPr>
              <a:t>BUILT THIS WEEKEND</a:t>
            </a:r>
          </a:p>
        </p:txBody>
      </p:sp>
      <p:sp>
        <p:nvSpPr>
          <p:cNvPr id="6" name="Rounded Rectangle 5"/>
          <p:cNvSpPr/>
          <p:nvPr/>
        </p:nvSpPr>
        <p:spPr>
          <a:xfrm>
            <a:off x="731520" y="4160520"/>
            <a:ext cx="2234793" cy="50292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4160520"/>
            <a:ext cx="2234793"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SYKE data pipeline</a:t>
            </a:r>
          </a:p>
        </p:txBody>
      </p:sp>
      <p:sp>
        <p:nvSpPr>
          <p:cNvPr id="8" name="Rounded Rectangle 7"/>
          <p:cNvSpPr/>
          <p:nvPr/>
        </p:nvSpPr>
        <p:spPr>
          <a:xfrm>
            <a:off x="3149193" y="4160520"/>
            <a:ext cx="2126894" cy="50292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3149193" y="4160520"/>
            <a:ext cx="2126894"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Joint flood model</a:t>
            </a:r>
          </a:p>
        </p:txBody>
      </p:sp>
      <p:sp>
        <p:nvSpPr>
          <p:cNvPr id="10" name="Rounded Rectangle 9"/>
          <p:cNvSpPr/>
          <p:nvPr/>
        </p:nvSpPr>
        <p:spPr>
          <a:xfrm>
            <a:off x="5458968" y="4160520"/>
            <a:ext cx="1695297" cy="50292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5458968" y="4160520"/>
            <a:ext cx="1695297"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Index pricing</a:t>
            </a:r>
          </a:p>
        </p:txBody>
      </p:sp>
      <p:sp>
        <p:nvSpPr>
          <p:cNvPr id="12" name="Rounded Rectangle 11"/>
          <p:cNvSpPr/>
          <p:nvPr/>
        </p:nvSpPr>
        <p:spPr>
          <a:xfrm>
            <a:off x="7337145" y="4160520"/>
            <a:ext cx="2018995" cy="50292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7337145" y="4160520"/>
            <a:ext cx="2018995"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QAE on IBM &amp; IQM</a:t>
            </a:r>
          </a:p>
        </p:txBody>
      </p:sp>
      <p:sp>
        <p:nvSpPr>
          <p:cNvPr id="14" name="TextBox 13"/>
          <p:cNvSpPr txBox="1"/>
          <p:nvPr/>
        </p:nvSpPr>
        <p:spPr>
          <a:xfrm>
            <a:off x="731520" y="525780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400" b="0">
                <a:solidFill>
                  <a:srgbClr val="A9C8F5"/>
                </a:solidFill>
                <a:latin typeface="Arial"/>
              </a:rPr>
              <a:t>Team 21 STUHI  ·  Quantum x Finance 2026, Hanken × Ultrahack</a:t>
            </a:r>
          </a:p>
        </p:txBody>
      </p:sp>
      <p:sp>
        <p:nvSpPr>
          <p:cNvPr id="15" name="TextBox 1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FFFFFF"/>
                </a:solidFill>
                <a:latin typeface="Arial"/>
              </a:rPr>
              <a:t>Tulva</a:t>
            </a:r>
            <a:r>
              <a:rPr sz="1100" b="0">
                <a:solidFill>
                  <a:srgbClr val="A9C8F5"/>
                </a:solidFill>
                <a:latin typeface="Arial"/>
              </a:rPr>
              <a:t>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