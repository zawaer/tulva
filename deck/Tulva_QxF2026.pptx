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[pause]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(0:12–0:28)]</a:t>
            </a:r>
          </a:p>
          <a:p>
            <a:r>
              <a:t>Rivers in one region share ONE snowpack, so they flood TOGETHER: big flood springs come almost FOUR times more often than if each river flooded alone. [pause] Insurers buy cover in autumn, BEFORE the snow.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(0:28–0:42)]</a:t>
            </a:r>
          </a:p>
          <a:p>
            <a:r>
              <a:t>Our index pays when SEVERAL northern rivers flood TOGETHER. The real cost of that risk is almost TWICE what the regulator's standard assumption gives. [pause] And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(0:42–1:27),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(1:27–1:40)]</a:t>
            </a:r>
          </a:p>
          <a:p>
            <a:r>
              <a:t>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(1:40–1:47)]</a:t>
            </a:r>
          </a:p>
          <a:p>
            <a:r>
              <a:t>And on a REAL quantum chip, a snowy March still shows about THREE times the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(1:47–1:56)]</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(1:56–2:28)]</a:t>
            </a:r>
          </a:p>
          <a:p>
            <a:r>
              <a:t>Our customers: insurers like OP and If. In March, two months before the melt, our index tells them how risky this spring is, so they can buy extra cover IN TIME, paid automatically on the index. They pay US a licence: 25 thousand to pilot, then 75 thousand a year. From 2027, capital rules assume the SAME flood risk every year, whatever the snow. Our ask: one insurer's flood claims,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(2:28–2:41)]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expected loss after a snowy March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On real chips, the snow effect still shows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sp>
        <p:nvSpPr>
          <p:cNvPr id="4" name="Rectangle 3"/>
          <p:cNvSpPr/>
          <p:nvPr/>
        </p:nvSpPr>
        <p:spPr>
          <a:xfrm>
            <a:off x="548640" y="1481328"/>
            <a:ext cx="292608" cy="292608"/>
          </a:xfrm>
          <a:prstGeom prst="rect">
            <a:avLst/>
          </a:prstGeom>
          <a:solidFill>
            <a:srgbClr val="1F6FEB"/>
          </a:solidFill>
          <a:ln>
            <a:noFill/>
          </a:ln>
          <a:effectLst/>
        </p:spPr>
        <p:txBody>
          <a:bodyPr rtlCol="0" anchor="ctr"/>
          <a:lstStyle/>
          <a:p>
            <a:pPr algn="ctr"/>
          </a:p>
        </p:txBody>
      </p:sp>
      <p:sp>
        <p:nvSpPr>
          <p:cNvPr id="5" name="TextBox 4"/>
          <p:cNvSpPr txBox="1"/>
          <p:nvPr/>
        </p:nvSpPr>
        <p:spPr>
          <a:xfrm>
            <a:off x="96012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6" name="Rectangle 5"/>
          <p:cNvSpPr/>
          <p:nvPr/>
        </p:nvSpPr>
        <p:spPr>
          <a:xfrm>
            <a:off x="2926080" y="1481328"/>
            <a:ext cx="292608" cy="292608"/>
          </a:xfrm>
          <a:prstGeom prst="rect">
            <a:avLst/>
          </a:prstGeom>
          <a:solidFill>
            <a:srgbClr val="8250DF"/>
          </a:solidFill>
          <a:ln>
            <a:noFill/>
          </a:ln>
          <a:effectLst/>
        </p:spPr>
        <p:txBody>
          <a:bodyPr rtlCol="0" anchor="ctr"/>
          <a:lstStyle/>
          <a:p>
            <a:pPr algn="ctr"/>
          </a:p>
        </p:txBody>
      </p:sp>
      <p:sp>
        <p:nvSpPr>
          <p:cNvPr id="7" name="TextBox 6"/>
          <p:cNvSpPr txBox="1"/>
          <p:nvPr/>
        </p:nvSpPr>
        <p:spPr>
          <a:xfrm>
            <a:off x="3337560" y="1371600"/>
            <a:ext cx="1828800" cy="50292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IQM chip</a:t>
            </a:r>
          </a:p>
        </p:txBody>
      </p:sp>
      <p:sp>
        <p:nvSpPr>
          <p:cNvPr id="8" name="Rectangle 7"/>
          <p:cNvSpPr/>
          <p:nvPr/>
        </p:nvSpPr>
        <p:spPr>
          <a:xfrm>
            <a:off x="822960" y="4380594"/>
            <a:ext cx="1143000" cy="877205"/>
          </a:xfrm>
          <a:prstGeom prst="rect">
            <a:avLst/>
          </a:prstGeom>
          <a:solidFill>
            <a:srgbClr val="1F6FEB"/>
          </a:solidFill>
          <a:ln>
            <a:noFill/>
          </a:ln>
          <a:effectLst/>
        </p:spPr>
        <p:txBody>
          <a:bodyPr rtlCol="0" anchor="ctr"/>
          <a:lstStyle/>
          <a:p>
            <a:pPr algn="ctr"/>
          </a:p>
        </p:txBody>
      </p:sp>
      <p:sp>
        <p:nvSpPr>
          <p:cNvPr id="9" name="Rectangle 8"/>
          <p:cNvSpPr/>
          <p:nvPr/>
        </p:nvSpPr>
        <p:spPr>
          <a:xfrm>
            <a:off x="2039112" y="4238559"/>
            <a:ext cx="1143000" cy="1019240"/>
          </a:xfrm>
          <a:prstGeom prst="rect">
            <a:avLst/>
          </a:prstGeom>
          <a:solidFill>
            <a:srgbClr val="8250DF"/>
          </a:solidFill>
          <a:ln>
            <a:noFill/>
          </a:ln>
          <a:effectLst/>
        </p:spPr>
        <p:txBody>
          <a:bodyPr rtlCol="0" anchor="ctr"/>
          <a:lstStyle/>
          <a:p>
            <a:pPr algn="ctr"/>
          </a:p>
        </p:txBody>
      </p:sp>
      <p:sp>
        <p:nvSpPr>
          <p:cNvPr id="10" name="TextBox 9"/>
          <p:cNvSpPr txBox="1"/>
          <p:nvPr/>
        </p:nvSpPr>
        <p:spPr>
          <a:xfrm>
            <a:off x="54864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Low-snow March</a:t>
            </a:r>
          </a:p>
        </p:txBody>
      </p:sp>
      <p:sp>
        <p:nvSpPr>
          <p:cNvPr id="11" name="Rectangle 10"/>
          <p:cNvSpPr/>
          <p:nvPr/>
        </p:nvSpPr>
        <p:spPr>
          <a:xfrm>
            <a:off x="3931920" y="2848396"/>
            <a:ext cx="1143000" cy="2409403"/>
          </a:xfrm>
          <a:prstGeom prst="rect">
            <a:avLst/>
          </a:prstGeom>
          <a:solidFill>
            <a:srgbClr val="1F6FEB"/>
          </a:solidFill>
          <a:ln>
            <a:noFill/>
          </a:ln>
          <a:effectLst/>
        </p:spPr>
        <p:txBody>
          <a:bodyPr rtlCol="0" anchor="ctr"/>
          <a:lstStyle/>
          <a:p>
            <a:pPr algn="ctr"/>
          </a:p>
        </p:txBody>
      </p:sp>
      <p:sp>
        <p:nvSpPr>
          <p:cNvPr id="12" name="Rectangle 11"/>
          <p:cNvSpPr/>
          <p:nvPr/>
        </p:nvSpPr>
        <p:spPr>
          <a:xfrm>
            <a:off x="5148072" y="2148840"/>
            <a:ext cx="1143000" cy="3108960"/>
          </a:xfrm>
          <a:prstGeom prst="rect">
            <a:avLst/>
          </a:prstGeom>
          <a:solidFill>
            <a:srgbClr val="8250DF"/>
          </a:solidFill>
          <a:ln>
            <a:noFill/>
          </a:ln>
          <a:effectLst/>
        </p:spPr>
        <p:txBody>
          <a:bodyPr rtlCol="0" anchor="ctr"/>
          <a:lstStyle/>
          <a:p>
            <a:pPr algn="ctr"/>
          </a:p>
        </p:txBody>
      </p:sp>
      <p:sp>
        <p:nvSpPr>
          <p:cNvPr id="13" name="TextBox 12"/>
          <p:cNvSpPr txBox="1"/>
          <p:nvPr/>
        </p:nvSpPr>
        <p:spPr>
          <a:xfrm>
            <a:off x="3657600" y="5349240"/>
            <a:ext cx="2907792"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Snowy March</a:t>
            </a:r>
          </a:p>
        </p:txBody>
      </p:sp>
      <p:sp>
        <p:nvSpPr>
          <p:cNvPr id="14" name="Rectangle 13"/>
          <p:cNvSpPr/>
          <p:nvPr/>
        </p:nvSpPr>
        <p:spPr>
          <a:xfrm>
            <a:off x="640080" y="5257800"/>
            <a:ext cx="603504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315200" y="146304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Snowy vs low-snow March</a:t>
            </a:r>
          </a:p>
        </p:txBody>
      </p:sp>
      <p:sp>
        <p:nvSpPr>
          <p:cNvPr id="16" name="TextBox 15"/>
          <p:cNvSpPr txBox="1"/>
          <p:nvPr/>
        </p:nvSpPr>
        <p:spPr>
          <a:xfrm>
            <a:off x="7315200" y="205740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8250DF"/>
                </a:solidFill>
                <a:latin typeface="Arial"/>
              </a:rPr>
              <a:t>3.05×</a:t>
            </a:r>
          </a:p>
        </p:txBody>
      </p:sp>
      <p:sp>
        <p:nvSpPr>
          <p:cNvPr id="17" name="TextBox 16"/>
          <p:cNvSpPr txBox="1"/>
          <p:nvPr/>
        </p:nvSpPr>
        <p:spPr>
          <a:xfrm>
            <a:off x="10195560" y="205740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on chip</a:t>
            </a:r>
          </a:p>
        </p:txBody>
      </p:sp>
      <p:sp>
        <p:nvSpPr>
          <p:cNvPr id="18" name="TextBox 17"/>
          <p:cNvSpPr txBox="1"/>
          <p:nvPr/>
        </p:nvSpPr>
        <p:spPr>
          <a:xfrm>
            <a:off x="7315200" y="3246120"/>
            <a:ext cx="2834640" cy="1005840"/>
          </a:xfrm>
          <a:prstGeom prst="rect">
            <a:avLst/>
          </a:prstGeom>
          <a:noFill/>
        </p:spPr>
        <p:txBody>
          <a:bodyPr wrap="square" lIns="0" rIns="0" tIns="0" bIns="0" anchor="ctr">
            <a:spAutoFit/>
          </a:bodyPr>
          <a:lstStyle/>
          <a:p>
            <a:pPr algn="l">
              <a:lnSpc>
                <a:spcPct val="100000"/>
              </a:lnSpc>
              <a:spcAft>
                <a:spcPts val="0"/>
              </a:spcAft>
            </a:pPr>
            <a:r>
              <a:rPr sz="7200" b="1">
                <a:solidFill>
                  <a:srgbClr val="1F6FEB"/>
                </a:solidFill>
                <a:latin typeface="Arial"/>
              </a:rPr>
              <a:t>2.75×</a:t>
            </a:r>
          </a:p>
        </p:txBody>
      </p:sp>
      <p:sp>
        <p:nvSpPr>
          <p:cNvPr id="19" name="TextBox 18"/>
          <p:cNvSpPr txBox="1"/>
          <p:nvPr/>
        </p:nvSpPr>
        <p:spPr>
          <a:xfrm>
            <a:off x="10195560" y="3246120"/>
            <a:ext cx="1554480" cy="1005840"/>
          </a:xfrm>
          <a:prstGeom prst="rect">
            <a:avLst/>
          </a:prstGeom>
          <a:noFill/>
        </p:spPr>
        <p:txBody>
          <a:bodyPr wrap="square" lIns="0" rIns="0" tIns="0" bIns="0" anchor="ctr">
            <a:spAutoFit/>
          </a:bodyPr>
          <a:lstStyle/>
          <a:p>
            <a:pPr algn="l">
              <a:lnSpc>
                <a:spcPct val="100000"/>
              </a:lnSpc>
              <a:spcAft>
                <a:spcPts val="0"/>
              </a:spcAft>
            </a:pPr>
            <a:r>
              <a:rPr sz="2800" b="0">
                <a:solidFill>
                  <a:srgbClr val="0B1F3A"/>
                </a:solidFill>
                <a:latin typeface="Arial"/>
              </a:rPr>
              <a:t>exact</a:t>
            </a:r>
          </a:p>
        </p:txBody>
      </p:sp>
      <p:sp>
        <p:nvSpPr>
          <p:cNvPr id="20" name="Rectangle 19"/>
          <p:cNvSpPr/>
          <p:nvPr/>
        </p:nvSpPr>
        <p:spPr>
          <a:xfrm>
            <a:off x="7315200" y="4617720"/>
            <a:ext cx="4325112" cy="18288"/>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315200" y="4754880"/>
            <a:ext cx="438912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Ran on</a:t>
            </a:r>
          </a:p>
        </p:txBody>
      </p:sp>
      <p:sp>
        <p:nvSpPr>
          <p:cNvPr id="22" name="TextBox 21"/>
          <p:cNvSpPr txBox="1"/>
          <p:nvPr/>
        </p:nvSpPr>
        <p:spPr>
          <a:xfrm>
            <a:off x="7315200" y="5212080"/>
            <a:ext cx="438912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IBM · IQM · VTT Q50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8</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440680"/>
            <a:ext cx="11094415" cy="822960"/>
          </a:xfrm>
          <a:prstGeom prst="roundRect">
            <a:avLst>
              <a:gd name="adj" fmla="val 12000"/>
            </a:avLst>
          </a:prstGeom>
          <a:solidFill>
            <a:srgbClr val="0B1F3A"/>
          </a:solidFill>
          <a:ln>
            <a:noFill/>
          </a:ln>
          <a:effectLst/>
        </p:spPr>
        <p:txBody>
          <a:bodyPr rtlCol="0" anchor="ctr"/>
          <a:lstStyle/>
          <a:p>
            <a:pPr algn="ctr"/>
          </a:p>
        </p:txBody>
      </p:sp>
      <p:sp>
        <p:nvSpPr>
          <p:cNvPr id="18" name="TextBox 17"/>
          <p:cNvSpPr txBox="1"/>
          <p:nvPr/>
        </p:nvSpPr>
        <p:spPr>
          <a:xfrm>
            <a:off x="914400" y="5440680"/>
            <a:ext cx="10545775" cy="82296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one insurer's flood claims, 8 weeks.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this weekend</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9</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