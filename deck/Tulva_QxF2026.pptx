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 (0:00–0:11)]</a:t>
            </a:r>
          </a:p>
          <a:p>
            <a:r>
              <a:t>In May 2005, four Lapland rivers hit flood levels TOGETHER. The snow had warned us two months EARLIER. Tulva turns that warning into a PRICE. [pause]</a:t>
            </a:r>
          </a:p>
          <a:p/>
          <a:p>
            <a:r>
              <a:t>Q&amp;A only (not spoken): "flood levels" = river flow (discharge) over each gauge's 1-in-10 level, not damage. Four = Ivalo, Kittilä, Rovaniemi, Tornio over their 1-in-10 level (the map's filled dots); Ivalo, Kittilä and Rovaniemi also passed their 1-in-50 level. "Warned us" = the North's 1 March snow was in its top 15 % (87th percentile): an in-sample back-test, not a forecast we made at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 (0:11–0:24)]</a:t>
            </a:r>
          </a:p>
          <a:p>
            <a:r>
              <a:t>Rivers in one region share ONE snowpack: they flood TOGETHER. [pause] Big flood springs come almost FOUR times more often than chance. Insurers buy cover in autumn, BEFORE the snow.</a:t>
            </a:r>
          </a:p>
          <a:p/>
          <a:p>
            <a:r>
              <a:t>Q&amp;A only (not spoken): 10 of 65 springs (15.4 %, 90 % interval 9–24 %) had ≥4 of 14 areas over 1-in-10; chance on the same gauge-years 3.9 % (3.9×). If all 14 gauges had reported every year, chance would be 4.4 % (3.5×).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product (0:24–0:40)]</a:t>
            </a:r>
          </a:p>
          <a:p>
            <a:r>
              <a:t>Our index pays when SEVERAL northern rivers pass a rare flood level TOGETHER. Its expected loss is 1.8 TIMES what the regulator's 2027 average correlation gives. [pause] After a snowy March, it TRIPLES from autumn.</a:t>
            </a:r>
          </a:p>
          <a:p/>
          <a:p>
            <a:r>
              <a:t>Q&amp;A only (not spoken): a model comparison, not "the rule implies a price": expected loss 1.96 % of the limit a year (year-bootstrap 90 %: 1.6–2.2 %) vs 1.11 % for a model with one correlation of 0.27, the mean of the 2027 Finnish 19-zone flood matrix (1.77×). We used the 19-zone mean, not the Lapland zones' own entries (the repo has neither the entries nor the zone-to-region map). ≈5× only against independence (0.38 %). "Triples" = 6.4 % after a top-15 % snow March vs the autumn (normal) 1.96 % (3.3×, 90 %: 2.1–4.4×): snowy vs NORMAL, for the 5-river cover. Not the same as slide 5's 3.05× (snowy vs LOW snow, two-river pair on chip; snowy vs normal there is 1.51× chip / 1.55× exact). The product pays the full limit at ≥2; a staged payout is only a variant. The cover is priced in autumn; in March the insurer buys a top-up / second-layer cover if it wants one, staffs claims in the regions at risk and uses the number in its ORSA. Market price (2.5–3.5× expected loss): 4.9–6.9 % rate on line, ≈ €49–69k a year per €1M of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video (0:40–1:17), narrated live]</a:t>
            </a:r>
          </a:p>
          <a:p>
            <a:r>
              <a:t>[0 s, map] This is our app. Lines join rivers that flood together. [5 s, snow high] March snow set to HIGH… and the northern price JUMPS. [12 s, low snow] IQM chip. Red: BOTH rivers flood. Low snow, little red. [18 s, snowy] Snowy versus low snow: about THREE times the risk, close to exact. [24 s, 14-area card] A simplified version of our 14-river model, on ONE chip. [29 s, 2005] And 2005: Lapland floods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in practice (1:17–1:32)]</a:t>
            </a:r>
          </a:p>
          <a:p>
            <a:r>
              <a:t>Our two-river core ran on IBM, IQM and Finland's VTT Q50; the simplified 14-river model on IQM's Emerald and Q50. [pause] On chip, the snow warning SURVIVES: snowy versus low snow, 3.05 times; exact, 2.75.</a:t>
            </a:r>
          </a:p>
          <a:p/>
          <a:p>
            <a:r>
              <a:t>Q&amp;A only (not spoken): the two-river core is a North-cluster pair with identical loadings and 1-in-50 trigger, not Kittilä and Ivalo specifically. Simplified = two-level (wet spring or not) version of the 14-river model, 18 qubits, sampling only. Method: calibrated sampling plus shallow amplitude estimation (Grover steps k = 0–2). Signal kept at k = 1 in the runs shown: Emerald 0.56–0.59, IBM / Garnet 0.77–0.78, VTT Q50 0.12–0.19 (earlier runs 0.65–0.88), so the estimate is mostly the calibrated k = 0 circuit. VTT Q50 (via LUMI): three repeats gave 0.11–0.53 % vs exact 0.125 %; calibration not yet stable, k = 1 keeps only 0.12–0.19 of the signal. It is the fourth computer we ran on, not a headline result (QA.md).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honestly (1:32–1:42)]</a:t>
            </a:r>
          </a:p>
          <a:p>
            <a:r>
              <a:t>Classical computers still WIN today. At 1-in-50, rare floods drown in noise. The method is READY. The hardware is not,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[Business (1:42–2:09)]</a:t>
            </a:r>
          </a:p>
          <a:p>
            <a:r>
              <a:t>Insurers like OP and If pay a reinsurer the premium, and US a licence: 25 thousand to pilot, then 75 thousand a year. Year three: up to 450 thousand. From 2027, the regulator's formula FIXES flood correlations, blind to snow. Insurers with their own model can use our snow-aware number. Our ask: one insurer's flood claims, eight weeks.</a:t>
            </a:r>
          </a:p>
          <a:p/>
          <a:p>
            <a:r>
              <a:t>Q&amp;A only (not spoken): premium per €10M North layer ≈ €0.5–0.7M a year (model × 2.5–3.5 market multiple) goes insurer → reinsurer; the licence goes insurer → Tulva (the reinsurer pays Tulva nothing). "The regulator's formula" = the 2027 Solvency II standard formula; "their own model" = an approved internal model (If: Sampo's partial internal model; we don't claim OP uses one). Year 3 = 3–6 insurers × €75k (assumption); Nordic snowmelt upside unsized (assumption). We'd like to pilot with OP; there is no agreement. Basis risk (1-in-10 back-test): paid in loss springs 1966, 2005, 2018; missed Ostrobothnia 2012–13 and 2024 (snow flag on, index silent) and Lapland 2020; since 2005 also paid in 2015, 2023 and 2024 in the North with no recorded Lapland loss. At the 1-in-50 product level: paid 1966 and 2005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(2:09–2:21)]</a:t>
            </a:r>
          </a:p>
          <a:p>
            <a:r>
              <a:t>Everything you saw, we built THIS weekend. [pause] Next March, the snow will warn us AGAIN. [long pause] This time, it will have a PRICE.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Tulva</a:t>
            </a:r>
            <a:r>
              <a:rPr sz="2000" b="0">
                <a:solidFill>
                  <a:srgbClr val="6B7280"/>
                </a:solidFill>
                <a:latin typeface="Arial"/>
              </a:rPr>
              <a:t>   spring-flood risk, priced jointly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4400" b="1">
                <a:solidFill>
                  <a:srgbClr val="0B1F3A"/>
                </a:solidFill>
                <a:latin typeface="Arial"/>
              </a:rPr>
              <a:t>In May 2005, four Lapland rivers hit flood levels </a:t>
            </a:r>
            <a:r>
              <a:rPr sz="4400" b="1">
                <a:solidFill>
                  <a:srgbClr val="1F6FEB"/>
                </a:solidFill>
                <a:latin typeface="Arial"/>
              </a:rPr>
              <a:t>together.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Lapland's snow had warned us two months earlier.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Flow over 1-in-10 level · snow top 15 % · in-sample</a:t>
            </a:r>
          </a:p>
        </p:txBody>
      </p:sp>
      <p:pic>
        <p:nvPicPr>
          <p:cNvPr id="4" name="Picture 3" descr="map_2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1480"/>
            <a:ext cx="5852160" cy="4804011"/>
          </a:xfrm>
          <a:prstGeom prst="rect">
            <a:avLst/>
          </a:prstGeom>
          <a:ln>
            <a:solidFill>
              <a:srgbClr val="DDE3EA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Ivalo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Kittilä</a:t>
            </a:r>
          </a:p>
        </p:txBody>
      </p:sp>
      <p:sp>
        <p:nvSpPr>
          <p:cNvPr id="9" name="Rectangle 8"/>
          <p:cNvSpPr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Rovaniemi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Tornio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5288643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Tulva app, spring 2005: filled = over its 1-in-10 flood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discharge 1961–2025 and 1 March snow (SWE)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Finland's rivers flood together, not one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Springs when ≥4 of 14 river areas pass their 1-in-10 flood level</a:t>
            </a:r>
          </a:p>
        </p:txBody>
      </p:sp>
      <p:pic>
        <p:nvPicPr>
          <p:cNvPr id="6" name="Picture 5" descr="pit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90" y="1783080"/>
            <a:ext cx="10682714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76072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Cover is bought in autumn. The snow signal comes in March.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1961–2025 (+ SMHI Torne); chance = rivers flood independently, same gauge-years as observed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Tulva Index: sold in autumn, updated in March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Pays the full limit if ≥2 of 5 northern rivers pass their 1-in-50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284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D13B2F"/>
                </a:solidFill>
                <a:latin typeface="Arial"/>
              </a:rPr>
              <a:t>Expected loss ≈1.8× a model with the 2027 matrix's average correlation (0.27)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27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EXPECTED LOSS, % OF THE LIMIT PER YEAR (90 % INTERVALS)</a:t>
            </a:r>
          </a:p>
        </p:txBody>
      </p:sp>
      <p:pic>
        <p:nvPicPr>
          <p:cNvPr id="9" name="Picture 8" descr="pitch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3429000"/>
            <a:ext cx="11064240" cy="1828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394960"/>
            <a:ext cx="11094415" cy="868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94960"/>
            <a:ext cx="9144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394960"/>
            <a:ext cx="106829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After a snowy March, expected loss triples vs autumn </a:t>
            </a:r>
            <a:r>
              <a:rPr sz="2000" b="1">
                <a:solidFill>
                  <a:srgbClr val="6B7280"/>
                </a:solidFill>
                <a:latin typeface="Arial"/>
              </a:rPr>
              <a:t>(1.96 % → 6.4 %; 90 %: 2.1–4.4×)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0B1F3A"/>
                </a:solidFill>
                <a:latin typeface="Arial"/>
              </a:rPr>
              <a:t>Priced in autumn. In March the insurer acts on it: top-up cover, claims staff in the regions at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SYKE 1961–2025, Tulva model, year-bootstrap intervals; 0.27 = mean of the 19-zone matrix, Del. Reg. (EU) 2026/269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tulva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0967" y="502920"/>
            <a:ext cx="9509759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Our app: joint-flood map → March snow → quantum chip → 2005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It runs on four real quantum computers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0B1F3A"/>
                </a:solidFill>
                <a:latin typeface="Arial"/>
              </a:rPr>
              <a:t>Snowy vs low-snow March: 3.05× on chip, 2.75× exact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051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Two-river North-cluster pair, IQM Emerald</a:t>
            </a:r>
          </a:p>
        </p:txBody>
      </p:sp>
      <p:pic>
        <p:nvPicPr>
          <p:cNvPr id="7" name="Picture 6" descr="pitch_s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4" y="2148840"/>
            <a:ext cx="664729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09560" y="141732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CALIBRATED SAMPLING + SHALLOW AMPLITUDE ESTIMATION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2860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Two-river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633472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IBM Marrakesh, IQM Garnet and Emerald, VTT Q50: 3 qubits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3200400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327355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Simplified 14-river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621024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Two-level version, 18 qubits, sampling only: IQM Emerald and VTT Q50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18795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4261104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VTT Q50, Finland's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60857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3 repeats: 0.11–0.53 % vs 0.125 % exact. Calibration not yet stable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5175504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Intervals, amplification, raw readings and job IDs: appendix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Classical Monte Carlo still wins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6</a:t>
            </a:r>
          </a:p>
        </p:txBody>
      </p:sp>
      <p:pic>
        <p:nvPicPr>
          <p:cNvPr id="5" name="Picture 4" descr="pitch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03" y="1463040"/>
            <a:ext cx="65717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Two-river North-cluster pair, both over 1-in-50: error vs 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Method ready, hardware not yet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103120"/>
            <a:ext cx="4160520" cy="17373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103120"/>
            <a:ext cx="73152" cy="1737360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03120"/>
            <a:ext cx="3749039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B1F3A"/>
                </a:solidFill>
                <a:latin typeface="Arial"/>
              </a:rPr>
              <a:t>Today: rare floods drown in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160520"/>
            <a:ext cx="4160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Prices are computed classically; quantum is the R&amp;D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349240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14-river chip runs and the noise control: 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Who pays whom, and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25925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25925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89349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TULVA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189349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Index + pricing licence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189349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€25k pilot, then ~€75k a year per insurer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893" y="2148839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2173" y="263347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licence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6573" y="1371600"/>
            <a:ext cx="225925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6573" y="1371600"/>
            <a:ext cx="225925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59453" y="1554480"/>
            <a:ext cx="189349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9453" y="1901952"/>
            <a:ext cx="189349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Finnish home insurers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9453" y="2999232"/>
            <a:ext cx="189349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OP, If, LähiTapiola,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35827" y="2148839"/>
            <a:ext cx="868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0107" y="2633472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premium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04507" y="1371600"/>
            <a:ext cx="225925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04507" y="1371600"/>
            <a:ext cx="225925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7387" y="1554480"/>
            <a:ext cx="189349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RISK CARRIER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7387" y="1901952"/>
            <a:ext cx="189349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A reinsurer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7387" y="2999232"/>
            <a:ext cx="189349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≈€0.5–0.7M a year per €10M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83801" y="1371600"/>
            <a:ext cx="225925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83801" y="1371600"/>
            <a:ext cx="2259253" cy="640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6681" y="1554480"/>
            <a:ext cx="189349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Arial"/>
              </a:rPr>
              <a:t>YEAR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6681" y="1901952"/>
            <a:ext cx="189349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3–6 insurers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× €75k ≈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€0.2–0.45M/yr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66681" y="2999232"/>
            <a:ext cx="189349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Upside: Nordic snowmelt (assumption)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86200"/>
            <a:ext cx="91440" cy="749808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3886200"/>
            <a:ext cx="10820095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D13B2F"/>
                </a:solidFill>
                <a:latin typeface="Arial"/>
              </a:rPr>
              <a:t>Why now  </a:t>
            </a:r>
            <a:r>
              <a:rPr sz="1700" b="1">
                <a:solidFill>
                  <a:srgbClr val="0B1F3A"/>
                </a:solidFill>
                <a:latin typeface="Arial"/>
              </a:rPr>
              <a:t>From 2027 the regulator's standard formula fixes flood correlations that ignore the snow; insurers with their own approved (internal) model, like If, can use a snow-aware joint-flood number.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727448"/>
            <a:ext cx="91440" cy="7498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4727448"/>
            <a:ext cx="10820095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Basis risk  </a:t>
            </a:r>
            <a:r>
              <a:rPr sz="1700" b="1">
                <a:solidFill>
                  <a:srgbClr val="0B1F3A"/>
                </a:solidFill>
                <a:latin typeface="Arial"/>
              </a:rPr>
              <a:t>1-in-10 back-test: paid in loss springs 1966, 2005, 2018; missed Ostrobothnia 2012–13, 2024 and Lapland 2020; since 2005 also paid in 3 North springs with no recorded loss (2015, 2023, 2024).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568696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59" y="5568696"/>
            <a:ext cx="1072865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A9C8F5"/>
                </a:solidFill>
                <a:latin typeface="Arial"/>
              </a:rPr>
              <a:t>Ask  </a:t>
            </a:r>
            <a:r>
              <a:rPr sz="1900" b="1">
                <a:solidFill>
                  <a:srgbClr val="FFFFFF"/>
                </a:solidFill>
                <a:latin typeface="Arial"/>
              </a:rPr>
              <a:t>One insurer's flood claims for 8 weeks → basis-risk map + firm quote for 1 Jan 2028.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Del. Reg. (EU) 2026/269 · at 1-in-50 the back-test paid 1966, 2005, not 2018 · premium = model × 2.5–3.5 · prices: assumptions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Tulva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March, the snow will warn us </a:t>
            </a:r>
            <a:r>
              <a:rPr sz="4000" b="1">
                <a:solidFill>
                  <a:srgbClr val="A9C8F5"/>
                </a:solidFill>
                <a:latin typeface="Arial"/>
              </a:rPr>
              <a:t>again.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3000" b="0">
                <a:solidFill>
                  <a:srgbClr val="A9C8F5"/>
                </a:solidFill>
                <a:latin typeface="Arial"/>
              </a:rPr>
              <a:t>This time, it will have a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BUILT THIS WEEKEND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47872"/>
            <a:ext cx="1660382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166038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data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3342" y="3547872"/>
            <a:ext cx="1485896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342" y="3547872"/>
            <a:ext cx="1485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Joint flood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0678" y="3547872"/>
            <a:ext cx="1173833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0678" y="3547872"/>
            <a:ext cx="11738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Index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5951" y="3547872"/>
            <a:ext cx="861929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5951" y="3547872"/>
            <a:ext cx="8619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Live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9320" y="3547872"/>
            <a:ext cx="2427561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9320" y="3547872"/>
            <a:ext cx="242756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QAE on IBM, IQM &amp; VTT Q50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RESOURCES USED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2"/>
            <a:ext cx="1458551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70832"/>
            <a:ext cx="14585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open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1511" y="4370832"/>
            <a:ext cx="135703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511" y="4370832"/>
            <a:ext cx="135703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IBM Marrakesh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9982" y="4370832"/>
            <a:ext cx="290791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9982" y="4370832"/>
            <a:ext cx="29079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IQM Garnet &amp; Emerald (Resonance)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9341" y="4370832"/>
            <a:ext cx="14548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341" y="4370832"/>
            <a:ext cx="14548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VTT Q50 (LUMI)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601" y="4370832"/>
            <a:ext cx="632198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601" y="4370832"/>
            <a:ext cx="6321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Qrisp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9239" y="4370832"/>
            <a:ext cx="650494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99239" y="4370832"/>
            <a:ext cx="65049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Qiskit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41173" y="4370832"/>
            <a:ext cx="146767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1173" y="4370832"/>
            <a:ext cx="14676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AI coding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Toivo Kallio</a:t>
            </a:r>
            <a:r>
              <a:rPr sz="2000" b="0">
                <a:solidFill>
                  <a:srgbClr val="A9C8F5"/>
                </a:solidFill>
                <a:latin typeface="Arial"/>
              </a:rPr>
              <a:t>  ·  </a:t>
            </a:r>
            <a:r>
              <a:rPr sz="2000" b="1">
                <a:solidFill>
                  <a:srgbClr val="FFFFFF"/>
                </a:solidFill>
                <a:latin typeface="Arial"/>
              </a:rPr>
              <a:t>Vaishnav Rane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A9C8F5"/>
                </a:solidFill>
                <a:latin typeface="Arial"/>
              </a:rPr>
              <a:t>Team 21 STUHI  ·  Quantum x Finance 2026, Hanken × Ultrahack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Hardware runs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2989" y="1371600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0939" y="1371600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6039" y="1371600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3405" y="1371600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Calibrated (90 % 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855" y="1371600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Job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10512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IBM Marrakesh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2989" y="1810512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0939" y="1810512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6039" y="1810512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0.262 %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3405" y="1810512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0.149 % (0.140–0.157)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855" y="1810512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db3tddsvf2bc73ctoprg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79191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49424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Garnet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2989" y="2249424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0939" y="2249424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6039" y="2249424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0.368 %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3405" y="2249424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0.164 % (0.147–0.180)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855" y="2249424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01a11cc3-7f6c…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18104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688336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42989" y="2688336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Snowy / low-snow ratio, same pair, k = 0–2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0939" y="2688336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2.75×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6039" y="2688336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1.3×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3405" y="2688336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3.05× (2.6–3.6)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855" y="2688336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01a11fa8-65a9…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557015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127248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2989" y="3127248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44 CZ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0939" y="3127248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6039" y="3127248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03405" y="3127248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13.8 % (readout-corr.)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855" y="3127248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01a11cd4-da38…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95928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566160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42989" y="3566160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≥2 over 1-in-50, same circuit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0939" y="3566160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4.8 %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6039" y="3566160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03405" y="3566160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16.0 % (fails)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855" y="3566160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01a11f9b-c62a…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434840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005072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42989" y="4005072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Control: independent circuit, ≥4 over 1-in-10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0939" y="4005072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4.4 %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39" y="4005072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405" y="4005072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9.7 % (noise fattens tails)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855" y="4005072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01a120f5-ece7…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873751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443983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VTT Q50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42989" y="4443983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Same pair, 3 repeats: not stable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0939" y="4443983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26039" y="4443983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1.48–1.58 %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3405" y="4443983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0.47 / 0.53 / 0.11 %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2855" y="4443983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7d20d8ac / a6fb9d52 / 381179fb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312664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4882896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VTT Q50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42989" y="4882896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49 CZ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0939" y="4882896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6039" y="4882896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34.2 %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03405" y="4882896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31.2 % (readout-corr.)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855" y="4882896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9cdb0158-7574…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5367528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Calibrated = noise-aware MLAE, two known-answer calibration circuits in the same job; bootstrap 90 % intervals. IBM / Garnet intervals exclude exact (+19 % / +31 % bias). Pair = two rivers with identical North-cluster loadings and 1-in-50 trigger. Classical Monte Carlo at the same budget is more precise (±0.004 pp).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Signal kept at k = 1 in the runs shown: Emerald 0.56–0.59, IBM / Garnet 0.77–0.78, VTT Q50 0.12–0.19 (earlier runs 0.65–0.88): the estimate is mostly the calibrated k = 0 circuit. Q50's zero-calibration offset moved 0.002 → 0.006 between repeats (the 5× spread). Not shown: first runs IBM 0.146 % (k = 0–3), Garnet 0.073 % (1 copy).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