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(0:00–0:12)]</a:t>
            </a:r>
          </a:p>
          <a:p>
            <a:r>
              <a:t>In May 2005, four Lapland rivers hit flood levels TOGETHER. The snow had warned us two months EARLIER. Tulva turns that warning into a PRICE. Here's how.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(0:12–0:47), plays with voiceover]</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(0:47–0:58)]</a:t>
            </a:r>
          </a:p>
          <a:p>
            <a:r>
              <a:t>Rivers in one region share ONE snowpack, so they flood TOGETHER: big flood springs come almost FOUR times more often than if each river flooded alone.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(0:58–1:10)]</a:t>
            </a:r>
          </a:p>
          <a:p>
            <a:r>
              <a:t>Our index pays when SEVERAL northern rivers flood TOGETHER. The real cost is almost TWICE the regulator's standard assumption. [pause] After a snowy March, it TRIPLES.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circuit (1:10–1:26)]</a:t>
            </a:r>
          </a:p>
          <a:p>
            <a:r>
              <a:t>Here's the quantum part you just saw: each qubit is a river or the weather; the gates ARE our flood model. Why quantum? Twice the accuracy: normal simulation needs four times the work, quantum only twice.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(1:26–1:35)]</a:t>
            </a:r>
          </a:p>
          <a:p>
            <a:r>
              <a:t>Classical computers still WIN today: rare floods drown in chip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(1:35–2:07)]</a:t>
            </a:r>
          </a:p>
          <a:p>
            <a:r>
              <a:t>Our customers: insurers like OP and If. In March, two months before the melt, our index tells them how risky this spring is, so they can buy extra cover IN TIME. They pay US 25 thousand to pilot, then 75 thousand a year. From 2027, capital rules assume the SAME flood risk every year, whatever the snow. Our ask: one insurer's claims data for eight weeks, to test the index against REAL losses.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(2:07–2:21)]</a:t>
            </a:r>
          </a:p>
          <a:p>
            <a:r>
              <a:t>Everything you saw, we built during THIS hackathon.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Tulva</a:t>
            </a:r>
          </a:p>
        </p:txBody>
      </p:sp>
      <p:sp>
        <p:nvSpPr>
          <p:cNvPr id="3" name="TextBox 2"/>
          <p:cNvSpPr txBox="1"/>
          <p:nvPr/>
        </p:nvSpPr>
        <p:spPr>
          <a:xfrm>
            <a:off x="548640" y="1600200"/>
            <a:ext cx="5120640" cy="3291840"/>
          </a:xfrm>
          <a:prstGeom prst="rect">
            <a:avLst/>
          </a:prstGeom>
          <a:noFill/>
        </p:spPr>
        <p:txBody>
          <a:bodyPr wrap="square" lIns="0" rIns="0" tIns="0" bIns="0" anchor="t">
            <a:spAutoFit/>
          </a:bodyPr>
          <a:lstStyle/>
          <a:p>
            <a:pPr algn="l">
              <a:lnSpc>
                <a:spcPct val="105000"/>
              </a:lnSpc>
              <a:spcAft>
                <a:spcPts val="0"/>
              </a:spcAft>
            </a:pPr>
            <a:r>
              <a:rPr sz="4800" b="1">
                <a:solidFill>
                  <a:srgbClr val="0B1F3A"/>
                </a:solidFill>
                <a:latin typeface="Arial"/>
              </a:rPr>
              <a:t>May 2005: four Lapland rivers flooded </a:t>
            </a:r>
            <a:r>
              <a:rPr sz="4800" b="1">
                <a:solidFill>
                  <a:srgbClr val="1F6FEB"/>
                </a:solidFill>
                <a:latin typeface="Arial"/>
              </a:rPr>
              <a:t>together.</a:t>
            </a:r>
          </a:p>
        </p:txBody>
      </p:sp>
      <p:sp>
        <p:nvSpPr>
          <p:cNvPr id="4" name="TextBox 3"/>
          <p:cNvSpPr txBox="1"/>
          <p:nvPr/>
        </p:nvSpPr>
        <p:spPr>
          <a:xfrm>
            <a:off x="548640" y="4160520"/>
            <a:ext cx="5120640" cy="548640"/>
          </a:xfrm>
          <a:prstGeom prst="rect">
            <a:avLst/>
          </a:prstGeom>
          <a:noFill/>
        </p:spPr>
        <p:txBody>
          <a:bodyPr wrap="square" lIns="0" rIns="0" tIns="0" bIns="0" anchor="t">
            <a:spAutoFit/>
          </a:bodyPr>
          <a:lstStyle/>
          <a:p>
            <a:pPr algn="l">
              <a:lnSpc>
                <a:spcPct val="100000"/>
              </a:lnSpc>
              <a:spcAft>
                <a:spcPts val="0"/>
              </a:spcAft>
            </a:pPr>
            <a:r>
              <a:rPr sz="3200" b="0">
                <a:solidFill>
                  <a:srgbClr val="6B7280"/>
                </a:solidFill>
                <a:latin typeface="Arial"/>
              </a:rPr>
              <a:t>The March snow warned us.</a:t>
            </a:r>
          </a:p>
        </p:txBody>
      </p:sp>
      <p:pic>
        <p:nvPicPr>
          <p:cNvPr id="5" name="Picture 4"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6" name="Rectangle 5"/>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7" name="TextBox 6"/>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8" name="Rectangle 7"/>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9" name="TextBox 8"/>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10" name="Rectangle 9"/>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1" name="TextBox 10"/>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2" name="Rectangle 11"/>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4" name="TextBox 1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_ani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8" name="TextBox 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63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Rivers flood together, not one at a time</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4" name="TextBox 3"/>
          <p:cNvSpPr txBox="1"/>
          <p:nvPr/>
        </p:nvSpPr>
        <p:spPr>
          <a:xfrm>
            <a:off x="548640" y="1280160"/>
            <a:ext cx="8229600"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Springs when ≥4 of 14 rivers flood</a:t>
            </a:r>
          </a:p>
        </p:txBody>
      </p:sp>
      <p:sp>
        <p:nvSpPr>
          <p:cNvPr id="5" name="Rectangle 4"/>
          <p:cNvSpPr/>
          <p:nvPr/>
        </p:nvSpPr>
        <p:spPr>
          <a:xfrm>
            <a:off x="1097280" y="2743200"/>
            <a:ext cx="2377440" cy="2331720"/>
          </a:xfrm>
          <a:prstGeom prst="rect">
            <a:avLst/>
          </a:prstGeom>
          <a:solidFill>
            <a:srgbClr val="0B1F3A"/>
          </a:solidFill>
          <a:ln>
            <a:noFill/>
          </a:ln>
          <a:effectLst/>
        </p:spPr>
        <p:txBody>
          <a:bodyPr rtlCol="0" anchor="ctr"/>
          <a:lstStyle/>
          <a:p>
            <a:pPr algn="ctr"/>
          </a:p>
        </p:txBody>
      </p:sp>
      <p:sp>
        <p:nvSpPr>
          <p:cNvPr id="6" name="TextBox 5"/>
          <p:cNvSpPr txBox="1"/>
          <p:nvPr/>
        </p:nvSpPr>
        <p:spPr>
          <a:xfrm>
            <a:off x="822959" y="1965960"/>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0B1F3A"/>
                </a:solidFill>
                <a:latin typeface="Arial"/>
              </a:rPr>
              <a:t>15.4 %</a:t>
            </a:r>
          </a:p>
        </p:txBody>
      </p:sp>
      <p:sp>
        <p:nvSpPr>
          <p:cNvPr id="7" name="TextBox 6"/>
          <p:cNvSpPr txBox="1"/>
          <p:nvPr/>
        </p:nvSpPr>
        <p:spPr>
          <a:xfrm>
            <a:off x="822959"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Observed</a:t>
            </a:r>
          </a:p>
        </p:txBody>
      </p:sp>
      <p:sp>
        <p:nvSpPr>
          <p:cNvPr id="8" name="Rectangle 7"/>
          <p:cNvSpPr/>
          <p:nvPr/>
        </p:nvSpPr>
        <p:spPr>
          <a:xfrm>
            <a:off x="4206240" y="4484419"/>
            <a:ext cx="2377440" cy="590500"/>
          </a:xfrm>
          <a:prstGeom prst="rect">
            <a:avLst/>
          </a:prstGeom>
          <a:solidFill>
            <a:srgbClr val="6B7280"/>
          </a:solidFill>
          <a:ln>
            <a:noFill/>
          </a:ln>
          <a:effectLst/>
        </p:spPr>
        <p:txBody>
          <a:bodyPr rtlCol="0" anchor="ctr"/>
          <a:lstStyle/>
          <a:p>
            <a:pPr algn="ctr"/>
          </a:p>
        </p:txBody>
      </p:sp>
      <p:sp>
        <p:nvSpPr>
          <p:cNvPr id="9" name="TextBox 8"/>
          <p:cNvSpPr txBox="1"/>
          <p:nvPr/>
        </p:nvSpPr>
        <p:spPr>
          <a:xfrm>
            <a:off x="3931920" y="3707179"/>
            <a:ext cx="2926080" cy="731520"/>
          </a:xfrm>
          <a:prstGeom prst="rect">
            <a:avLst/>
          </a:prstGeom>
          <a:noFill/>
        </p:spPr>
        <p:txBody>
          <a:bodyPr wrap="square" lIns="0" rIns="0" tIns="0" bIns="0" anchor="b">
            <a:spAutoFit/>
          </a:bodyPr>
          <a:lstStyle/>
          <a:p>
            <a:pPr algn="ctr">
              <a:lnSpc>
                <a:spcPct val="100000"/>
              </a:lnSpc>
              <a:spcAft>
                <a:spcPts val="0"/>
              </a:spcAft>
            </a:pPr>
            <a:r>
              <a:rPr sz="4400" b="1">
                <a:solidFill>
                  <a:srgbClr val="6B7280"/>
                </a:solidFill>
                <a:latin typeface="Arial"/>
              </a:rPr>
              <a:t>3.9 %</a:t>
            </a:r>
          </a:p>
        </p:txBody>
      </p:sp>
      <p:sp>
        <p:nvSpPr>
          <p:cNvPr id="10" name="TextBox 9"/>
          <p:cNvSpPr txBox="1"/>
          <p:nvPr/>
        </p:nvSpPr>
        <p:spPr>
          <a:xfrm>
            <a:off x="3931920" y="5166359"/>
            <a:ext cx="2926080" cy="457200"/>
          </a:xfrm>
          <a:prstGeom prst="rect">
            <a:avLst/>
          </a:prstGeom>
          <a:noFill/>
        </p:spPr>
        <p:txBody>
          <a:bodyPr wrap="square" lIns="0" rIns="0" tIns="0" bIns="0" anchor="t">
            <a:spAutoFit/>
          </a:bodyPr>
          <a:lstStyle/>
          <a:p>
            <a:pPr algn="ctr">
              <a:lnSpc>
                <a:spcPct val="100000"/>
              </a:lnSpc>
              <a:spcAft>
                <a:spcPts val="0"/>
              </a:spcAft>
            </a:pPr>
            <a:r>
              <a:rPr sz="2800" b="0">
                <a:solidFill>
                  <a:srgbClr val="0B1F3A"/>
                </a:solidFill>
                <a:latin typeface="Arial"/>
              </a:rPr>
              <a:t>By chance</a:t>
            </a:r>
          </a:p>
        </p:txBody>
      </p:sp>
      <p:sp>
        <p:nvSpPr>
          <p:cNvPr id="11" name="Rectangle 10"/>
          <p:cNvSpPr/>
          <p:nvPr/>
        </p:nvSpPr>
        <p:spPr>
          <a:xfrm>
            <a:off x="822960" y="5074920"/>
            <a:ext cx="6035040" cy="18288"/>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315200" y="2103120"/>
            <a:ext cx="4297680" cy="1645920"/>
          </a:xfrm>
          <a:prstGeom prst="rect">
            <a:avLst/>
          </a:prstGeom>
          <a:noFill/>
        </p:spPr>
        <p:txBody>
          <a:bodyPr wrap="square" lIns="0" rIns="0" tIns="0" bIns="0" anchor="ctr">
            <a:spAutoFit/>
          </a:bodyPr>
          <a:lstStyle/>
          <a:p>
            <a:pPr algn="ctr">
              <a:lnSpc>
                <a:spcPct val="100000"/>
              </a:lnSpc>
              <a:spcAft>
                <a:spcPts val="0"/>
              </a:spcAft>
            </a:pPr>
            <a:r>
              <a:rPr sz="12000" b="1">
                <a:solidFill>
                  <a:srgbClr val="D13B2F"/>
                </a:solidFill>
                <a:latin typeface="Arial"/>
              </a:rPr>
              <a:t>≈4×</a:t>
            </a:r>
          </a:p>
        </p:txBody>
      </p:sp>
      <p:sp>
        <p:nvSpPr>
          <p:cNvPr id="13" name="TextBox 12"/>
          <p:cNvSpPr txBox="1"/>
          <p:nvPr/>
        </p:nvSpPr>
        <p:spPr>
          <a:xfrm>
            <a:off x="7315200" y="3794760"/>
            <a:ext cx="4297680" cy="548640"/>
          </a:xfrm>
          <a:prstGeom prst="rect">
            <a:avLst/>
          </a:prstGeom>
          <a:noFill/>
        </p:spPr>
        <p:txBody>
          <a:bodyPr wrap="square" lIns="0" rIns="0" tIns="0" bIns="0" anchor="t">
            <a:spAutoFit/>
          </a:bodyPr>
          <a:lstStyle/>
          <a:p>
            <a:pPr algn="ctr">
              <a:lnSpc>
                <a:spcPct val="100000"/>
              </a:lnSpc>
              <a:spcAft>
                <a:spcPts val="0"/>
              </a:spcAft>
            </a:pPr>
            <a:r>
              <a:rPr sz="2800" b="0">
                <a:solidFill>
                  <a:srgbClr val="6B7280"/>
                </a:solidFill>
                <a:latin typeface="Arial"/>
              </a:rPr>
              <a:t>as often as chance</a:t>
            </a:r>
          </a:p>
        </p:txBody>
      </p:sp>
      <p:sp>
        <p:nvSpPr>
          <p:cNvPr id="14" name="Rectangle 13"/>
          <p:cNvSpPr/>
          <p:nvPr/>
        </p:nvSpPr>
        <p:spPr>
          <a:xfrm>
            <a:off x="548640" y="5760720"/>
            <a:ext cx="91440" cy="548640"/>
          </a:xfrm>
          <a:prstGeom prst="rect">
            <a:avLst/>
          </a:prstGeom>
          <a:solidFill>
            <a:srgbClr val="1F6FEB"/>
          </a:solidFill>
          <a:ln>
            <a:noFill/>
          </a:ln>
          <a:effectLst/>
        </p:spPr>
        <p:txBody>
          <a:bodyPr rtlCol="0" anchor="ctr"/>
          <a:lstStyle/>
          <a:p>
            <a:pPr algn="ctr"/>
          </a:p>
        </p:txBody>
      </p:sp>
      <p:sp>
        <p:nvSpPr>
          <p:cNvPr id="15" name="TextBox 14"/>
          <p:cNvSpPr txBox="1"/>
          <p:nvPr/>
        </p:nvSpPr>
        <p:spPr>
          <a:xfrm>
            <a:off x="822959" y="5760720"/>
            <a:ext cx="9144000" cy="548640"/>
          </a:xfrm>
          <a:prstGeom prst="rect">
            <a:avLst/>
          </a:prstGeom>
          <a:noFill/>
        </p:spPr>
        <p:txBody>
          <a:bodyPr wrap="square" lIns="0" rIns="0" tIns="0" bIns="0" anchor="ctr">
            <a:spAutoFit/>
          </a:bodyPr>
          <a:lstStyle/>
          <a:p>
            <a:pPr algn="l">
              <a:lnSpc>
                <a:spcPct val="100000"/>
              </a:lnSpc>
              <a:spcAft>
                <a:spcPts val="0"/>
              </a:spcAft>
            </a:pPr>
            <a:r>
              <a:rPr sz="3000" b="1">
                <a:solidFill>
                  <a:srgbClr val="0B1F3A"/>
                </a:solidFill>
                <a:latin typeface="Arial"/>
              </a:rPr>
              <a:t>Cover is bought in autumn, before the snow.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Tulva Index: pays if ≥2 northern rivers flood</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4</a:t>
            </a:r>
          </a:p>
        </p:txBody>
      </p:sp>
      <p:sp>
        <p:nvSpPr>
          <p:cNvPr id="4" name="TextBox 3"/>
          <p:cNvSpPr txBox="1"/>
          <p:nvPr/>
        </p:nvSpPr>
        <p:spPr>
          <a:xfrm>
            <a:off x="548640" y="150876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Standard assumption (regulator's average link)</a:t>
            </a:r>
          </a:p>
        </p:txBody>
      </p:sp>
      <p:sp>
        <p:nvSpPr>
          <p:cNvPr id="5" name="Rectangle 4"/>
          <p:cNvSpPr/>
          <p:nvPr/>
        </p:nvSpPr>
        <p:spPr>
          <a:xfrm>
            <a:off x="548640" y="2011680"/>
            <a:ext cx="856392" cy="548640"/>
          </a:xfrm>
          <a:prstGeom prst="rect">
            <a:avLst/>
          </a:prstGeom>
          <a:solidFill>
            <a:srgbClr val="6B7280"/>
          </a:solidFill>
          <a:ln>
            <a:noFill/>
          </a:ln>
          <a:effectLst/>
        </p:spPr>
        <p:txBody>
          <a:bodyPr rtlCol="0" anchor="ctr"/>
          <a:lstStyle/>
          <a:p>
            <a:pPr algn="ctr"/>
          </a:p>
        </p:txBody>
      </p:sp>
      <p:sp>
        <p:nvSpPr>
          <p:cNvPr id="6" name="TextBox 5"/>
          <p:cNvSpPr txBox="1"/>
          <p:nvPr/>
        </p:nvSpPr>
        <p:spPr>
          <a:xfrm>
            <a:off x="1587912" y="196596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6B7280"/>
                </a:solidFill>
                <a:latin typeface="Arial"/>
              </a:rPr>
              <a:t>1.11 %</a:t>
            </a:r>
          </a:p>
        </p:txBody>
      </p:sp>
      <p:sp>
        <p:nvSpPr>
          <p:cNvPr id="7" name="TextBox 6"/>
          <p:cNvSpPr txBox="1"/>
          <p:nvPr/>
        </p:nvSpPr>
        <p:spPr>
          <a:xfrm>
            <a:off x="548640" y="2788920"/>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a:t>
            </a:r>
          </a:p>
        </p:txBody>
      </p:sp>
      <p:sp>
        <p:nvSpPr>
          <p:cNvPr id="8" name="Rectangle 7"/>
          <p:cNvSpPr/>
          <p:nvPr/>
        </p:nvSpPr>
        <p:spPr>
          <a:xfrm>
            <a:off x="548640" y="3291839"/>
            <a:ext cx="1512189" cy="548640"/>
          </a:xfrm>
          <a:prstGeom prst="rect">
            <a:avLst/>
          </a:prstGeom>
          <a:solidFill>
            <a:srgbClr val="1F6FEB"/>
          </a:solidFill>
          <a:ln>
            <a:noFill/>
          </a:ln>
          <a:effectLst/>
        </p:spPr>
        <p:txBody>
          <a:bodyPr rtlCol="0" anchor="ctr"/>
          <a:lstStyle/>
          <a:p>
            <a:pPr algn="ctr"/>
          </a:p>
        </p:txBody>
      </p:sp>
      <p:sp>
        <p:nvSpPr>
          <p:cNvPr id="9" name="TextBox 8"/>
          <p:cNvSpPr txBox="1"/>
          <p:nvPr/>
        </p:nvSpPr>
        <p:spPr>
          <a:xfrm>
            <a:off x="2243709" y="3246120"/>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1F6FEB"/>
                </a:solidFill>
                <a:latin typeface="Arial"/>
              </a:rPr>
              <a:t>1.96 %</a:t>
            </a:r>
          </a:p>
        </p:txBody>
      </p:sp>
      <p:sp>
        <p:nvSpPr>
          <p:cNvPr id="10" name="TextBox 9"/>
          <p:cNvSpPr txBox="1"/>
          <p:nvPr/>
        </p:nvSpPr>
        <p:spPr>
          <a:xfrm>
            <a:off x="548640" y="4069079"/>
            <a:ext cx="7589520" cy="457200"/>
          </a:xfrm>
          <a:prstGeom prst="rect">
            <a:avLst/>
          </a:prstGeom>
          <a:noFill/>
        </p:spPr>
        <p:txBody>
          <a:bodyPr wrap="square" lIns="0" rIns="0" tIns="0" bIns="0" anchor="t">
            <a:spAutoFit/>
          </a:bodyPr>
          <a:lstStyle/>
          <a:p>
            <a:pPr algn="l">
              <a:lnSpc>
                <a:spcPct val="100000"/>
              </a:lnSpc>
              <a:spcAft>
                <a:spcPts val="0"/>
              </a:spcAft>
            </a:pPr>
            <a:r>
              <a:rPr sz="2800" b="0">
                <a:solidFill>
                  <a:srgbClr val="0B1F3A"/>
                </a:solidFill>
                <a:latin typeface="Arial"/>
              </a:rPr>
              <a:t>Tulva, after a snowy March</a:t>
            </a:r>
          </a:p>
        </p:txBody>
      </p:sp>
      <p:sp>
        <p:nvSpPr>
          <p:cNvPr id="11" name="Rectangle 10"/>
          <p:cNvSpPr/>
          <p:nvPr/>
        </p:nvSpPr>
        <p:spPr>
          <a:xfrm>
            <a:off x="548640" y="4571999"/>
            <a:ext cx="4937760" cy="548640"/>
          </a:xfrm>
          <a:prstGeom prst="rect">
            <a:avLst/>
          </a:prstGeom>
          <a:solidFill>
            <a:srgbClr val="0B1F3A"/>
          </a:solidFill>
          <a:ln>
            <a:noFill/>
          </a:ln>
          <a:effectLst/>
        </p:spPr>
        <p:txBody>
          <a:bodyPr rtlCol="0" anchor="ctr"/>
          <a:lstStyle/>
          <a:p>
            <a:pPr algn="ctr"/>
          </a:p>
        </p:txBody>
      </p:sp>
      <p:sp>
        <p:nvSpPr>
          <p:cNvPr id="12" name="TextBox 11"/>
          <p:cNvSpPr txBox="1"/>
          <p:nvPr/>
        </p:nvSpPr>
        <p:spPr>
          <a:xfrm>
            <a:off x="5669280" y="4526279"/>
            <a:ext cx="2011680" cy="64008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6.4 %</a:t>
            </a:r>
          </a:p>
        </p:txBody>
      </p:sp>
      <p:sp>
        <p:nvSpPr>
          <p:cNvPr id="13" name="TextBox 12"/>
          <p:cNvSpPr txBox="1"/>
          <p:nvPr/>
        </p:nvSpPr>
        <p:spPr>
          <a:xfrm>
            <a:off x="548640" y="5394960"/>
            <a:ext cx="7315200" cy="457200"/>
          </a:xfrm>
          <a:prstGeom prst="rect">
            <a:avLst/>
          </a:prstGeom>
          <a:noFill/>
        </p:spPr>
        <p:txBody>
          <a:bodyPr wrap="square" lIns="0" rIns="0" tIns="0" bIns="0" anchor="t">
            <a:spAutoFit/>
          </a:bodyPr>
          <a:lstStyle/>
          <a:p>
            <a:pPr algn="l">
              <a:lnSpc>
                <a:spcPct val="100000"/>
              </a:lnSpc>
              <a:spcAft>
                <a:spcPts val="0"/>
              </a:spcAft>
            </a:pPr>
            <a:r>
              <a:rPr sz="2400" b="0">
                <a:solidFill>
                  <a:srgbClr val="6B7280"/>
                </a:solidFill>
                <a:latin typeface="Arial"/>
              </a:rPr>
              <a:t>Expected loss, % of limit per year</a:t>
            </a:r>
          </a:p>
        </p:txBody>
      </p:sp>
      <p:sp>
        <p:nvSpPr>
          <p:cNvPr id="14" name="Rectangle 13"/>
          <p:cNvSpPr/>
          <p:nvPr/>
        </p:nvSpPr>
        <p:spPr>
          <a:xfrm>
            <a:off x="8229600" y="1508760"/>
            <a:ext cx="3410712" cy="4023360"/>
          </a:xfrm>
          <a:prstGeom prst="rect">
            <a:avLst/>
          </a:prstGeom>
          <a:solidFill>
            <a:srgbClr val="F3F6FA"/>
          </a:solidFill>
          <a:ln>
            <a:noFill/>
          </a:ln>
          <a:effectLst/>
        </p:spPr>
        <p:txBody>
          <a:bodyPr rtlCol="0" anchor="ctr"/>
          <a:lstStyle/>
          <a:p>
            <a:pPr algn="ctr"/>
          </a:p>
        </p:txBody>
      </p:sp>
      <p:sp>
        <p:nvSpPr>
          <p:cNvPr id="15" name="TextBox 14"/>
          <p:cNvSpPr txBox="1"/>
          <p:nvPr/>
        </p:nvSpPr>
        <p:spPr>
          <a:xfrm>
            <a:off x="8229600" y="1783080"/>
            <a:ext cx="3410712" cy="1828800"/>
          </a:xfrm>
          <a:prstGeom prst="rect">
            <a:avLst/>
          </a:prstGeom>
          <a:noFill/>
        </p:spPr>
        <p:txBody>
          <a:bodyPr wrap="square" lIns="0" rIns="0" tIns="0" bIns="0" anchor="ctr">
            <a:spAutoFit/>
          </a:bodyPr>
          <a:lstStyle/>
          <a:p>
            <a:pPr algn="ctr">
              <a:lnSpc>
                <a:spcPct val="100000"/>
              </a:lnSpc>
              <a:spcAft>
                <a:spcPts val="0"/>
              </a:spcAft>
            </a:pPr>
            <a:r>
              <a:rPr sz="13000" b="1">
                <a:solidFill>
                  <a:srgbClr val="D13B2F"/>
                </a:solidFill>
                <a:latin typeface="Arial"/>
              </a:rPr>
              <a:t>×3</a:t>
            </a:r>
          </a:p>
        </p:txBody>
      </p:sp>
      <p:sp>
        <p:nvSpPr>
          <p:cNvPr id="16" name="TextBox 15"/>
          <p:cNvSpPr txBox="1"/>
          <p:nvPr/>
        </p:nvSpPr>
        <p:spPr>
          <a:xfrm>
            <a:off x="8412480" y="3749039"/>
            <a:ext cx="3044952" cy="1371600"/>
          </a:xfrm>
          <a:prstGeom prst="rect">
            <a:avLst/>
          </a:prstGeom>
          <a:noFill/>
        </p:spPr>
        <p:txBody>
          <a:bodyPr wrap="square" lIns="0" rIns="0" tIns="0" bIns="0" anchor="t">
            <a:spAutoFit/>
          </a:bodyPr>
          <a:lstStyle/>
          <a:p>
            <a:pPr algn="ctr">
              <a:lnSpc>
                <a:spcPct val="100000"/>
              </a:lnSpc>
              <a:spcAft>
                <a:spcPts val="0"/>
              </a:spcAft>
            </a:pPr>
            <a:r>
              <a:rPr sz="2800" b="1">
                <a:solidFill>
                  <a:srgbClr val="0B1F3A"/>
                </a:solidFill>
                <a:latin typeface="Arial"/>
              </a:rPr>
              <a:t>chance of a big joint flood after a snowy March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Our circuit: quantum amplitude estimation</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4" name="Picture 3" descr="stage_qae_circuit.png"/>
          <p:cNvPicPr>
            <a:picLocks noChangeAspect="1"/>
          </p:cNvPicPr>
          <p:nvPr/>
        </p:nvPicPr>
        <p:blipFill>
          <a:blip r:embed="rId2"/>
          <a:stretch>
            <a:fillRect/>
          </a:stretch>
        </p:blipFill>
        <p:spPr>
          <a:xfrm>
            <a:off x="2239451" y="1234440"/>
            <a:ext cx="7712792" cy="3291840"/>
          </a:xfrm>
          <a:prstGeom prst="rect">
            <a:avLst/>
          </a:prstGeom>
        </p:spPr>
      </p:pic>
      <p:sp>
        <p:nvSpPr>
          <p:cNvPr id="5" name="TextBox 4"/>
          <p:cNvSpPr txBox="1"/>
          <p:nvPr/>
        </p:nvSpPr>
        <p:spPr>
          <a:xfrm>
            <a:off x="548640" y="4709160"/>
            <a:ext cx="11094415" cy="1280160"/>
          </a:xfrm>
          <a:prstGeom prst="rect">
            <a:avLst/>
          </a:prstGeom>
          <a:noFill/>
        </p:spPr>
        <p:txBody>
          <a:bodyPr wrap="square" lIns="0" rIns="0" tIns="0" bIns="0" anchor="t">
            <a:spAutoFit/>
          </a:bodyPr>
          <a:lstStyle/>
          <a:p>
            <a:pPr algn="l">
              <a:lnSpc>
                <a:spcPct val="100000"/>
              </a:lnSpc>
              <a:spcAft>
                <a:spcPts val="800"/>
              </a:spcAft>
            </a:pPr>
            <a:r>
              <a:rPr sz="2800" b="0">
                <a:solidFill>
                  <a:srgbClr val="0B1F3A"/>
                </a:solidFill>
                <a:latin typeface="Arial"/>
              </a:rPr>
              <a:t>Qubits = wet spring + rivers. Gates = our flood model.</a:t>
            </a:r>
          </a:p>
          <a:p>
            <a:pPr algn="l">
              <a:lnSpc>
                <a:spcPct val="100000"/>
              </a:lnSpc>
              <a:spcAft>
                <a:spcPts val="800"/>
              </a:spcAft>
            </a:pPr>
            <a:r>
              <a:rPr sz="2800" b="1">
                <a:solidFill>
                  <a:srgbClr val="D13B2F"/>
                </a:solidFill>
                <a:latin typeface="Arial"/>
              </a:rPr>
              <a:t>Why quantum?  </a:t>
            </a:r>
            <a:r>
              <a:rPr sz="2800" b="0">
                <a:solidFill>
                  <a:srgbClr val="0B1F3A"/>
                </a:solidFill>
                <a:latin typeface="Arial"/>
              </a:rPr>
              <a:t>2× accuracy: sampling needs 4× the runs, QAE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Classical still wins today</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4" name="Picture 3" descr="stage_scaling.png"/>
          <p:cNvPicPr>
            <a:picLocks noChangeAspect="1"/>
          </p:cNvPicPr>
          <p:nvPr/>
        </p:nvPicPr>
        <p:blipFill>
          <a:blip r:embed="rId2"/>
          <a:stretch>
            <a:fillRect/>
          </a:stretch>
        </p:blipFill>
        <p:spPr>
          <a:xfrm>
            <a:off x="548640" y="1417320"/>
            <a:ext cx="7498079" cy="4480559"/>
          </a:xfrm>
          <a:prstGeom prst="rect">
            <a:avLst/>
          </a:prstGeom>
        </p:spPr>
      </p:pic>
      <p:sp>
        <p:nvSpPr>
          <p:cNvPr id="5" name="Rectangle 4"/>
          <p:cNvSpPr/>
          <p:nvPr/>
        </p:nvSpPr>
        <p:spPr>
          <a:xfrm>
            <a:off x="8183879" y="1737360"/>
            <a:ext cx="91440" cy="2194560"/>
          </a:xfrm>
          <a:prstGeom prst="rect">
            <a:avLst/>
          </a:prstGeom>
          <a:solidFill>
            <a:srgbClr val="D13B2F"/>
          </a:solidFill>
          <a:ln>
            <a:noFill/>
          </a:ln>
          <a:effectLst/>
        </p:spPr>
        <p:txBody>
          <a:bodyPr rtlCol="0" anchor="ctr"/>
          <a:lstStyle/>
          <a:p>
            <a:pPr algn="ctr"/>
          </a:p>
        </p:txBody>
      </p:sp>
      <p:sp>
        <p:nvSpPr>
          <p:cNvPr id="6" name="TextBox 5"/>
          <p:cNvSpPr txBox="1"/>
          <p:nvPr/>
        </p:nvSpPr>
        <p:spPr>
          <a:xfrm>
            <a:off x="8458200" y="1737360"/>
            <a:ext cx="3200400" cy="2194560"/>
          </a:xfrm>
          <a:prstGeom prst="rect">
            <a:avLst/>
          </a:prstGeom>
          <a:noFill/>
        </p:spPr>
        <p:txBody>
          <a:bodyPr wrap="square" lIns="0" rIns="0" tIns="0" bIns="0" anchor="ctr">
            <a:spAutoFit/>
          </a:bodyPr>
          <a:lstStyle/>
          <a:p>
            <a:pPr algn="l">
              <a:lnSpc>
                <a:spcPct val="100000"/>
              </a:lnSpc>
              <a:spcAft>
                <a:spcPts val="0"/>
              </a:spcAft>
            </a:pPr>
            <a:r>
              <a:rPr sz="3600" b="1">
                <a:solidFill>
                  <a:srgbClr val="0B1F3A"/>
                </a:solidFill>
                <a:latin typeface="Arial"/>
              </a:rPr>
              <a:t>Rare 1-in-50 floods drown in noise.</a:t>
            </a:r>
          </a:p>
        </p:txBody>
      </p:sp>
      <p:sp>
        <p:nvSpPr>
          <p:cNvPr id="7" name="TextBox 6"/>
          <p:cNvSpPr txBox="1"/>
          <p:nvPr/>
        </p:nvSpPr>
        <p:spPr>
          <a:xfrm>
            <a:off x="8458200" y="4297680"/>
            <a:ext cx="3200400" cy="109728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Prices are computed classically.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0B1F3A"/>
                </a:solidFill>
                <a:latin typeface="Arial"/>
              </a:rPr>
              <a:t>Who pays</a:t>
            </a:r>
          </a:p>
        </p:txBody>
      </p:sp>
      <p:sp>
        <p:nvSpPr>
          <p:cNvPr id="3" name="TextBox 2"/>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4" name="Rounded Rectangle 3"/>
          <p:cNvSpPr/>
          <p:nvPr/>
        </p:nvSpPr>
        <p:spPr>
          <a:xfrm>
            <a:off x="548640" y="1508760"/>
            <a:ext cx="2743200" cy="1188720"/>
          </a:xfrm>
          <a:prstGeom prst="roundRect">
            <a:avLst>
              <a:gd name="adj" fmla="val 12000"/>
            </a:avLst>
          </a:prstGeom>
          <a:solidFill>
            <a:srgbClr val="1F6FEB"/>
          </a:solidFill>
          <a:ln>
            <a:noFill/>
          </a:ln>
          <a:effectLst/>
        </p:spPr>
        <p:txBody>
          <a:bodyPr rtlCol="0" anchor="ctr"/>
          <a:lstStyle/>
          <a:p>
            <a:pPr algn="ctr"/>
          </a:p>
        </p:txBody>
      </p:sp>
      <p:sp>
        <p:nvSpPr>
          <p:cNvPr id="5" name="TextBox 4"/>
          <p:cNvSpPr txBox="1"/>
          <p:nvPr/>
        </p:nvSpPr>
        <p:spPr>
          <a:xfrm>
            <a:off x="548640"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Tulva</a:t>
            </a:r>
          </a:p>
        </p:txBody>
      </p:sp>
      <p:sp>
        <p:nvSpPr>
          <p:cNvPr id="6" name="Rounded Rectangle 5"/>
          <p:cNvSpPr/>
          <p:nvPr/>
        </p:nvSpPr>
        <p:spPr>
          <a:xfrm>
            <a:off x="4724247" y="1508760"/>
            <a:ext cx="2743200" cy="1188720"/>
          </a:xfrm>
          <a:prstGeom prst="roundRect">
            <a:avLst>
              <a:gd name="adj" fmla="val 12000"/>
            </a:avLst>
          </a:prstGeom>
          <a:solidFill>
            <a:srgbClr val="0B1F3A"/>
          </a:solidFill>
          <a:ln>
            <a:noFill/>
          </a:ln>
          <a:effectLst/>
        </p:spPr>
        <p:txBody>
          <a:bodyPr rtlCol="0" anchor="ctr"/>
          <a:lstStyle/>
          <a:p>
            <a:pPr algn="ctr"/>
          </a:p>
        </p:txBody>
      </p:sp>
      <p:sp>
        <p:nvSpPr>
          <p:cNvPr id="7" name="TextBox 6"/>
          <p:cNvSpPr txBox="1"/>
          <p:nvPr/>
        </p:nvSpPr>
        <p:spPr>
          <a:xfrm>
            <a:off x="4724247"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FFFFFF"/>
                </a:solidFill>
                <a:latin typeface="Arial"/>
              </a:rPr>
              <a:t>Insurer</a:t>
            </a:r>
          </a:p>
        </p:txBody>
      </p:sp>
      <p:sp>
        <p:nvSpPr>
          <p:cNvPr id="8" name="Rounded Rectangle 7"/>
          <p:cNvSpPr/>
          <p:nvPr/>
        </p:nvSpPr>
        <p:spPr>
          <a:xfrm>
            <a:off x="8899855" y="1508760"/>
            <a:ext cx="2743200" cy="1188720"/>
          </a:xfrm>
          <a:prstGeom prst="roundRect">
            <a:avLst>
              <a:gd name="adj" fmla="val 12000"/>
            </a:avLst>
          </a:prstGeom>
          <a:solidFill>
            <a:srgbClr val="F3F6FA"/>
          </a:solidFill>
          <a:ln>
            <a:noFill/>
          </a:ln>
          <a:effectLst/>
        </p:spPr>
        <p:txBody>
          <a:bodyPr rtlCol="0" anchor="ctr"/>
          <a:lstStyle/>
          <a:p>
            <a:pPr algn="ctr"/>
          </a:p>
        </p:txBody>
      </p:sp>
      <p:sp>
        <p:nvSpPr>
          <p:cNvPr id="9" name="TextBox 8"/>
          <p:cNvSpPr txBox="1"/>
          <p:nvPr/>
        </p:nvSpPr>
        <p:spPr>
          <a:xfrm>
            <a:off x="8899855" y="1508760"/>
            <a:ext cx="2743200" cy="1188720"/>
          </a:xfrm>
          <a:prstGeom prst="rect">
            <a:avLst/>
          </a:prstGeom>
          <a:noFill/>
        </p:spPr>
        <p:txBody>
          <a:bodyPr wrap="square" lIns="0" rIns="0" tIns="0" bIns="0" anchor="ctr">
            <a:spAutoFit/>
          </a:bodyPr>
          <a:lstStyle/>
          <a:p>
            <a:pPr algn="ctr">
              <a:lnSpc>
                <a:spcPct val="100000"/>
              </a:lnSpc>
              <a:spcAft>
                <a:spcPts val="0"/>
              </a:spcAft>
            </a:pPr>
            <a:r>
              <a:rPr sz="3600" b="1">
                <a:solidFill>
                  <a:srgbClr val="0B1F3A"/>
                </a:solidFill>
                <a:latin typeface="Arial"/>
              </a:rPr>
              <a:t>Reinsurer</a:t>
            </a:r>
          </a:p>
        </p:txBody>
      </p:sp>
      <p:sp>
        <p:nvSpPr>
          <p:cNvPr id="10" name="Left Arrow 9"/>
          <p:cNvSpPr/>
          <p:nvPr/>
        </p:nvSpPr>
        <p:spPr>
          <a:xfrm>
            <a:off x="3429000" y="2057400"/>
            <a:ext cx="1158087" cy="457200"/>
          </a:xfrm>
          <a:prstGeom prst="leftArrow">
            <a:avLst/>
          </a:prstGeom>
          <a:solidFill>
            <a:srgbClr val="1F6FEB"/>
          </a:solidFill>
          <a:ln>
            <a:noFill/>
          </a:ln>
          <a:effectLst/>
        </p:spPr>
        <p:txBody>
          <a:bodyPr rtlCol="0" anchor="ctr"/>
          <a:lstStyle/>
          <a:p>
            <a:pPr algn="ctr"/>
          </a:p>
        </p:txBody>
      </p:sp>
      <p:sp>
        <p:nvSpPr>
          <p:cNvPr id="11" name="TextBox 10"/>
          <p:cNvSpPr txBox="1"/>
          <p:nvPr/>
        </p:nvSpPr>
        <p:spPr>
          <a:xfrm>
            <a:off x="3108960"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licence</a:t>
            </a:r>
          </a:p>
        </p:txBody>
      </p:sp>
      <p:sp>
        <p:nvSpPr>
          <p:cNvPr id="12" name="Right Arrow 11"/>
          <p:cNvSpPr/>
          <p:nvPr/>
        </p:nvSpPr>
        <p:spPr>
          <a:xfrm>
            <a:off x="7604607" y="2057400"/>
            <a:ext cx="1158087" cy="457200"/>
          </a:xfrm>
          <a:prstGeom prst="rightArrow">
            <a:avLst/>
          </a:prstGeom>
          <a:solidFill>
            <a:srgbClr val="1F6FEB"/>
          </a:solidFill>
          <a:ln>
            <a:noFill/>
          </a:ln>
          <a:effectLst/>
        </p:spPr>
        <p:txBody>
          <a:bodyPr rtlCol="0" anchor="ctr"/>
          <a:lstStyle/>
          <a:p>
            <a:pPr algn="ctr"/>
          </a:p>
        </p:txBody>
      </p:sp>
      <p:sp>
        <p:nvSpPr>
          <p:cNvPr id="13" name="TextBox 12"/>
          <p:cNvSpPr txBox="1"/>
          <p:nvPr/>
        </p:nvSpPr>
        <p:spPr>
          <a:xfrm>
            <a:off x="7284567" y="1536191"/>
            <a:ext cx="1798167" cy="457200"/>
          </a:xfrm>
          <a:prstGeom prst="rect">
            <a:avLst/>
          </a:prstGeom>
          <a:noFill/>
        </p:spPr>
        <p:txBody>
          <a:bodyPr wrap="square" lIns="0" rIns="0" tIns="0" bIns="0" anchor="t">
            <a:spAutoFit/>
          </a:bodyPr>
          <a:lstStyle/>
          <a:p>
            <a:pPr algn="ctr">
              <a:lnSpc>
                <a:spcPct val="100000"/>
              </a:lnSpc>
              <a:spcAft>
                <a:spcPts val="0"/>
              </a:spcAft>
            </a:pPr>
            <a:r>
              <a:rPr sz="2400" b="1">
                <a:solidFill>
                  <a:srgbClr val="1F6FEB"/>
                </a:solidFill>
                <a:latin typeface="Arial"/>
              </a:rPr>
              <a:t>premium</a:t>
            </a:r>
          </a:p>
        </p:txBody>
      </p:sp>
      <p:sp>
        <p:nvSpPr>
          <p:cNvPr id="14" name="TextBox 13"/>
          <p:cNvSpPr txBox="1"/>
          <p:nvPr/>
        </p:nvSpPr>
        <p:spPr>
          <a:xfrm>
            <a:off x="548640" y="2834640"/>
            <a:ext cx="4572000" cy="4572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€25k pilot, then €75k / yr</a:t>
            </a:r>
          </a:p>
        </p:txBody>
      </p:sp>
      <p:sp>
        <p:nvSpPr>
          <p:cNvPr id="15" name="TextBox 14"/>
          <p:cNvSpPr txBox="1"/>
          <p:nvPr/>
        </p:nvSpPr>
        <p:spPr>
          <a:xfrm>
            <a:off x="548640" y="3429000"/>
            <a:ext cx="11094415" cy="1005840"/>
          </a:xfrm>
          <a:prstGeom prst="rect">
            <a:avLst/>
          </a:prstGeom>
          <a:noFill/>
        </p:spPr>
        <p:txBody>
          <a:bodyPr wrap="square" lIns="0" rIns="0" tIns="0" bIns="0" anchor="t">
            <a:spAutoFit/>
          </a:bodyPr>
          <a:lstStyle/>
          <a:p>
            <a:pPr algn="l">
              <a:lnSpc>
                <a:spcPct val="100000"/>
              </a:lnSpc>
              <a:spcAft>
                <a:spcPts val="0"/>
              </a:spcAft>
            </a:pPr>
            <a:r>
              <a:rPr sz="6400" b="1">
                <a:solidFill>
                  <a:srgbClr val="0B1F3A"/>
                </a:solidFill>
                <a:latin typeface="Arial"/>
              </a:rPr>
              <a:t>Year 3: €0.2–0.45M / yr</a:t>
            </a:r>
          </a:p>
        </p:txBody>
      </p:sp>
      <p:sp>
        <p:nvSpPr>
          <p:cNvPr id="16" name="TextBox 15"/>
          <p:cNvSpPr txBox="1"/>
          <p:nvPr/>
        </p:nvSpPr>
        <p:spPr>
          <a:xfrm>
            <a:off x="548640" y="4434840"/>
            <a:ext cx="11094415" cy="457200"/>
          </a:xfrm>
          <a:prstGeom prst="rect">
            <a:avLst/>
          </a:prstGeom>
          <a:noFill/>
        </p:spPr>
        <p:txBody>
          <a:bodyPr wrap="square" lIns="0" rIns="0" tIns="0" bIns="0" anchor="t">
            <a:spAutoFit/>
          </a:bodyPr>
          <a:lstStyle/>
          <a:p>
            <a:pPr algn="l">
              <a:lnSpc>
                <a:spcPct val="100000"/>
              </a:lnSpc>
              <a:spcAft>
                <a:spcPts val="0"/>
              </a:spcAft>
            </a:pPr>
            <a:r>
              <a:rPr sz="2800" b="0">
                <a:solidFill>
                  <a:srgbClr val="6B7280"/>
                </a:solidFill>
                <a:latin typeface="Arial"/>
              </a:rPr>
              <a:t>3–6 Finnish insurers, then the Nordics</a:t>
            </a:r>
          </a:p>
        </p:txBody>
      </p:sp>
      <p:sp>
        <p:nvSpPr>
          <p:cNvPr id="17" name="Rounded Rectangle 16"/>
          <p:cNvSpPr/>
          <p:nvPr/>
        </p:nvSpPr>
        <p:spPr>
          <a:xfrm>
            <a:off x="548640" y="5074920"/>
            <a:ext cx="11094415" cy="1234440"/>
          </a:xfrm>
          <a:prstGeom prst="roundRect">
            <a:avLst>
              <a:gd name="adj" fmla="val 10000"/>
            </a:avLst>
          </a:prstGeom>
          <a:solidFill>
            <a:srgbClr val="0B1F3A"/>
          </a:solidFill>
          <a:ln>
            <a:noFill/>
          </a:ln>
          <a:effectLst/>
        </p:spPr>
        <p:txBody>
          <a:bodyPr rtlCol="0" anchor="ctr"/>
          <a:lstStyle/>
          <a:p>
            <a:pPr algn="ctr"/>
          </a:p>
        </p:txBody>
      </p:sp>
      <p:sp>
        <p:nvSpPr>
          <p:cNvPr id="18" name="TextBox 17"/>
          <p:cNvSpPr txBox="1"/>
          <p:nvPr/>
        </p:nvSpPr>
        <p:spPr>
          <a:xfrm>
            <a:off x="914400" y="5074920"/>
            <a:ext cx="10545775" cy="1234440"/>
          </a:xfrm>
          <a:prstGeom prst="rect">
            <a:avLst/>
          </a:prstGeom>
          <a:noFill/>
        </p:spPr>
        <p:txBody>
          <a:bodyPr wrap="square" lIns="0" rIns="0" tIns="0" bIns="0" anchor="ctr">
            <a:spAutoFit/>
          </a:bodyPr>
          <a:lstStyle/>
          <a:p>
            <a:pPr algn="l">
              <a:lnSpc>
                <a:spcPct val="100000"/>
              </a:lnSpc>
              <a:spcAft>
                <a:spcPts val="0"/>
              </a:spcAft>
            </a:pPr>
            <a:r>
              <a:rPr sz="3200" b="1">
                <a:solidFill>
                  <a:srgbClr val="A9C8F5"/>
                </a:solidFill>
                <a:latin typeface="Arial"/>
              </a:rPr>
              <a:t>Ask:  </a:t>
            </a:r>
            <a:r>
              <a:rPr sz="3200" b="1">
                <a:solidFill>
                  <a:srgbClr val="FFFFFF"/>
                </a:solidFill>
                <a:latin typeface="Arial"/>
              </a:rPr>
              <a:t>8 weeks of one insurer's claims data, to test on real losses.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548640" y="457200"/>
            <a:ext cx="11094415" cy="731520"/>
          </a:xfrm>
          <a:prstGeom prst="rect">
            <a:avLst/>
          </a:prstGeom>
          <a:noFill/>
        </p:spPr>
        <p:txBody>
          <a:bodyPr wrap="square" lIns="0" rIns="0" tIns="0" bIns="0" anchor="t">
            <a:spAutoFit/>
          </a:bodyPr>
          <a:lstStyle/>
          <a:p>
            <a:pPr algn="l">
              <a:lnSpc>
                <a:spcPct val="100000"/>
              </a:lnSpc>
              <a:spcAft>
                <a:spcPts val="0"/>
              </a:spcAft>
            </a:pPr>
            <a:r>
              <a:rPr sz="4000" b="1">
                <a:solidFill>
                  <a:srgbClr val="FFFFFF"/>
                </a:solidFill>
                <a:latin typeface="Arial"/>
              </a:rPr>
              <a:t>Built during this hackathon</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
        <p:nvSpPr>
          <p:cNvPr id="5" name="Rounded Rectangle 4"/>
          <p:cNvSpPr/>
          <p:nvPr/>
        </p:nvSpPr>
        <p:spPr>
          <a:xfrm>
            <a:off x="548640" y="1417320"/>
            <a:ext cx="304952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6" name="TextBox 5"/>
          <p:cNvSpPr txBox="1"/>
          <p:nvPr/>
        </p:nvSpPr>
        <p:spPr>
          <a:xfrm>
            <a:off x="548640" y="1417320"/>
            <a:ext cx="304952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SYKE data pipeline</a:t>
            </a:r>
          </a:p>
        </p:txBody>
      </p:sp>
      <p:sp>
        <p:nvSpPr>
          <p:cNvPr id="7" name="Rounded Rectangle 6"/>
          <p:cNvSpPr/>
          <p:nvPr/>
        </p:nvSpPr>
        <p:spPr>
          <a:xfrm>
            <a:off x="3781044" y="1417320"/>
            <a:ext cx="2905506"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8" name="TextBox 7"/>
          <p:cNvSpPr txBox="1"/>
          <p:nvPr/>
        </p:nvSpPr>
        <p:spPr>
          <a:xfrm>
            <a:off x="3781044" y="1417320"/>
            <a:ext cx="2905506"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Joint flood model</a:t>
            </a:r>
          </a:p>
        </p:txBody>
      </p:sp>
      <p:sp>
        <p:nvSpPr>
          <p:cNvPr id="9" name="Rounded Rectangle 8"/>
          <p:cNvSpPr/>
          <p:nvPr/>
        </p:nvSpPr>
        <p:spPr>
          <a:xfrm>
            <a:off x="6869429" y="1417320"/>
            <a:ext cx="232943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0" name="TextBox 9"/>
          <p:cNvSpPr txBox="1"/>
          <p:nvPr/>
        </p:nvSpPr>
        <p:spPr>
          <a:xfrm>
            <a:off x="6869429" y="1417320"/>
            <a:ext cx="232943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Index pricing</a:t>
            </a:r>
          </a:p>
        </p:txBody>
      </p:sp>
      <p:sp>
        <p:nvSpPr>
          <p:cNvPr id="11" name="Rounded Rectangle 10"/>
          <p:cNvSpPr/>
          <p:nvPr/>
        </p:nvSpPr>
        <p:spPr>
          <a:xfrm>
            <a:off x="9381744" y="1417320"/>
            <a:ext cx="160934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2" name="TextBox 11"/>
          <p:cNvSpPr txBox="1"/>
          <p:nvPr/>
        </p:nvSpPr>
        <p:spPr>
          <a:xfrm>
            <a:off x="9381744" y="1417320"/>
            <a:ext cx="160934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Live app</a:t>
            </a:r>
          </a:p>
        </p:txBody>
      </p:sp>
      <p:sp>
        <p:nvSpPr>
          <p:cNvPr id="13" name="Rounded Rectangle 12"/>
          <p:cNvSpPr/>
          <p:nvPr/>
        </p:nvSpPr>
        <p:spPr>
          <a:xfrm>
            <a:off x="548640" y="2148840"/>
            <a:ext cx="3769614" cy="594360"/>
          </a:xfrm>
          <a:prstGeom prst="roundRect">
            <a:avLst>
              <a:gd name="adj" fmla="val 50000"/>
            </a:avLst>
          </a:prstGeom>
          <a:solidFill>
            <a:srgbClr val="1A365F"/>
          </a:solidFill>
          <a:ln w="12700">
            <a:solidFill>
              <a:srgbClr val="A9C8F5"/>
            </a:solidFill>
          </a:ln>
          <a:effectLst/>
        </p:spPr>
        <p:txBody>
          <a:bodyPr rtlCol="0" anchor="ctr"/>
          <a:lstStyle/>
          <a:p>
            <a:pPr algn="ctr"/>
          </a:p>
        </p:txBody>
      </p:sp>
      <p:sp>
        <p:nvSpPr>
          <p:cNvPr id="14" name="TextBox 13"/>
          <p:cNvSpPr txBox="1"/>
          <p:nvPr/>
        </p:nvSpPr>
        <p:spPr>
          <a:xfrm>
            <a:off x="548640" y="2148840"/>
            <a:ext cx="3769614" cy="594360"/>
          </a:xfrm>
          <a:prstGeom prst="rect">
            <a:avLst/>
          </a:prstGeom>
          <a:noFill/>
        </p:spPr>
        <p:txBody>
          <a:bodyPr wrap="square" lIns="0" rIns="0" tIns="0" bIns="0" anchor="ctr">
            <a:spAutoFit/>
          </a:bodyPr>
          <a:lstStyle/>
          <a:p>
            <a:pPr algn="ctr">
              <a:lnSpc>
                <a:spcPct val="100000"/>
              </a:lnSpc>
              <a:spcAft>
                <a:spcPts val="0"/>
              </a:spcAft>
            </a:pPr>
            <a:r>
              <a:rPr sz="2400" b="0">
                <a:solidFill>
                  <a:srgbClr val="FFFFFF"/>
                </a:solidFill>
                <a:latin typeface="Arial"/>
              </a:rPr>
              <a:t>Runs on 4 quantum chips</a:t>
            </a:r>
          </a:p>
        </p:txBody>
      </p:sp>
      <p:sp>
        <p:nvSpPr>
          <p:cNvPr id="15" name="TextBox 14"/>
          <p:cNvSpPr txBox="1"/>
          <p:nvPr/>
        </p:nvSpPr>
        <p:spPr>
          <a:xfrm>
            <a:off x="548640" y="3154680"/>
            <a:ext cx="11094415" cy="914400"/>
          </a:xfrm>
          <a:prstGeom prst="rect">
            <a:avLst/>
          </a:prstGeom>
          <a:noFill/>
        </p:spPr>
        <p:txBody>
          <a:bodyPr wrap="square" lIns="0" rIns="0" tIns="0" bIns="0" anchor="t">
            <a:spAutoFit/>
          </a:bodyPr>
          <a:lstStyle/>
          <a:p>
            <a:pPr algn="l">
              <a:lnSpc>
                <a:spcPct val="100000"/>
              </a:lnSpc>
              <a:spcAft>
                <a:spcPts val="0"/>
              </a:spcAft>
            </a:pPr>
            <a:r>
              <a:rPr sz="4400" b="1">
                <a:solidFill>
                  <a:srgbClr val="FFFFFF"/>
                </a:solidFill>
                <a:latin typeface="Arial"/>
              </a:rPr>
              <a:t>Next March, the snow will warn us </a:t>
            </a:r>
            <a:r>
              <a:rPr sz="4400" b="1">
                <a:solidFill>
                  <a:srgbClr val="A9C8F5"/>
                </a:solidFill>
                <a:latin typeface="Arial"/>
              </a:rPr>
              <a:t>again.</a:t>
            </a:r>
          </a:p>
        </p:txBody>
      </p:sp>
      <p:sp>
        <p:nvSpPr>
          <p:cNvPr id="16" name="TextBox 15"/>
          <p:cNvSpPr txBox="1"/>
          <p:nvPr/>
        </p:nvSpPr>
        <p:spPr>
          <a:xfrm>
            <a:off x="548640" y="4023360"/>
            <a:ext cx="11094415" cy="548640"/>
          </a:xfrm>
          <a:prstGeom prst="rect">
            <a:avLst/>
          </a:prstGeom>
          <a:noFill/>
        </p:spPr>
        <p:txBody>
          <a:bodyPr wrap="square" lIns="0" rIns="0" tIns="0" bIns="0" anchor="t">
            <a:spAutoFit/>
          </a:bodyPr>
          <a:lstStyle/>
          <a:p>
            <a:pPr algn="l">
              <a:lnSpc>
                <a:spcPct val="100000"/>
              </a:lnSpc>
              <a:spcAft>
                <a:spcPts val="0"/>
              </a:spcAft>
            </a:pPr>
            <a:r>
              <a:rPr sz="3200" b="0">
                <a:solidFill>
                  <a:srgbClr val="A9C8F5"/>
                </a:solidFill>
                <a:latin typeface="Arial"/>
              </a:rPr>
              <a:t>This time, it will have a price.</a:t>
            </a:r>
          </a:p>
        </p:txBody>
      </p:sp>
      <p:sp>
        <p:nvSpPr>
          <p:cNvPr id="17" name="TextBox 16"/>
          <p:cNvSpPr txBox="1"/>
          <p:nvPr/>
        </p:nvSpPr>
        <p:spPr>
          <a:xfrm>
            <a:off x="548640" y="5349240"/>
            <a:ext cx="10058400" cy="822960"/>
          </a:xfrm>
          <a:prstGeom prst="rect">
            <a:avLst/>
          </a:prstGeom>
          <a:noFill/>
        </p:spPr>
        <p:txBody>
          <a:bodyPr wrap="square" lIns="0" rIns="0" tIns="0" bIns="0" anchor="t">
            <a:spAutoFit/>
          </a:bodyPr>
          <a:lstStyle/>
          <a:p>
            <a:pPr algn="l">
              <a:lnSpc>
                <a:spcPct val="100000"/>
              </a:lnSpc>
              <a:spcAft>
                <a:spcPts val="400"/>
              </a:spcAft>
            </a:pPr>
            <a:r>
              <a:rPr sz="2400" b="1">
                <a:solidFill>
                  <a:srgbClr val="FFFFFF"/>
                </a:solidFill>
                <a:latin typeface="Arial"/>
              </a:rPr>
              <a:t>Toivo Kallio</a:t>
            </a:r>
            <a:r>
              <a:rPr sz="2400" b="0">
                <a:solidFill>
                  <a:srgbClr val="A9C8F5"/>
                </a:solidFill>
                <a:latin typeface="Arial"/>
              </a:rPr>
              <a:t>  ·  </a:t>
            </a:r>
            <a:r>
              <a:rPr sz="2400" b="1">
                <a:solidFill>
                  <a:srgbClr val="FFFFFF"/>
                </a:solidFill>
                <a:latin typeface="Arial"/>
              </a:rPr>
              <a:t>Vaishnav Rane</a:t>
            </a:r>
          </a:p>
          <a:p>
            <a:pPr algn="l">
              <a:lnSpc>
                <a:spcPct val="100000"/>
              </a:lnSpc>
              <a:spcAft>
                <a:spcPts val="400"/>
              </a:spcAft>
            </a:pPr>
            <a:r>
              <a:rPr sz="1800" b="0">
                <a:solidFill>
                  <a:srgbClr val="A9C8F5"/>
                </a:solidFill>
                <a:latin typeface="Arial"/>
              </a:rPr>
              <a:t>Team 21 STUHI  ·  Quantum x Finance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