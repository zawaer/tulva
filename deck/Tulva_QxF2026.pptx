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[Hook (0:00–0:09)]</a:t>
            </a:r>
          </a:p>
          <a:p>
            <a:r>
              <a:t>In May 2005, Kittilä and Ivalo flooded together. The March snow had warned us. Nobody used that warning. Tulva does.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(0:09–0:26)]</a:t>
            </a:r>
          </a:p>
          <a:p>
            <a:r>
              <a:t>Finnish rivers share one snowpack, so they flood together. Many river areas flood in the same spring about four times as often as independence predicts. That joint risk sits on insurers' books, and covers are bought before the snow is known.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product (0:26–0:57)]</a:t>
            </a:r>
          </a:p>
          <a:p>
            <a:r>
              <a:t>The Tulva Index pays when several northern gauges pass a rare flood level in one spring, with the limit sized to the insurer's own retained joint loss. Priced jointly: five to seven percent of the limit a year. Sold in autumn; in March, the snow update shows how much joint risk the insurer holds. Vendor flood models are rainfall-driven, SYKE's outlook goes unpriced, FLOW covers one gauge. Tulva prices the joint, snow-driven risk.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video (0:57–1:34), narrated live]</a:t>
            </a:r>
          </a:p>
          <a:p>
            <a:r>
              <a:t>This is our live app. Lines join river areas that flood together. Now I set the March snow outlook to high, and the northern cover's price jumps. Here are real shots from IQM's Emerald chip: after a snowy March, joint floods turn up far more often. Next, the whole flood model on one quantum chip, matching the joint tail that independence misses. Finally, spring 2005: Lapland lights up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in practice (1:34–1:49)]</a:t>
            </a:r>
          </a:p>
          <a:p>
            <a:r>
              <a:t>The whole model loads onto one IQM chip and reproduces the joint tail. On IBM and IQM, our calibrated amplitude estimates land within twenty to thirty percent of exact, and the snow signal survives.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[Quantum, honestly (1:49–2:04)]</a:t>
            </a:r>
          </a:p>
          <a:p>
            <a:r>
              <a:t>Honestly: classical Monte Carlo still wins today. Today's chips handle about fifty two-qubit gates; rarer events drown in noise. The method is ready, the hardware isn't yet, so now is the time to build the pipeline.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(2:04–2:25)]</a:t>
            </a:r>
          </a:p>
          <a:p>
            <a:r>
              <a:t>Finland is our pilot: it has the best open data. We license the engine to insurers, then reinsurers and brokers across Nordic and Central European flood. Why now? From January 2027, Solvency II charges capital for Finnish flood. First step: a paid pilot this autumn, ahead of the January renewal.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(2:25–2:38)]</a:t>
            </a:r>
          </a:p>
          <a:p>
            <a:r>
              <a:t>Everything you saw was built this weekend: data pipeline, joint model, pricing, and runs on three quantum chips. Tulva prices spring floods as a joint risk, from this winter's snow.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6400800" cy="457200"/>
          </a:xfrm>
          <a:prstGeom prst="rect">
            <a:avLst/>
          </a:prstGeom>
          <a:noFill/>
        </p:spPr>
        <p:txBody>
          <a:bodyPr wrap="square" lIns="0" rIns="0" tIns="0" bIns="0" anchor="t">
            <a:spAutoFit/>
          </a:bodyPr>
          <a:lstStyle/>
          <a:p>
            <a:pPr algn="l">
              <a:lnSpc>
                <a:spcPct val="100000"/>
              </a:lnSpc>
              <a:spcAft>
                <a:spcPts val="0"/>
              </a:spcAft>
            </a:pPr>
            <a:r>
              <a:rPr sz="2200" b="1">
                <a:solidFill>
                  <a:srgbClr val="0B1F3A"/>
                </a:solidFill>
                <a:latin typeface="Arial"/>
              </a:rPr>
              <a:t>Tulva</a:t>
            </a:r>
            <a:r>
              <a:rPr sz="1800" b="0">
                <a:solidFill>
                  <a:srgbClr val="6B7280"/>
                </a:solidFill>
                <a:latin typeface="Arial"/>
              </a:rPr>
              <a:t>   spring-flood risk, priced jointly</a:t>
            </a:r>
          </a:p>
        </p:txBody>
      </p:sp>
      <p:sp>
        <p:nvSpPr>
          <p:cNvPr id="3" name="TextBox 2"/>
          <p:cNvSpPr txBox="1"/>
          <p:nvPr/>
        </p:nvSpPr>
        <p:spPr>
          <a:xfrm>
            <a:off x="548640" y="1691640"/>
            <a:ext cx="6217920" cy="2926080"/>
          </a:xfrm>
          <a:prstGeom prst="rect">
            <a:avLst/>
          </a:prstGeom>
          <a:noFill/>
        </p:spPr>
        <p:txBody>
          <a:bodyPr wrap="square" lIns="0" rIns="0" tIns="0" bIns="0" anchor="t">
            <a:spAutoFit/>
          </a:bodyPr>
          <a:lstStyle/>
          <a:p>
            <a:pPr algn="l">
              <a:lnSpc>
                <a:spcPct val="105000"/>
              </a:lnSpc>
              <a:spcAft>
                <a:spcPts val="1800"/>
              </a:spcAft>
            </a:pPr>
            <a:r>
              <a:rPr sz="4200" b="1">
                <a:solidFill>
                  <a:srgbClr val="0B1F3A"/>
                </a:solidFill>
                <a:latin typeface="Arial"/>
              </a:rPr>
              <a:t>In May 2005, Kittilä and Ivalo flooded </a:t>
            </a:r>
            <a:r>
              <a:rPr sz="4200" b="1">
                <a:solidFill>
                  <a:srgbClr val="1F6FEB"/>
                </a:solidFill>
                <a:latin typeface="Arial"/>
              </a:rPr>
              <a:t>together.</a:t>
            </a:r>
          </a:p>
          <a:p>
            <a:pPr algn="l">
              <a:lnSpc>
                <a:spcPct val="105000"/>
              </a:lnSpc>
              <a:spcAft>
                <a:spcPts val="1800"/>
              </a:spcAft>
            </a:pPr>
            <a:r>
              <a:rPr sz="2400" b="0">
                <a:solidFill>
                  <a:srgbClr val="6B7280"/>
                </a:solidFill>
                <a:latin typeface="Arial"/>
              </a:rPr>
              <a:t>The snow had warned us two months earlier.</a:t>
            </a:r>
          </a:p>
        </p:txBody>
      </p:sp>
      <p:sp>
        <p:nvSpPr>
          <p:cNvPr id="4" name="TextBox 3"/>
          <p:cNvSpPr txBox="1"/>
          <p:nvPr/>
        </p:nvSpPr>
        <p:spPr>
          <a:xfrm>
            <a:off x="548640" y="4206240"/>
            <a:ext cx="5852160" cy="822960"/>
          </a:xfrm>
          <a:prstGeom prst="rect">
            <a:avLst/>
          </a:prstGeom>
          <a:noFill/>
        </p:spPr>
        <p:txBody>
          <a:bodyPr wrap="square" lIns="0" rIns="0" tIns="0" bIns="0" anchor="t">
            <a:spAutoFit/>
          </a:bodyPr>
          <a:lstStyle/>
          <a:p>
            <a:pPr algn="l">
              <a:lnSpc>
                <a:spcPct val="100000"/>
              </a:lnSpc>
              <a:spcAft>
                <a:spcPts val="0"/>
              </a:spcAft>
            </a:pPr>
            <a:r>
              <a:rPr sz="1800" b="0">
                <a:solidFill>
                  <a:srgbClr val="0B1F3A"/>
                </a:solidFill>
                <a:latin typeface="Arial"/>
              </a:rPr>
              <a:t>The 1 March snow flagged 2005 in advance. Then both rivers flooded in the same spring.</a:t>
            </a:r>
          </a:p>
        </p:txBody>
      </p:sp>
      <p:pic>
        <p:nvPicPr>
          <p:cNvPr id="5" name="Picture 4" descr="map_2005.png"/>
          <p:cNvPicPr>
            <a:picLocks noChangeAspect="1"/>
          </p:cNvPicPr>
          <p:nvPr/>
        </p:nvPicPr>
        <p:blipFill>
          <a:blip r:embed="rId2"/>
          <a:stretch>
            <a:fillRect/>
          </a:stretch>
        </p:blipFill>
        <p:spPr>
          <a:xfrm>
            <a:off x="6949440" y="868680"/>
            <a:ext cx="4663440" cy="3828197"/>
          </a:xfrm>
          <a:prstGeom prst="rect">
            <a:avLst/>
          </a:prstGeom>
          <a:ln>
            <a:solidFill>
              <a:srgbClr val="DDE3EA"/>
            </a:solidFill>
          </a:ln>
        </p:spPr>
      </p:pic>
      <p:sp>
        <p:nvSpPr>
          <p:cNvPr id="6" name="Rectangle 5"/>
          <p:cNvSpPr/>
          <p:nvPr/>
        </p:nvSpPr>
        <p:spPr>
          <a:xfrm>
            <a:off x="9692640" y="1737360"/>
            <a:ext cx="717804" cy="310896"/>
          </a:xfrm>
          <a:prstGeom prst="rect">
            <a:avLst/>
          </a:prstGeom>
          <a:solidFill>
            <a:srgbClr val="F3F6FA"/>
          </a:solidFill>
          <a:ln>
            <a:noFill/>
          </a:ln>
          <a:effectLst/>
        </p:spPr>
        <p:txBody>
          <a:bodyPr rtlCol="0" anchor="ctr"/>
          <a:lstStyle/>
          <a:p>
            <a:pPr algn="ctr"/>
          </a:p>
        </p:txBody>
      </p:sp>
      <p:sp>
        <p:nvSpPr>
          <p:cNvPr id="7" name="TextBox 6"/>
          <p:cNvSpPr txBox="1"/>
          <p:nvPr/>
        </p:nvSpPr>
        <p:spPr>
          <a:xfrm>
            <a:off x="9692640" y="1737360"/>
            <a:ext cx="7178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Ivalo</a:t>
            </a:r>
          </a:p>
        </p:txBody>
      </p:sp>
      <p:sp>
        <p:nvSpPr>
          <p:cNvPr id="8" name="Rectangle 7"/>
          <p:cNvSpPr/>
          <p:nvPr/>
        </p:nvSpPr>
        <p:spPr>
          <a:xfrm>
            <a:off x="7886700" y="2350008"/>
            <a:ext cx="946403" cy="310896"/>
          </a:xfrm>
          <a:prstGeom prst="rect">
            <a:avLst/>
          </a:prstGeom>
          <a:solidFill>
            <a:srgbClr val="F3F6FA"/>
          </a:solidFill>
          <a:ln>
            <a:noFill/>
          </a:ln>
          <a:effectLst/>
        </p:spPr>
        <p:txBody>
          <a:bodyPr rtlCol="0" anchor="ctr"/>
          <a:lstStyle/>
          <a:p>
            <a:pPr algn="ctr"/>
          </a:p>
        </p:txBody>
      </p:sp>
      <p:sp>
        <p:nvSpPr>
          <p:cNvPr id="9" name="TextBox 8"/>
          <p:cNvSpPr txBox="1"/>
          <p:nvPr/>
        </p:nvSpPr>
        <p:spPr>
          <a:xfrm>
            <a:off x="7886700" y="2350008"/>
            <a:ext cx="946403"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Kittilä</a:t>
            </a:r>
          </a:p>
        </p:txBody>
      </p:sp>
      <p:sp>
        <p:nvSpPr>
          <p:cNvPr id="10" name="Rectangle 9"/>
          <p:cNvSpPr/>
          <p:nvPr/>
        </p:nvSpPr>
        <p:spPr>
          <a:xfrm>
            <a:off x="9281160" y="3017520"/>
            <a:ext cx="1175004" cy="310896"/>
          </a:xfrm>
          <a:prstGeom prst="rect">
            <a:avLst/>
          </a:prstGeom>
          <a:solidFill>
            <a:srgbClr val="F3F6FA"/>
          </a:solidFill>
          <a:ln>
            <a:noFill/>
          </a:ln>
          <a:effectLst/>
        </p:spPr>
        <p:txBody>
          <a:bodyPr rtlCol="0" anchor="ctr"/>
          <a:lstStyle/>
          <a:p>
            <a:pPr algn="ctr"/>
          </a:p>
        </p:txBody>
      </p:sp>
      <p:sp>
        <p:nvSpPr>
          <p:cNvPr id="11" name="TextBox 10"/>
          <p:cNvSpPr txBox="1"/>
          <p:nvPr/>
        </p:nvSpPr>
        <p:spPr>
          <a:xfrm>
            <a:off x="9281160" y="3017520"/>
            <a:ext cx="11750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Rovaniemi</a:t>
            </a:r>
          </a:p>
        </p:txBody>
      </p:sp>
      <p:sp>
        <p:nvSpPr>
          <p:cNvPr id="12" name="Rectangle 11"/>
          <p:cNvSpPr/>
          <p:nvPr/>
        </p:nvSpPr>
        <p:spPr>
          <a:xfrm>
            <a:off x="7827264" y="3392424"/>
            <a:ext cx="832104" cy="310896"/>
          </a:xfrm>
          <a:prstGeom prst="rect">
            <a:avLst/>
          </a:prstGeom>
          <a:solidFill>
            <a:srgbClr val="F3F6FA"/>
          </a:solidFill>
          <a:ln>
            <a:noFill/>
          </a:ln>
          <a:effectLst/>
        </p:spPr>
        <p:txBody>
          <a:bodyPr rtlCol="0" anchor="ctr"/>
          <a:lstStyle/>
          <a:p>
            <a:pPr algn="ctr"/>
          </a:p>
        </p:txBody>
      </p:sp>
      <p:sp>
        <p:nvSpPr>
          <p:cNvPr id="13" name="TextBox 12"/>
          <p:cNvSpPr txBox="1"/>
          <p:nvPr/>
        </p:nvSpPr>
        <p:spPr>
          <a:xfrm>
            <a:off x="7827264" y="3392424"/>
            <a:ext cx="832104" cy="310896"/>
          </a:xfrm>
          <a:prstGeom prst="rect">
            <a:avLst/>
          </a:prstGeom>
          <a:noFill/>
        </p:spPr>
        <p:txBody>
          <a:bodyPr wrap="square" lIns="0" rIns="0" tIns="0" bIns="0" anchor="ctr">
            <a:spAutoFit/>
          </a:bodyPr>
          <a:lstStyle/>
          <a:p>
            <a:pPr algn="ctr">
              <a:lnSpc>
                <a:spcPct val="100000"/>
              </a:lnSpc>
              <a:spcAft>
                <a:spcPts val="0"/>
              </a:spcAft>
            </a:pPr>
            <a:r>
              <a:rPr sz="1600" b="1">
                <a:solidFill>
                  <a:srgbClr val="0B1F3A"/>
                </a:solidFill>
                <a:latin typeface="Arial"/>
              </a:rPr>
              <a:t>Tornio</a:t>
            </a:r>
          </a:p>
        </p:txBody>
      </p:sp>
      <p:sp>
        <p:nvSpPr>
          <p:cNvPr id="14" name="TextBox 13"/>
          <p:cNvSpPr txBox="1"/>
          <p:nvPr/>
        </p:nvSpPr>
        <p:spPr>
          <a:xfrm>
            <a:off x="6949440" y="4788317"/>
            <a:ext cx="4663440" cy="320040"/>
          </a:xfrm>
          <a:prstGeom prst="rect">
            <a:avLst/>
          </a:prstGeom>
          <a:noFill/>
        </p:spPr>
        <p:txBody>
          <a:bodyPr wrap="square" lIns="0" rIns="0" tIns="0" bIns="0" anchor="t">
            <a:spAutoFit/>
          </a:bodyPr>
          <a:lstStyle/>
          <a:p>
            <a:pPr algn="r">
              <a:lnSpc>
                <a:spcPct val="100000"/>
              </a:lnSpc>
              <a:spcAft>
                <a:spcPts val="0"/>
              </a:spcAft>
            </a:pPr>
            <a:r>
              <a:rPr sz="1600" b="0">
                <a:solidFill>
                  <a:srgbClr val="6B7280"/>
                </a:solidFill>
                <a:latin typeface="Arial"/>
              </a:rPr>
              <a:t>Tulva app: spring 2005 replay</a:t>
            </a:r>
          </a:p>
        </p:txBody>
      </p:sp>
      <p:sp>
        <p:nvSpPr>
          <p:cNvPr id="15" name="TextBox 1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discharge 1961–2025 and 1 March snow (SWE); Tulva back-test (out/backtest.json)</a:t>
            </a:r>
          </a:p>
        </p:txBody>
      </p:sp>
      <p:sp>
        <p:nvSpPr>
          <p:cNvPr id="16" name="TextBox 15"/>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GAP</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Finland's rivers flood together, not one at a time</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2</a:t>
            </a:r>
          </a:p>
        </p:txBody>
      </p:sp>
      <p:pic>
        <p:nvPicPr>
          <p:cNvPr id="5" name="Picture 4" descr="pitch_gap.png"/>
          <p:cNvPicPr>
            <a:picLocks noChangeAspect="1"/>
          </p:cNvPicPr>
          <p:nvPr/>
        </p:nvPicPr>
        <p:blipFill>
          <a:blip r:embed="rId2"/>
          <a:stretch>
            <a:fillRect/>
          </a:stretch>
        </p:blipFill>
        <p:spPr>
          <a:xfrm>
            <a:off x="548640" y="1463040"/>
            <a:ext cx="7223760" cy="4800600"/>
          </a:xfrm>
          <a:prstGeom prst="rect">
            <a:avLst/>
          </a:prstGeom>
        </p:spPr>
      </p:pic>
      <p:sp>
        <p:nvSpPr>
          <p:cNvPr id="6" name="TextBox 5"/>
          <p:cNvSpPr txBox="1"/>
          <p:nvPr/>
        </p:nvSpPr>
        <p:spPr>
          <a:xfrm>
            <a:off x="8183879" y="1508760"/>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Springs with ≥4 of 14 areas over their 1-in-10 level</a:t>
            </a:r>
          </a:p>
        </p:txBody>
      </p:sp>
      <p:sp>
        <p:nvSpPr>
          <p:cNvPr id="7" name="TextBox 6"/>
          <p:cNvSpPr txBox="1"/>
          <p:nvPr/>
        </p:nvSpPr>
        <p:spPr>
          <a:xfrm>
            <a:off x="8183879" y="21031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0B1F3A"/>
                </a:solidFill>
                <a:latin typeface="Arial"/>
              </a:rPr>
              <a:t>15.4 %</a:t>
            </a:r>
          </a:p>
        </p:txBody>
      </p:sp>
      <p:sp>
        <p:nvSpPr>
          <p:cNvPr id="8" name="TextBox 7"/>
          <p:cNvSpPr txBox="1"/>
          <p:nvPr/>
        </p:nvSpPr>
        <p:spPr>
          <a:xfrm>
            <a:off x="8183879" y="2672588"/>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observed (10 of 65 years)</a:t>
            </a:r>
          </a:p>
        </p:txBody>
      </p:sp>
      <p:sp>
        <p:nvSpPr>
          <p:cNvPr id="9" name="TextBox 8"/>
          <p:cNvSpPr txBox="1"/>
          <p:nvPr/>
        </p:nvSpPr>
        <p:spPr>
          <a:xfrm>
            <a:off x="8183879" y="30175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1F6FEB"/>
                </a:solidFill>
                <a:latin typeface="Arial"/>
              </a:rPr>
              <a:t>12.2 %</a:t>
            </a:r>
          </a:p>
        </p:txBody>
      </p:sp>
      <p:sp>
        <p:nvSpPr>
          <p:cNvPr id="10" name="TextBox 9"/>
          <p:cNvSpPr txBox="1"/>
          <p:nvPr/>
        </p:nvSpPr>
        <p:spPr>
          <a:xfrm>
            <a:off x="8183879" y="3586988"/>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Tulva joint model</a:t>
            </a:r>
          </a:p>
        </p:txBody>
      </p:sp>
      <p:sp>
        <p:nvSpPr>
          <p:cNvPr id="11" name="TextBox 10"/>
          <p:cNvSpPr txBox="1"/>
          <p:nvPr/>
        </p:nvSpPr>
        <p:spPr>
          <a:xfrm>
            <a:off x="8183879" y="3931920"/>
            <a:ext cx="3474720" cy="685800"/>
          </a:xfrm>
          <a:prstGeom prst="rect">
            <a:avLst/>
          </a:prstGeom>
          <a:noFill/>
        </p:spPr>
        <p:txBody>
          <a:bodyPr wrap="square" lIns="0" rIns="0" tIns="0" bIns="0" anchor="t">
            <a:spAutoFit/>
          </a:bodyPr>
          <a:lstStyle/>
          <a:p>
            <a:pPr algn="l">
              <a:lnSpc>
                <a:spcPct val="100000"/>
              </a:lnSpc>
              <a:spcAft>
                <a:spcPts val="0"/>
              </a:spcAft>
            </a:pPr>
            <a:r>
              <a:rPr sz="3800" b="1">
                <a:solidFill>
                  <a:srgbClr val="D13B2F"/>
                </a:solidFill>
                <a:latin typeface="Arial"/>
              </a:rPr>
              <a:t>3.9 %</a:t>
            </a:r>
          </a:p>
        </p:txBody>
      </p:sp>
      <p:sp>
        <p:nvSpPr>
          <p:cNvPr id="12" name="TextBox 11"/>
          <p:cNvSpPr txBox="1"/>
          <p:nvPr/>
        </p:nvSpPr>
        <p:spPr>
          <a:xfrm>
            <a:off x="8183879" y="4501387"/>
            <a:ext cx="3474720" cy="54864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if areas were independent</a:t>
            </a:r>
          </a:p>
        </p:txBody>
      </p:sp>
      <p:sp>
        <p:nvSpPr>
          <p:cNvPr id="13" name="Rectangle 12"/>
          <p:cNvSpPr/>
          <p:nvPr/>
        </p:nvSpPr>
        <p:spPr>
          <a:xfrm>
            <a:off x="8183879" y="4937760"/>
            <a:ext cx="3474720" cy="18288"/>
          </a:xfrm>
          <a:prstGeom prst="rect">
            <a:avLst/>
          </a:prstGeom>
          <a:solidFill>
            <a:srgbClr val="DDE3EA"/>
          </a:solidFill>
          <a:ln>
            <a:noFill/>
          </a:ln>
          <a:effectLst/>
        </p:spPr>
        <p:txBody>
          <a:bodyPr rtlCol="0" anchor="ctr"/>
          <a:lstStyle/>
          <a:p>
            <a:pPr algn="ctr"/>
          </a:p>
        </p:txBody>
      </p:sp>
      <p:sp>
        <p:nvSpPr>
          <p:cNvPr id="14" name="TextBox 13"/>
          <p:cNvSpPr txBox="1"/>
          <p:nvPr/>
        </p:nvSpPr>
        <p:spPr>
          <a:xfrm>
            <a:off x="8183879" y="5074920"/>
            <a:ext cx="3474720" cy="109728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Covers are bought before 1 January; the snow signal arrives in March.</a:t>
            </a:r>
          </a:p>
        </p:txBody>
      </p:sp>
      <p:sp>
        <p:nvSpPr>
          <p:cNvPr id="15" name="TextBox 1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SYKE 1961–2025 (+ SMHI Torne), Tulva model (exact); vesi.fi / OP (1-in-50 rule)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THE PRODUCT</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Tulva Index: sold in autumn, updated in March</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3</a:t>
            </a:r>
          </a:p>
        </p:txBody>
      </p:sp>
      <p:sp>
        <p:nvSpPr>
          <p:cNvPr id="5" name="Rounded Rectangle 4"/>
          <p:cNvSpPr/>
          <p:nvPr/>
        </p:nvSpPr>
        <p:spPr>
          <a:xfrm>
            <a:off x="548640" y="1417320"/>
            <a:ext cx="11094415" cy="868680"/>
          </a:xfrm>
          <a:prstGeom prst="roundRect">
            <a:avLst>
              <a:gd name="adj" fmla="val 12000"/>
            </a:avLst>
          </a:prstGeom>
          <a:solidFill>
            <a:srgbClr val="0B1F3A"/>
          </a:solidFill>
          <a:ln>
            <a:noFill/>
          </a:ln>
          <a:effectLst/>
        </p:spPr>
        <p:txBody>
          <a:bodyPr rtlCol="0" anchor="ctr"/>
          <a:lstStyle/>
          <a:p>
            <a:pPr algn="ctr"/>
          </a:p>
        </p:txBody>
      </p:sp>
      <p:sp>
        <p:nvSpPr>
          <p:cNvPr id="6" name="TextBox 5"/>
          <p:cNvSpPr txBox="1"/>
          <p:nvPr/>
        </p:nvSpPr>
        <p:spPr>
          <a:xfrm>
            <a:off x="914400" y="1417320"/>
            <a:ext cx="10362895" cy="868680"/>
          </a:xfrm>
          <a:prstGeom prst="rect">
            <a:avLst/>
          </a:prstGeom>
          <a:noFill/>
        </p:spPr>
        <p:txBody>
          <a:bodyPr wrap="square" lIns="0" rIns="0" tIns="0" bIns="0" anchor="ctr">
            <a:spAutoFit/>
          </a:bodyPr>
          <a:lstStyle/>
          <a:p>
            <a:pPr algn="l">
              <a:lnSpc>
                <a:spcPct val="100000"/>
              </a:lnSpc>
              <a:spcAft>
                <a:spcPts val="0"/>
              </a:spcAft>
            </a:pPr>
            <a:r>
              <a:rPr sz="2400" b="1">
                <a:solidFill>
                  <a:srgbClr val="FFFFFF"/>
                </a:solidFill>
                <a:latin typeface="Arial"/>
              </a:rPr>
              <a:t>Pays the limit</a:t>
            </a:r>
            <a:r>
              <a:rPr sz="2400" b="0">
                <a:solidFill>
                  <a:srgbClr val="FFFFFF"/>
                </a:solidFill>
                <a:latin typeface="Arial"/>
              </a:rPr>
              <a:t> if ≥2 of 5 northern gauges pass their 1-in-50 level this spring</a:t>
            </a:r>
          </a:p>
        </p:txBody>
      </p:sp>
      <p:sp>
        <p:nvSpPr>
          <p:cNvPr id="7" name="TextBox 6"/>
          <p:cNvSpPr txBox="1"/>
          <p:nvPr/>
        </p:nvSpPr>
        <p:spPr>
          <a:xfrm>
            <a:off x="548640" y="2395728"/>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MARKET PRICE, % OF THE LIMIT PER YEAR</a:t>
            </a:r>
          </a:p>
        </p:txBody>
      </p:sp>
      <p:sp>
        <p:nvSpPr>
          <p:cNvPr id="8" name="TextBox 7"/>
          <p:cNvSpPr txBox="1"/>
          <p:nvPr/>
        </p:nvSpPr>
        <p:spPr>
          <a:xfrm>
            <a:off x="6035040" y="2414016"/>
            <a:ext cx="5608015" cy="274320"/>
          </a:xfrm>
          <a:prstGeom prst="rect">
            <a:avLst/>
          </a:prstGeom>
          <a:noFill/>
        </p:spPr>
        <p:txBody>
          <a:bodyPr wrap="square" lIns="0" rIns="0" tIns="0" bIns="0" anchor="t">
            <a:spAutoFit/>
          </a:bodyPr>
          <a:lstStyle/>
          <a:p>
            <a:pPr algn="r">
              <a:lnSpc>
                <a:spcPct val="100000"/>
              </a:lnSpc>
              <a:spcAft>
                <a:spcPts val="0"/>
              </a:spcAft>
            </a:pPr>
            <a:r>
              <a:rPr sz="1200" b="0">
                <a:solidFill>
                  <a:srgbClr val="6B7280"/>
                </a:solidFill>
                <a:latin typeface="Arial"/>
              </a:rPr>
              <a:t>Limit sized to each insurer's retained 1-in-50 joint loss (€10M illustrative)</a:t>
            </a:r>
          </a:p>
        </p:txBody>
      </p:sp>
      <p:pic>
        <p:nvPicPr>
          <p:cNvPr id="9" name="Picture 8" descr="pitch_cost.png"/>
          <p:cNvPicPr>
            <a:picLocks noChangeAspect="1"/>
          </p:cNvPicPr>
          <p:nvPr/>
        </p:nvPicPr>
        <p:blipFill>
          <a:blip r:embed="rId2"/>
          <a:stretch>
            <a:fillRect/>
          </a:stretch>
        </p:blipFill>
        <p:spPr>
          <a:xfrm>
            <a:off x="563727" y="2697480"/>
            <a:ext cx="11064240" cy="2606040"/>
          </a:xfrm>
          <a:prstGeom prst="rect">
            <a:avLst/>
          </a:prstGeom>
        </p:spPr>
      </p:pic>
      <p:sp>
        <p:nvSpPr>
          <p:cNvPr id="10" name="Rectangle 9"/>
          <p:cNvSpPr/>
          <p:nvPr/>
        </p:nvSpPr>
        <p:spPr>
          <a:xfrm>
            <a:off x="548640" y="5413248"/>
            <a:ext cx="73152" cy="658368"/>
          </a:xfrm>
          <a:prstGeom prst="rect">
            <a:avLst/>
          </a:prstGeom>
          <a:solidFill>
            <a:srgbClr val="1F6FEB"/>
          </a:solidFill>
          <a:ln>
            <a:noFill/>
          </a:ln>
          <a:effectLst/>
        </p:spPr>
        <p:txBody>
          <a:bodyPr rtlCol="0" anchor="ctr"/>
          <a:lstStyle/>
          <a:p>
            <a:pPr algn="ctr"/>
          </a:p>
        </p:txBody>
      </p:sp>
      <p:sp>
        <p:nvSpPr>
          <p:cNvPr id="11" name="TextBox 10"/>
          <p:cNvSpPr txBox="1"/>
          <p:nvPr/>
        </p:nvSpPr>
        <p:spPr>
          <a:xfrm>
            <a:off x="804672" y="5376672"/>
            <a:ext cx="10820095" cy="731520"/>
          </a:xfrm>
          <a:prstGeom prst="rect">
            <a:avLst/>
          </a:prstGeom>
          <a:noFill/>
        </p:spPr>
        <p:txBody>
          <a:bodyPr wrap="square" lIns="0" rIns="0" tIns="0" bIns="0" anchor="ctr">
            <a:spAutoFit/>
          </a:bodyPr>
          <a:lstStyle/>
          <a:p>
            <a:pPr algn="l">
              <a:lnSpc>
                <a:spcPct val="100000"/>
              </a:lnSpc>
              <a:spcAft>
                <a:spcPts val="0"/>
              </a:spcAft>
            </a:pPr>
            <a:r>
              <a:rPr sz="1700" b="0">
                <a:solidFill>
                  <a:srgbClr val="6B7280"/>
                </a:solidFill>
                <a:latin typeface="Arial"/>
              </a:rPr>
              <a:t>Vendor flood models are pan-European and rainfall-driven; SYKE's spring outlook isn't priced; Swiss Re FLOW covers one gauge. </a:t>
            </a:r>
            <a:r>
              <a:rPr sz="1700" b="1">
                <a:solidFill>
                  <a:srgbClr val="0B1F3A"/>
                </a:solidFill>
                <a:latin typeface="Arial"/>
              </a:rPr>
              <a:t>Tulva prices the joint, snow-driven risk.</a:t>
            </a:r>
          </a:p>
        </p:txBody>
      </p:sp>
      <p:sp>
        <p:nvSpPr>
          <p:cNvPr id="12" name="TextBox 11"/>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SYKE 1961–2025, Tulva model; market 2.5–3.5× expected payout (AM Best); Verisk; Swiss Re FLOW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pic>
        <p:nvPicPr>
          <p:cNvPr id="3" name="tulva_demo.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340967" y="502920"/>
            <a:ext cx="9509759" cy="5349240"/>
          </a:xfrm>
          <a:prstGeom prst="rect">
            <a:avLst/>
          </a:prstGeom>
        </p:spPr>
      </p:pic>
      <p:sp>
        <p:nvSpPr>
          <p:cNvPr id="4" name="TextBox 3"/>
          <p:cNvSpPr txBox="1"/>
          <p:nvPr/>
        </p:nvSpPr>
        <p:spPr>
          <a:xfrm>
            <a:off x="914400" y="5989320"/>
            <a:ext cx="10362895" cy="365760"/>
          </a:xfrm>
          <a:prstGeom prst="rect">
            <a:avLst/>
          </a:prstGeom>
          <a:noFill/>
        </p:spPr>
        <p:txBody>
          <a:bodyPr wrap="square" lIns="0" rIns="0" tIns="0" bIns="0" anchor="t">
            <a:spAutoFit/>
          </a:bodyPr>
          <a:lstStyle/>
          <a:p>
            <a:pPr algn="ctr">
              <a:lnSpc>
                <a:spcPct val="100000"/>
              </a:lnSpc>
              <a:spcAft>
                <a:spcPts val="0"/>
              </a:spcAft>
            </a:pPr>
            <a:r>
              <a:rPr sz="1600" b="0">
                <a:solidFill>
                  <a:srgbClr val="FFFFFF"/>
                </a:solidFill>
                <a:latin typeface="Arial"/>
              </a:rPr>
              <a:t>Live app (narrated live): joint-flood map → March snow → quantum chip → 2005 replay</a:t>
            </a:r>
          </a:p>
        </p:txBody>
      </p:sp>
      <p:sp>
        <p:nvSpPr>
          <p:cNvPr id="5" name="TextBox 4"/>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4</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3"/>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IN PRACTICE</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2400" b="1">
                <a:solidFill>
                  <a:srgbClr val="0B1F3A"/>
                </a:solidFill>
                <a:latin typeface="Arial"/>
              </a:rPr>
              <a:t>The full model fits on a chip today; amplitude estimation works on a 3-qubit piece of it.</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5</a:t>
            </a:r>
          </a:p>
        </p:txBody>
      </p:sp>
      <p:pic>
        <p:nvPicPr>
          <p:cNvPr id="5" name="Picture 4" descr="pitch_loader.png"/>
          <p:cNvPicPr>
            <a:picLocks noChangeAspect="1"/>
          </p:cNvPicPr>
          <p:nvPr/>
        </p:nvPicPr>
        <p:blipFill>
          <a:blip r:embed="rId2"/>
          <a:stretch>
            <a:fillRect/>
          </a:stretch>
        </p:blipFill>
        <p:spPr>
          <a:xfrm>
            <a:off x="548640" y="1645920"/>
            <a:ext cx="6949439" cy="3977639"/>
          </a:xfrm>
          <a:prstGeom prst="rect">
            <a:avLst/>
          </a:prstGeom>
        </p:spPr>
      </p:pic>
      <p:sp>
        <p:nvSpPr>
          <p:cNvPr id="6" name="TextBox 5"/>
          <p:cNvSpPr txBox="1"/>
          <p:nvPr/>
        </p:nvSpPr>
        <p:spPr>
          <a:xfrm>
            <a:off x="548640" y="5715000"/>
            <a:ext cx="6949440" cy="365760"/>
          </a:xfrm>
          <a:prstGeom prst="rect">
            <a:avLst/>
          </a:prstGeom>
          <a:noFill/>
        </p:spPr>
        <p:txBody>
          <a:bodyPr wrap="square" lIns="0" rIns="0" tIns="0" bIns="0" anchor="t">
            <a:spAutoFit/>
          </a:bodyPr>
          <a:lstStyle/>
          <a:p>
            <a:pPr algn="l">
              <a:lnSpc>
                <a:spcPct val="100000"/>
              </a:lnSpc>
              <a:spcAft>
                <a:spcPts val="0"/>
              </a:spcAft>
            </a:pPr>
            <a:r>
              <a:rPr sz="1600" b="0">
                <a:solidFill>
                  <a:srgbClr val="0B1F3A"/>
                </a:solidFill>
                <a:latin typeface="Arial"/>
              </a:rPr>
              <a:t>At the 1-in-10 level the chip reproduces the joint tail.</a:t>
            </a:r>
          </a:p>
        </p:txBody>
      </p:sp>
      <p:sp>
        <p:nvSpPr>
          <p:cNvPr id="7" name="TextBox 6"/>
          <p:cNvSpPr txBox="1"/>
          <p:nvPr/>
        </p:nvSpPr>
        <p:spPr>
          <a:xfrm>
            <a:off x="7863840" y="1645920"/>
            <a:ext cx="379476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ALL 14 AREAS ON IQM EMERALD</a:t>
            </a:r>
          </a:p>
        </p:txBody>
      </p:sp>
      <p:sp>
        <p:nvSpPr>
          <p:cNvPr id="8" name="TextBox 7"/>
          <p:cNvSpPr txBox="1"/>
          <p:nvPr/>
        </p:nvSpPr>
        <p:spPr>
          <a:xfrm>
            <a:off x="7863840" y="1920240"/>
            <a:ext cx="146304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18</a:t>
            </a:r>
          </a:p>
        </p:txBody>
      </p:sp>
      <p:sp>
        <p:nvSpPr>
          <p:cNvPr id="9" name="TextBox 8"/>
          <p:cNvSpPr txBox="1"/>
          <p:nvPr/>
        </p:nvSpPr>
        <p:spPr>
          <a:xfrm>
            <a:off x="7863840" y="2459736"/>
            <a:ext cx="146304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qubits</a:t>
            </a:r>
          </a:p>
        </p:txBody>
      </p:sp>
      <p:sp>
        <p:nvSpPr>
          <p:cNvPr id="10" name="TextBox 9"/>
          <p:cNvSpPr txBox="1"/>
          <p:nvPr/>
        </p:nvSpPr>
        <p:spPr>
          <a:xfrm>
            <a:off x="9418319" y="1920240"/>
            <a:ext cx="2194560" cy="685800"/>
          </a:xfrm>
          <a:prstGeom prst="rect">
            <a:avLst/>
          </a:prstGeom>
          <a:noFill/>
        </p:spPr>
        <p:txBody>
          <a:bodyPr wrap="square" lIns="0" rIns="0" tIns="0" bIns="0" anchor="t">
            <a:spAutoFit/>
          </a:bodyPr>
          <a:lstStyle/>
          <a:p>
            <a:pPr algn="l">
              <a:lnSpc>
                <a:spcPct val="100000"/>
              </a:lnSpc>
              <a:spcAft>
                <a:spcPts val="0"/>
              </a:spcAft>
            </a:pPr>
            <a:r>
              <a:rPr sz="3600" b="1">
                <a:solidFill>
                  <a:srgbClr val="0B1F3A"/>
                </a:solidFill>
                <a:latin typeface="Arial"/>
              </a:rPr>
              <a:t>44</a:t>
            </a:r>
          </a:p>
        </p:txBody>
      </p:sp>
      <p:sp>
        <p:nvSpPr>
          <p:cNvPr id="11" name="TextBox 10"/>
          <p:cNvSpPr txBox="1"/>
          <p:nvPr/>
        </p:nvSpPr>
        <p:spPr>
          <a:xfrm>
            <a:off x="9418319" y="2459736"/>
            <a:ext cx="219456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two-qubit gates</a:t>
            </a:r>
          </a:p>
        </p:txBody>
      </p:sp>
      <p:sp>
        <p:nvSpPr>
          <p:cNvPr id="12" name="Rectangle 11"/>
          <p:cNvSpPr/>
          <p:nvPr/>
        </p:nvSpPr>
        <p:spPr>
          <a:xfrm>
            <a:off x="7863840" y="3017520"/>
            <a:ext cx="3794760" cy="13716"/>
          </a:xfrm>
          <a:prstGeom prst="rect">
            <a:avLst/>
          </a:prstGeom>
          <a:solidFill>
            <a:srgbClr val="DDE3EA"/>
          </a:solidFill>
          <a:ln>
            <a:noFill/>
          </a:ln>
          <a:effectLst/>
        </p:spPr>
        <p:txBody>
          <a:bodyPr rtlCol="0" anchor="ctr"/>
          <a:lstStyle/>
          <a:p>
            <a:pPr algn="ctr"/>
          </a:p>
        </p:txBody>
      </p:sp>
      <p:sp>
        <p:nvSpPr>
          <p:cNvPr id="13" name="TextBox 12"/>
          <p:cNvSpPr txBox="1"/>
          <p:nvPr/>
        </p:nvSpPr>
        <p:spPr>
          <a:xfrm>
            <a:off x="7863840" y="3127248"/>
            <a:ext cx="379476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AMPLITUDE ESTIMATION</a:t>
            </a:r>
          </a:p>
        </p:txBody>
      </p:sp>
      <p:sp>
        <p:nvSpPr>
          <p:cNvPr id="14" name="TextBox 13"/>
          <p:cNvSpPr txBox="1"/>
          <p:nvPr/>
        </p:nvSpPr>
        <p:spPr>
          <a:xfrm>
            <a:off x="7863840" y="3429000"/>
            <a:ext cx="3794760" cy="27432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a:t>
            </a:r>
          </a:p>
        </p:txBody>
      </p:sp>
      <p:sp>
        <p:nvSpPr>
          <p:cNvPr id="15" name="TextBox 14"/>
          <p:cNvSpPr txBox="1"/>
          <p:nvPr/>
        </p:nvSpPr>
        <p:spPr>
          <a:xfrm>
            <a:off x="7863840" y="3822191"/>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Exact</a:t>
            </a:r>
          </a:p>
        </p:txBody>
      </p:sp>
      <p:sp>
        <p:nvSpPr>
          <p:cNvPr id="16" name="TextBox 15"/>
          <p:cNvSpPr txBox="1"/>
          <p:nvPr/>
        </p:nvSpPr>
        <p:spPr>
          <a:xfrm>
            <a:off x="10241280" y="3749039"/>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0B1F3A"/>
                </a:solidFill>
                <a:latin typeface="Arial"/>
              </a:rPr>
              <a:t>0.125 %</a:t>
            </a:r>
          </a:p>
        </p:txBody>
      </p:sp>
      <p:sp>
        <p:nvSpPr>
          <p:cNvPr id="17" name="Rectangle 16"/>
          <p:cNvSpPr/>
          <p:nvPr/>
        </p:nvSpPr>
        <p:spPr>
          <a:xfrm>
            <a:off x="7863840" y="4224527"/>
            <a:ext cx="3794760" cy="10972"/>
          </a:xfrm>
          <a:prstGeom prst="rect">
            <a:avLst/>
          </a:prstGeom>
          <a:solidFill>
            <a:srgbClr val="DDE3EA"/>
          </a:solidFill>
          <a:ln>
            <a:noFill/>
          </a:ln>
          <a:effectLst/>
        </p:spPr>
        <p:txBody>
          <a:bodyPr rtlCol="0" anchor="ctr"/>
          <a:lstStyle/>
          <a:p>
            <a:pPr algn="ctr"/>
          </a:p>
        </p:txBody>
      </p:sp>
      <p:sp>
        <p:nvSpPr>
          <p:cNvPr id="18" name="TextBox 17"/>
          <p:cNvSpPr txBox="1"/>
          <p:nvPr/>
        </p:nvSpPr>
        <p:spPr>
          <a:xfrm>
            <a:off x="7863840" y="4334256"/>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IBM Marrakesh</a:t>
            </a:r>
          </a:p>
        </p:txBody>
      </p:sp>
      <p:sp>
        <p:nvSpPr>
          <p:cNvPr id="19" name="TextBox 18"/>
          <p:cNvSpPr txBox="1"/>
          <p:nvPr/>
        </p:nvSpPr>
        <p:spPr>
          <a:xfrm>
            <a:off x="10241280" y="4261104"/>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1F6FEB"/>
                </a:solidFill>
                <a:latin typeface="Arial"/>
              </a:rPr>
              <a:t>0.148 %</a:t>
            </a:r>
          </a:p>
        </p:txBody>
      </p:sp>
      <p:sp>
        <p:nvSpPr>
          <p:cNvPr id="20" name="Rectangle 19"/>
          <p:cNvSpPr/>
          <p:nvPr/>
        </p:nvSpPr>
        <p:spPr>
          <a:xfrm>
            <a:off x="7863840" y="4736592"/>
            <a:ext cx="3794760" cy="10972"/>
          </a:xfrm>
          <a:prstGeom prst="rect">
            <a:avLst/>
          </a:prstGeom>
          <a:solidFill>
            <a:srgbClr val="DDE3EA"/>
          </a:solidFill>
          <a:ln>
            <a:noFill/>
          </a:ln>
          <a:effectLst/>
        </p:spPr>
        <p:txBody>
          <a:bodyPr rtlCol="0" anchor="ctr"/>
          <a:lstStyle/>
          <a:p>
            <a:pPr algn="ctr"/>
          </a:p>
        </p:txBody>
      </p:sp>
      <p:sp>
        <p:nvSpPr>
          <p:cNvPr id="21" name="TextBox 20"/>
          <p:cNvSpPr txBox="1"/>
          <p:nvPr/>
        </p:nvSpPr>
        <p:spPr>
          <a:xfrm>
            <a:off x="7863840" y="4846320"/>
            <a:ext cx="2194560" cy="365760"/>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rial"/>
              </a:rPr>
              <a:t>IQM Garnet</a:t>
            </a:r>
          </a:p>
        </p:txBody>
      </p:sp>
      <p:sp>
        <p:nvSpPr>
          <p:cNvPr id="22" name="TextBox 21"/>
          <p:cNvSpPr txBox="1"/>
          <p:nvPr/>
        </p:nvSpPr>
        <p:spPr>
          <a:xfrm>
            <a:off x="10241280" y="4773168"/>
            <a:ext cx="1417320" cy="457200"/>
          </a:xfrm>
          <a:prstGeom prst="rect">
            <a:avLst/>
          </a:prstGeom>
          <a:noFill/>
        </p:spPr>
        <p:txBody>
          <a:bodyPr wrap="square" lIns="0" rIns="0" tIns="0" bIns="0" anchor="t">
            <a:spAutoFit/>
          </a:bodyPr>
          <a:lstStyle/>
          <a:p>
            <a:pPr algn="r">
              <a:lnSpc>
                <a:spcPct val="100000"/>
              </a:lnSpc>
              <a:spcAft>
                <a:spcPts val="0"/>
              </a:spcAft>
            </a:pPr>
            <a:r>
              <a:rPr sz="2400" b="1">
                <a:solidFill>
                  <a:srgbClr val="1F6FEB"/>
                </a:solidFill>
                <a:latin typeface="Arial"/>
              </a:rPr>
              <a:t>0.163 %</a:t>
            </a:r>
          </a:p>
        </p:txBody>
      </p:sp>
      <p:sp>
        <p:nvSpPr>
          <p:cNvPr id="23" name="Rectangle 22"/>
          <p:cNvSpPr/>
          <p:nvPr/>
        </p:nvSpPr>
        <p:spPr>
          <a:xfrm>
            <a:off x="7863840" y="5248656"/>
            <a:ext cx="3794760" cy="10972"/>
          </a:xfrm>
          <a:prstGeom prst="rect">
            <a:avLst/>
          </a:prstGeom>
          <a:solidFill>
            <a:srgbClr val="DDE3EA"/>
          </a:solidFill>
          <a:ln>
            <a:noFill/>
          </a:ln>
          <a:effectLst/>
        </p:spPr>
        <p:txBody>
          <a:bodyPr rtlCol="0" anchor="ctr"/>
          <a:lstStyle/>
          <a:p>
            <a:pPr algn="ctr"/>
          </a:p>
        </p:txBody>
      </p:sp>
      <p:sp>
        <p:nvSpPr>
          <p:cNvPr id="24" name="TextBox 23"/>
          <p:cNvSpPr txBox="1"/>
          <p:nvPr/>
        </p:nvSpPr>
        <p:spPr>
          <a:xfrm>
            <a:off x="7863840" y="5349240"/>
            <a:ext cx="3794760" cy="731520"/>
          </a:xfrm>
          <a:prstGeom prst="rect">
            <a:avLst/>
          </a:prstGeom>
          <a:noFill/>
        </p:spPr>
        <p:txBody>
          <a:bodyPr wrap="square" lIns="0" rIns="0" tIns="0" bIns="0" anchor="t">
            <a:spAutoFit/>
          </a:bodyPr>
          <a:lstStyle/>
          <a:p>
            <a:pPr algn="l">
              <a:lnSpc>
                <a:spcPct val="100000"/>
              </a:lnSpc>
              <a:spcAft>
                <a:spcPts val="0"/>
              </a:spcAft>
            </a:pPr>
            <a:r>
              <a:rPr sz="1600" b="1">
                <a:solidFill>
                  <a:srgbClr val="0B1F3A"/>
                </a:solidFill>
                <a:latin typeface="Arial"/>
              </a:rPr>
              <a:t>Calibration: </a:t>
            </a:r>
            <a:r>
              <a:rPr sz="1600" b="1">
                <a:solidFill>
                  <a:srgbClr val="1F6FEB"/>
                </a:solidFill>
                <a:latin typeface="Arial"/>
              </a:rPr>
              <a:t>from 2–3× off to within ~20–30 % of exact</a:t>
            </a:r>
          </a:p>
        </p:txBody>
      </p:sp>
      <p:sp>
        <p:nvSpPr>
          <p:cNvPr id="25" name="TextBox 24"/>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IQM Emerald job 01a11cd4…, readout-corrected; IBM / IQM values calibrated (20 / 4 side-by-side copies); snow: Emerald, 10 copies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QUANTUM, HONESTLY</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Classical Monte Carlo still wins today</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6</a:t>
            </a:r>
          </a:p>
        </p:txBody>
      </p:sp>
      <p:pic>
        <p:nvPicPr>
          <p:cNvPr id="5" name="Picture 4" descr="pitch_scaling.png"/>
          <p:cNvPicPr>
            <a:picLocks noChangeAspect="1"/>
          </p:cNvPicPr>
          <p:nvPr/>
        </p:nvPicPr>
        <p:blipFill>
          <a:blip r:embed="rId2"/>
          <a:stretch>
            <a:fillRect/>
          </a:stretch>
        </p:blipFill>
        <p:spPr>
          <a:xfrm>
            <a:off x="548640" y="1508760"/>
            <a:ext cx="6949439" cy="4206240"/>
          </a:xfrm>
          <a:prstGeom prst="rect">
            <a:avLst/>
          </a:prstGeom>
        </p:spPr>
      </p:pic>
      <p:sp>
        <p:nvSpPr>
          <p:cNvPr id="6" name="TextBox 5"/>
          <p:cNvSpPr txBox="1"/>
          <p:nvPr/>
        </p:nvSpPr>
        <p:spPr>
          <a:xfrm>
            <a:off x="548640" y="5806440"/>
            <a:ext cx="6949440" cy="365760"/>
          </a:xfrm>
          <a:prstGeom prst="rect">
            <a:avLst/>
          </a:prstGeom>
          <a:noFill/>
        </p:spPr>
        <p:txBody>
          <a:bodyPr wrap="square" lIns="0" rIns="0" tIns="0" bIns="0" anchor="t">
            <a:spAutoFit/>
          </a:bodyPr>
          <a:lstStyle/>
          <a:p>
            <a:pPr algn="l">
              <a:lnSpc>
                <a:spcPct val="100000"/>
              </a:lnSpc>
              <a:spcAft>
                <a:spcPts val="0"/>
              </a:spcAft>
            </a:pPr>
            <a:r>
              <a:rPr sz="1600" b="0">
                <a:solidFill>
                  <a:srgbClr val="6B7280"/>
                </a:solidFill>
                <a:latin typeface="Arial"/>
              </a:rPr>
              <a:t>Kittilä and Ivalo both pass 1-in-50: estimation error vs effort</a:t>
            </a:r>
          </a:p>
        </p:txBody>
      </p:sp>
      <p:sp>
        <p:nvSpPr>
          <p:cNvPr id="7" name="TextBox 6"/>
          <p:cNvSpPr txBox="1"/>
          <p:nvPr/>
        </p:nvSpPr>
        <p:spPr>
          <a:xfrm>
            <a:off x="8001000" y="1600200"/>
            <a:ext cx="3657600" cy="365760"/>
          </a:xfrm>
          <a:prstGeom prst="rect">
            <a:avLst/>
          </a:prstGeom>
          <a:noFill/>
        </p:spPr>
        <p:txBody>
          <a:bodyPr wrap="square" lIns="0" rIns="0" tIns="0" bIns="0" anchor="t">
            <a:spAutoFit/>
          </a:bodyPr>
          <a:lstStyle/>
          <a:p>
            <a:pPr algn="l">
              <a:lnSpc>
                <a:spcPct val="100000"/>
              </a:lnSpc>
              <a:spcAft>
                <a:spcPts val="0"/>
              </a:spcAft>
            </a:pPr>
            <a:r>
              <a:rPr sz="1700" b="1">
                <a:solidFill>
                  <a:srgbClr val="1F6FEB"/>
                </a:solidFill>
                <a:latin typeface="Arial"/>
              </a:rPr>
              <a:t>Method ready, hardware not yet</a:t>
            </a:r>
          </a:p>
        </p:txBody>
      </p:sp>
      <p:sp>
        <p:nvSpPr>
          <p:cNvPr id="8" name="Rectangle 7"/>
          <p:cNvSpPr/>
          <p:nvPr/>
        </p:nvSpPr>
        <p:spPr>
          <a:xfrm>
            <a:off x="8001000" y="2176272"/>
            <a:ext cx="73152" cy="640080"/>
          </a:xfrm>
          <a:prstGeom prst="rect">
            <a:avLst/>
          </a:prstGeom>
          <a:solidFill>
            <a:srgbClr val="1F6FEB"/>
          </a:solidFill>
          <a:ln>
            <a:noFill/>
          </a:ln>
          <a:effectLst/>
        </p:spPr>
        <p:txBody>
          <a:bodyPr rtlCol="0" anchor="ctr"/>
          <a:lstStyle/>
          <a:p>
            <a:pPr algn="ctr"/>
          </a:p>
        </p:txBody>
      </p:sp>
      <p:sp>
        <p:nvSpPr>
          <p:cNvPr id="9" name="TextBox 8"/>
          <p:cNvSpPr txBox="1"/>
          <p:nvPr/>
        </p:nvSpPr>
        <p:spPr>
          <a:xfrm>
            <a:off x="8275320" y="2103120"/>
            <a:ext cx="3383280" cy="822960"/>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rial"/>
              </a:rPr>
              <a:t>Fault-tolerant hardware</a:t>
            </a:r>
          </a:p>
          <a:p>
            <a:pPr algn="l">
              <a:lnSpc>
                <a:spcPct val="100000"/>
              </a:lnSpc>
              <a:spcAft>
                <a:spcPts val="0"/>
              </a:spcAft>
            </a:pPr>
            <a:r>
              <a:rPr sz="1700" b="0">
                <a:solidFill>
                  <a:srgbClr val="6B7280"/>
                </a:solidFill>
                <a:latin typeface="Arial"/>
              </a:rPr>
              <a:t>~8k logical qubits needed</a:t>
            </a:r>
          </a:p>
        </p:txBody>
      </p:sp>
      <p:sp>
        <p:nvSpPr>
          <p:cNvPr id="10" name="Rectangle 9"/>
          <p:cNvSpPr/>
          <p:nvPr/>
        </p:nvSpPr>
        <p:spPr>
          <a:xfrm>
            <a:off x="8001000" y="3044952"/>
            <a:ext cx="73152" cy="640080"/>
          </a:xfrm>
          <a:prstGeom prst="rect">
            <a:avLst/>
          </a:prstGeom>
          <a:solidFill>
            <a:srgbClr val="1F6FEB"/>
          </a:solidFill>
          <a:ln>
            <a:noFill/>
          </a:ln>
          <a:effectLst/>
        </p:spPr>
        <p:txBody>
          <a:bodyPr rtlCol="0" anchor="ctr"/>
          <a:lstStyle/>
          <a:p>
            <a:pPr algn="ctr"/>
          </a:p>
        </p:txBody>
      </p:sp>
      <p:sp>
        <p:nvSpPr>
          <p:cNvPr id="11" name="TextBox 10"/>
          <p:cNvSpPr txBox="1"/>
          <p:nvPr/>
        </p:nvSpPr>
        <p:spPr>
          <a:xfrm>
            <a:off x="8275320" y="2971800"/>
            <a:ext cx="3383280" cy="822960"/>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rial"/>
              </a:rPr>
              <a:t>Expensive models</a:t>
            </a:r>
          </a:p>
          <a:p>
            <a:pPr algn="l">
              <a:lnSpc>
                <a:spcPct val="100000"/>
              </a:lnSpc>
              <a:spcAft>
                <a:spcPts val="0"/>
              </a:spcAft>
            </a:pPr>
            <a:r>
              <a:rPr sz="1700" b="0">
                <a:solidFill>
                  <a:srgbClr val="6B7280"/>
                </a:solidFill>
                <a:latin typeface="Arial"/>
              </a:rPr>
              <a:t>a hydrology model per scenario</a:t>
            </a:r>
          </a:p>
        </p:txBody>
      </p:sp>
      <p:sp>
        <p:nvSpPr>
          <p:cNvPr id="12" name="Rectangle 11"/>
          <p:cNvSpPr/>
          <p:nvPr/>
        </p:nvSpPr>
        <p:spPr>
          <a:xfrm>
            <a:off x="8001000" y="3913632"/>
            <a:ext cx="73152" cy="640080"/>
          </a:xfrm>
          <a:prstGeom prst="rect">
            <a:avLst/>
          </a:prstGeom>
          <a:solidFill>
            <a:srgbClr val="1F6FEB"/>
          </a:solidFill>
          <a:ln>
            <a:noFill/>
          </a:ln>
          <a:effectLst/>
        </p:spPr>
        <p:txBody>
          <a:bodyPr rtlCol="0" anchor="ctr"/>
          <a:lstStyle/>
          <a:p>
            <a:pPr algn="ctr"/>
          </a:p>
        </p:txBody>
      </p:sp>
      <p:sp>
        <p:nvSpPr>
          <p:cNvPr id="13" name="TextBox 12"/>
          <p:cNvSpPr txBox="1"/>
          <p:nvPr/>
        </p:nvSpPr>
        <p:spPr>
          <a:xfrm>
            <a:off x="8275320" y="3840480"/>
            <a:ext cx="3383280" cy="822960"/>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rial"/>
              </a:rPr>
              <a:t>More work per price</a:t>
            </a:r>
          </a:p>
          <a:p>
            <a:pPr algn="l">
              <a:lnSpc>
                <a:spcPct val="100000"/>
              </a:lnSpc>
              <a:spcAft>
                <a:spcPts val="0"/>
              </a:spcAft>
            </a:pPr>
            <a:r>
              <a:rPr sz="1700" b="0">
                <a:solidFill>
                  <a:srgbClr val="6B7280"/>
                </a:solidFill>
                <a:latin typeface="Arial"/>
              </a:rPr>
              <a:t>many perils, daily repricing</a:t>
            </a:r>
          </a:p>
        </p:txBody>
      </p:sp>
      <p:sp>
        <p:nvSpPr>
          <p:cNvPr id="14" name="Rectangle 13"/>
          <p:cNvSpPr/>
          <p:nvPr/>
        </p:nvSpPr>
        <p:spPr>
          <a:xfrm>
            <a:off x="8001000" y="4754880"/>
            <a:ext cx="3657600" cy="18288"/>
          </a:xfrm>
          <a:prstGeom prst="rect">
            <a:avLst/>
          </a:prstGeom>
          <a:solidFill>
            <a:srgbClr val="DDE3EA"/>
          </a:solidFill>
          <a:ln>
            <a:noFill/>
          </a:ln>
          <a:effectLst/>
        </p:spPr>
        <p:txBody>
          <a:bodyPr rtlCol="0" anchor="ctr"/>
          <a:lstStyle/>
          <a:p>
            <a:pPr algn="ctr"/>
          </a:p>
        </p:txBody>
      </p:sp>
      <p:sp>
        <p:nvSpPr>
          <p:cNvPr id="15" name="TextBox 14"/>
          <p:cNvSpPr txBox="1"/>
          <p:nvPr/>
        </p:nvSpPr>
        <p:spPr>
          <a:xfrm>
            <a:off x="8001000" y="4846320"/>
            <a:ext cx="3657600" cy="1280160"/>
          </a:xfrm>
          <a:prstGeom prst="rect">
            <a:avLst/>
          </a:prstGeom>
          <a:noFill/>
        </p:spPr>
        <p:txBody>
          <a:bodyPr wrap="square" lIns="0" rIns="0" tIns="0" bIns="0" anchor="t">
            <a:spAutoFit/>
          </a:bodyPr>
          <a:lstStyle/>
          <a:p>
            <a:pPr algn="l">
              <a:lnSpc>
                <a:spcPct val="105000"/>
              </a:lnSpc>
              <a:spcAft>
                <a:spcPts val="0"/>
              </a:spcAft>
            </a:pPr>
            <a:r>
              <a:rPr sz="1500" b="1">
                <a:solidFill>
                  <a:srgbClr val="D13B2F"/>
                </a:solidFill>
                <a:latin typeface="Arial"/>
              </a:rPr>
              <a:t>Measured today: </a:t>
            </a:r>
            <a:r>
              <a:rPr sz="1500" b="0">
                <a:solidFill>
                  <a:srgbClr val="0B1F3A"/>
                </a:solidFill>
                <a:latin typeface="Arial"/>
              </a:rPr>
              <a:t>~18 qubits / ~50 two-qubit gates work; rarer than 1-in-10 events drown in noise (1-in-50: 16 % vs 4.8 % exact)</a:t>
            </a:r>
          </a:p>
        </p:txBody>
      </p:sp>
      <p:sp>
        <p:nvSpPr>
          <p:cNvPr id="16" name="TextBox 15"/>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 Tulva simulations (qae-sim) + IBM Marrakesh / IQM Garnet runs; Chakrabarti et al., Quantum 5, 463 (2021)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9184"/>
            <a:ext cx="822960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BUSINESS</a:t>
            </a:r>
          </a:p>
        </p:txBody>
      </p:sp>
      <p:sp>
        <p:nvSpPr>
          <p:cNvPr id="3" name="TextBox 2"/>
          <p:cNvSpPr txBox="1"/>
          <p:nvPr/>
        </p:nvSpPr>
        <p:spPr>
          <a:xfrm>
            <a:off x="548640" y="658368"/>
            <a:ext cx="11094415" cy="685800"/>
          </a:xfrm>
          <a:prstGeom prst="rect">
            <a:avLst/>
          </a:prstGeom>
          <a:noFill/>
        </p:spPr>
        <p:txBody>
          <a:bodyPr wrap="square" lIns="0" rIns="0" tIns="0" bIns="0" anchor="t">
            <a:spAutoFit/>
          </a:bodyPr>
          <a:lstStyle/>
          <a:p>
            <a:pPr algn="l">
              <a:lnSpc>
                <a:spcPct val="100000"/>
              </a:lnSpc>
              <a:spcAft>
                <a:spcPts val="0"/>
              </a:spcAft>
            </a:pPr>
            <a:r>
              <a:rPr sz="3000" b="1">
                <a:solidFill>
                  <a:srgbClr val="0B1F3A"/>
                </a:solidFill>
                <a:latin typeface="Arial"/>
              </a:rPr>
              <a:t>Who buys, why, and why now</a:t>
            </a:r>
          </a:p>
        </p:txBody>
      </p:sp>
      <p:sp>
        <p:nvSpPr>
          <p:cNvPr id="4" name="TextBox 3"/>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0B1F3A"/>
                </a:solidFill>
                <a:latin typeface="Arial"/>
              </a:rPr>
              <a:t>Tulva</a:t>
            </a:r>
            <a:r>
              <a:rPr sz="1200" b="0">
                <a:solidFill>
                  <a:srgbClr val="6B7280"/>
                </a:solidFill>
                <a:latin typeface="Arial"/>
              </a:rPr>
              <a:t>   7</a:t>
            </a:r>
          </a:p>
        </p:txBody>
      </p:sp>
      <p:sp>
        <p:nvSpPr>
          <p:cNvPr id="5" name="Rectangle 4"/>
          <p:cNvSpPr/>
          <p:nvPr/>
        </p:nvSpPr>
        <p:spPr>
          <a:xfrm>
            <a:off x="548640" y="1508760"/>
            <a:ext cx="2606040" cy="3886200"/>
          </a:xfrm>
          <a:prstGeom prst="rect">
            <a:avLst/>
          </a:prstGeom>
          <a:solidFill>
            <a:srgbClr val="F3F6FA"/>
          </a:solidFill>
          <a:ln>
            <a:noFill/>
          </a:ln>
          <a:effectLst/>
        </p:spPr>
        <p:txBody>
          <a:bodyPr rtlCol="0" anchor="ctr"/>
          <a:lstStyle/>
          <a:p>
            <a:pPr algn="ctr"/>
          </a:p>
        </p:txBody>
      </p:sp>
      <p:sp>
        <p:nvSpPr>
          <p:cNvPr id="6" name="Rectangle 5"/>
          <p:cNvSpPr/>
          <p:nvPr/>
        </p:nvSpPr>
        <p:spPr>
          <a:xfrm>
            <a:off x="548640" y="1508760"/>
            <a:ext cx="2606040" cy="64008"/>
          </a:xfrm>
          <a:prstGeom prst="rect">
            <a:avLst/>
          </a:prstGeom>
          <a:solidFill>
            <a:srgbClr val="1F6FEB"/>
          </a:solidFill>
          <a:ln>
            <a:noFill/>
          </a:ln>
          <a:effectLst/>
        </p:spPr>
        <p:txBody>
          <a:bodyPr rtlCol="0" anchor="ctr"/>
          <a:lstStyle/>
          <a:p>
            <a:pPr algn="ctr"/>
          </a:p>
        </p:txBody>
      </p:sp>
      <p:sp>
        <p:nvSpPr>
          <p:cNvPr id="7" name="TextBox 6"/>
          <p:cNvSpPr txBox="1"/>
          <p:nvPr/>
        </p:nvSpPr>
        <p:spPr>
          <a:xfrm>
            <a:off x="731520"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WHO BUYS</a:t>
            </a:r>
          </a:p>
        </p:txBody>
      </p:sp>
      <p:sp>
        <p:nvSpPr>
          <p:cNvPr id="8" name="TextBox 7"/>
          <p:cNvSpPr txBox="1"/>
          <p:nvPr/>
        </p:nvSpPr>
        <p:spPr>
          <a:xfrm>
            <a:off x="731520"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Insurers, reinsurers, brokers</a:t>
            </a:r>
          </a:p>
        </p:txBody>
      </p:sp>
      <p:sp>
        <p:nvSpPr>
          <p:cNvPr id="9" name="TextBox 8"/>
          <p:cNvSpPr txBox="1"/>
          <p:nvPr/>
        </p:nvSpPr>
        <p:spPr>
          <a:xfrm>
            <a:off x="731520"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Pilot: Finnish insurers (four groups, 91 % of the market). Then Nordic and Central European flood.</a:t>
            </a:r>
          </a:p>
        </p:txBody>
      </p:sp>
      <p:sp>
        <p:nvSpPr>
          <p:cNvPr id="10" name="Rectangle 9"/>
          <p:cNvSpPr/>
          <p:nvPr/>
        </p:nvSpPr>
        <p:spPr>
          <a:xfrm>
            <a:off x="3331159" y="1508760"/>
            <a:ext cx="2606040" cy="3886200"/>
          </a:xfrm>
          <a:prstGeom prst="rect">
            <a:avLst/>
          </a:prstGeom>
          <a:solidFill>
            <a:srgbClr val="F3F6FA"/>
          </a:solidFill>
          <a:ln>
            <a:noFill/>
          </a:ln>
          <a:effectLst/>
        </p:spPr>
        <p:txBody>
          <a:bodyPr rtlCol="0" anchor="ctr"/>
          <a:lstStyle/>
          <a:p>
            <a:pPr algn="ctr"/>
          </a:p>
        </p:txBody>
      </p:sp>
      <p:sp>
        <p:nvSpPr>
          <p:cNvPr id="11" name="Rectangle 10"/>
          <p:cNvSpPr/>
          <p:nvPr/>
        </p:nvSpPr>
        <p:spPr>
          <a:xfrm>
            <a:off x="3331159" y="1508760"/>
            <a:ext cx="2606040" cy="64008"/>
          </a:xfrm>
          <a:prstGeom prst="rect">
            <a:avLst/>
          </a:prstGeom>
          <a:solidFill>
            <a:srgbClr val="1F6FEB"/>
          </a:solidFill>
          <a:ln>
            <a:noFill/>
          </a:ln>
          <a:effectLst/>
        </p:spPr>
        <p:txBody>
          <a:bodyPr rtlCol="0" anchor="ctr"/>
          <a:lstStyle/>
          <a:p>
            <a:pPr algn="ctr"/>
          </a:p>
        </p:txBody>
      </p:sp>
      <p:sp>
        <p:nvSpPr>
          <p:cNvPr id="12" name="TextBox 11"/>
          <p:cNvSpPr txBox="1"/>
          <p:nvPr/>
        </p:nvSpPr>
        <p:spPr>
          <a:xfrm>
            <a:off x="3514039"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HOW WE EARN</a:t>
            </a:r>
          </a:p>
        </p:txBody>
      </p:sp>
      <p:sp>
        <p:nvSpPr>
          <p:cNvPr id="13" name="TextBox 12"/>
          <p:cNvSpPr txBox="1"/>
          <p:nvPr/>
        </p:nvSpPr>
        <p:spPr>
          <a:xfrm>
            <a:off x="3514039"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Engine licence</a:t>
            </a:r>
          </a:p>
        </p:txBody>
      </p:sp>
      <p:sp>
        <p:nvSpPr>
          <p:cNvPr id="14" name="TextBox 13"/>
          <p:cNvSpPr txBox="1"/>
          <p:nvPr/>
        </p:nvSpPr>
        <p:spPr>
          <a:xfrm>
            <a:off x="3514039"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€25k pilot season, then ~€75k per client per year (indicative). Pricing and trigger engine.</a:t>
            </a:r>
          </a:p>
        </p:txBody>
      </p:sp>
      <p:sp>
        <p:nvSpPr>
          <p:cNvPr id="15" name="Rectangle 14"/>
          <p:cNvSpPr/>
          <p:nvPr/>
        </p:nvSpPr>
        <p:spPr>
          <a:xfrm>
            <a:off x="6113678" y="1508760"/>
            <a:ext cx="2606040" cy="3886200"/>
          </a:xfrm>
          <a:prstGeom prst="rect">
            <a:avLst/>
          </a:prstGeom>
          <a:solidFill>
            <a:srgbClr val="F3F6FA"/>
          </a:solidFill>
          <a:ln>
            <a:noFill/>
          </a:ln>
          <a:effectLst/>
        </p:spPr>
        <p:txBody>
          <a:bodyPr rtlCol="0" anchor="ctr"/>
          <a:lstStyle/>
          <a:p>
            <a:pPr algn="ctr"/>
          </a:p>
        </p:txBody>
      </p:sp>
      <p:sp>
        <p:nvSpPr>
          <p:cNvPr id="16" name="Rectangle 15"/>
          <p:cNvSpPr/>
          <p:nvPr/>
        </p:nvSpPr>
        <p:spPr>
          <a:xfrm>
            <a:off x="6113678" y="1508760"/>
            <a:ext cx="2606040" cy="64008"/>
          </a:xfrm>
          <a:prstGeom prst="rect">
            <a:avLst/>
          </a:prstGeom>
          <a:solidFill>
            <a:srgbClr val="D13B2F"/>
          </a:solidFill>
          <a:ln>
            <a:noFill/>
          </a:ln>
          <a:effectLst/>
        </p:spPr>
        <p:txBody>
          <a:bodyPr rtlCol="0" anchor="ctr"/>
          <a:lstStyle/>
          <a:p>
            <a:pPr algn="ctr"/>
          </a:p>
        </p:txBody>
      </p:sp>
      <p:sp>
        <p:nvSpPr>
          <p:cNvPr id="17" name="TextBox 16"/>
          <p:cNvSpPr txBox="1"/>
          <p:nvPr/>
        </p:nvSpPr>
        <p:spPr>
          <a:xfrm>
            <a:off x="6296558"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D13B2F"/>
                </a:solidFill>
                <a:latin typeface="Arial"/>
              </a:rPr>
              <a:t>WHY NOW</a:t>
            </a:r>
          </a:p>
        </p:txBody>
      </p:sp>
      <p:sp>
        <p:nvSpPr>
          <p:cNvPr id="18" name="TextBox 17"/>
          <p:cNvSpPr txBox="1"/>
          <p:nvPr/>
        </p:nvSpPr>
        <p:spPr>
          <a:xfrm>
            <a:off x="6296558"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30 Jan 2027</a:t>
            </a:r>
          </a:p>
        </p:txBody>
      </p:sp>
      <p:sp>
        <p:nvSpPr>
          <p:cNvPr id="19" name="TextBox 18"/>
          <p:cNvSpPr txBox="1"/>
          <p:nvPr/>
        </p:nvSpPr>
        <p:spPr>
          <a:xfrm>
            <a:off x="6296558"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Finland gets a Solvency II flood capital factor. Insurers need a joint-flood view.</a:t>
            </a:r>
          </a:p>
        </p:txBody>
      </p:sp>
      <p:sp>
        <p:nvSpPr>
          <p:cNvPr id="20" name="Rectangle 19"/>
          <p:cNvSpPr/>
          <p:nvPr/>
        </p:nvSpPr>
        <p:spPr>
          <a:xfrm>
            <a:off x="8896197" y="1508760"/>
            <a:ext cx="2606040" cy="3886200"/>
          </a:xfrm>
          <a:prstGeom prst="rect">
            <a:avLst/>
          </a:prstGeom>
          <a:solidFill>
            <a:srgbClr val="F3F6FA"/>
          </a:solidFill>
          <a:ln>
            <a:noFill/>
          </a:ln>
          <a:effectLst/>
        </p:spPr>
        <p:txBody>
          <a:bodyPr rtlCol="0" anchor="ctr"/>
          <a:lstStyle/>
          <a:p>
            <a:pPr algn="ctr"/>
          </a:p>
        </p:txBody>
      </p:sp>
      <p:sp>
        <p:nvSpPr>
          <p:cNvPr id="21" name="Rectangle 20"/>
          <p:cNvSpPr/>
          <p:nvPr/>
        </p:nvSpPr>
        <p:spPr>
          <a:xfrm>
            <a:off x="8896197" y="1508760"/>
            <a:ext cx="2606040" cy="64008"/>
          </a:xfrm>
          <a:prstGeom prst="rect">
            <a:avLst/>
          </a:prstGeom>
          <a:solidFill>
            <a:srgbClr val="1F6FEB"/>
          </a:solidFill>
          <a:ln>
            <a:noFill/>
          </a:ln>
          <a:effectLst/>
        </p:spPr>
        <p:txBody>
          <a:bodyPr rtlCol="0" anchor="ctr"/>
          <a:lstStyle/>
          <a:p>
            <a:pPr algn="ctr"/>
          </a:p>
        </p:txBody>
      </p:sp>
      <p:sp>
        <p:nvSpPr>
          <p:cNvPr id="22" name="TextBox 21"/>
          <p:cNvSpPr txBox="1"/>
          <p:nvPr/>
        </p:nvSpPr>
        <p:spPr>
          <a:xfrm>
            <a:off x="9079077" y="1737360"/>
            <a:ext cx="2240280" cy="274320"/>
          </a:xfrm>
          <a:prstGeom prst="rect">
            <a:avLst/>
          </a:prstGeom>
          <a:noFill/>
        </p:spPr>
        <p:txBody>
          <a:bodyPr wrap="square" lIns="0" rIns="0" tIns="0" bIns="0" anchor="t">
            <a:spAutoFit/>
          </a:bodyPr>
          <a:lstStyle/>
          <a:p>
            <a:pPr algn="l">
              <a:lnSpc>
                <a:spcPct val="100000"/>
              </a:lnSpc>
              <a:spcAft>
                <a:spcPts val="0"/>
              </a:spcAft>
            </a:pPr>
            <a:r>
              <a:rPr sz="1600" b="1">
                <a:solidFill>
                  <a:srgbClr val="1F6FEB"/>
                </a:solidFill>
                <a:latin typeface="Arial"/>
              </a:rPr>
              <a:t>SCALE</a:t>
            </a:r>
          </a:p>
        </p:txBody>
      </p:sp>
      <p:sp>
        <p:nvSpPr>
          <p:cNvPr id="23" name="TextBox 22"/>
          <p:cNvSpPr txBox="1"/>
          <p:nvPr/>
        </p:nvSpPr>
        <p:spPr>
          <a:xfrm>
            <a:off x="9079077" y="2103120"/>
            <a:ext cx="2240280" cy="1005840"/>
          </a:xfrm>
          <a:prstGeom prst="rect">
            <a:avLst/>
          </a:prstGeom>
          <a:noFill/>
        </p:spPr>
        <p:txBody>
          <a:bodyPr wrap="square" lIns="0" rIns="0" tIns="0" bIns="0" anchor="t">
            <a:spAutoFit/>
          </a:bodyPr>
          <a:lstStyle/>
          <a:p>
            <a:pPr algn="l">
              <a:lnSpc>
                <a:spcPct val="95000"/>
              </a:lnSpc>
              <a:spcAft>
                <a:spcPts val="0"/>
              </a:spcAft>
            </a:pPr>
            <a:r>
              <a:rPr sz="2200" b="1">
                <a:solidFill>
                  <a:srgbClr val="0B1F3A"/>
                </a:solidFill>
                <a:latin typeface="Arial"/>
              </a:rPr>
              <a:t>Finland → Nordics → Europe</a:t>
            </a:r>
          </a:p>
        </p:txBody>
      </p:sp>
      <p:sp>
        <p:nvSpPr>
          <p:cNvPr id="24" name="TextBox 23"/>
          <p:cNvSpPr txBox="1"/>
          <p:nvPr/>
        </p:nvSpPr>
        <p:spPr>
          <a:xfrm>
            <a:off x="9079077" y="3154680"/>
            <a:ext cx="2240280" cy="2194560"/>
          </a:xfrm>
          <a:prstGeom prst="rect">
            <a:avLst/>
          </a:prstGeom>
          <a:noFill/>
        </p:spPr>
        <p:txBody>
          <a:bodyPr wrap="square" lIns="0" rIns="0" tIns="0" bIns="0" anchor="t">
            <a:spAutoFit/>
          </a:bodyPr>
          <a:lstStyle/>
          <a:p>
            <a:pPr algn="l">
              <a:lnSpc>
                <a:spcPct val="105000"/>
              </a:lnSpc>
              <a:spcAft>
                <a:spcPts val="0"/>
              </a:spcAft>
            </a:pPr>
            <a:r>
              <a:rPr sz="1600" b="0">
                <a:solidFill>
                  <a:srgbClr val="0B1F3A"/>
                </a:solidFill>
                <a:latin typeface="Arial"/>
              </a:rPr>
              <a:t>Nordic/European flood losses (rain-driven): Gävle 2021 SEK 1.9bn; storm Boris 2024 €2.15bn insured.</a:t>
            </a:r>
          </a:p>
        </p:txBody>
      </p:sp>
      <p:sp>
        <p:nvSpPr>
          <p:cNvPr id="25" name="Rectangle 24"/>
          <p:cNvSpPr/>
          <p:nvPr/>
        </p:nvSpPr>
        <p:spPr>
          <a:xfrm>
            <a:off x="548640" y="5577840"/>
            <a:ext cx="73152" cy="411480"/>
          </a:xfrm>
          <a:prstGeom prst="rect">
            <a:avLst/>
          </a:prstGeom>
          <a:solidFill>
            <a:srgbClr val="1F6FEB"/>
          </a:solidFill>
          <a:ln>
            <a:noFill/>
          </a:ln>
          <a:effectLst/>
        </p:spPr>
        <p:txBody>
          <a:bodyPr rtlCol="0" anchor="ctr"/>
          <a:lstStyle/>
          <a:p>
            <a:pPr algn="ctr"/>
          </a:p>
        </p:txBody>
      </p:sp>
      <p:sp>
        <p:nvSpPr>
          <p:cNvPr id="26" name="TextBox 25"/>
          <p:cNvSpPr txBox="1"/>
          <p:nvPr/>
        </p:nvSpPr>
        <p:spPr>
          <a:xfrm>
            <a:off x="777240" y="5577840"/>
            <a:ext cx="11094415" cy="411480"/>
          </a:xfrm>
          <a:prstGeom prst="rect">
            <a:avLst/>
          </a:prstGeom>
          <a:noFill/>
        </p:spPr>
        <p:txBody>
          <a:bodyPr wrap="square" lIns="0" rIns="0" tIns="0" bIns="0" anchor="ctr">
            <a:spAutoFit/>
          </a:bodyPr>
          <a:lstStyle/>
          <a:p>
            <a:pPr algn="l">
              <a:lnSpc>
                <a:spcPct val="100000"/>
              </a:lnSpc>
              <a:spcAft>
                <a:spcPts val="0"/>
              </a:spcAft>
            </a:pPr>
            <a:r>
              <a:rPr sz="1700" b="1">
                <a:solidFill>
                  <a:srgbClr val="1F6FEB"/>
                </a:solidFill>
                <a:latin typeface="Arial"/>
              </a:rPr>
              <a:t>Ask  </a:t>
            </a:r>
            <a:r>
              <a:rPr sz="1700" b="1">
                <a:solidFill>
                  <a:srgbClr val="0B1F3A"/>
                </a:solidFill>
                <a:latin typeface="Arial"/>
              </a:rPr>
              <a:t>A paid pilot with one Finnish insurer this autumn, ahead of the 1 January renewal.</a:t>
            </a:r>
          </a:p>
        </p:txBody>
      </p:sp>
      <p:sp>
        <p:nvSpPr>
          <p:cNvPr id="27" name="TextBox 26"/>
          <p:cNvSpPr txBox="1"/>
          <p:nvPr/>
        </p:nvSpPr>
        <p:spPr>
          <a:xfrm>
            <a:off x="548640" y="6455664"/>
            <a:ext cx="9082735" cy="274320"/>
          </a:xfrm>
          <a:prstGeom prst="rect">
            <a:avLst/>
          </a:prstGeom>
          <a:noFill/>
        </p:spPr>
        <p:txBody>
          <a:bodyPr wrap="square" lIns="0" rIns="0" tIns="0" bIns="0" anchor="t">
            <a:spAutoFit/>
          </a:bodyPr>
          <a:lstStyle/>
          <a:p>
            <a:pPr algn="l">
              <a:lnSpc>
                <a:spcPct val="100000"/>
              </a:lnSpc>
              <a:spcAft>
                <a:spcPts val="0"/>
              </a:spcAft>
            </a:pPr>
            <a:r>
              <a:rPr sz="1200" b="0">
                <a:solidFill>
                  <a:srgbClr val="6B7280"/>
                </a:solidFill>
                <a:latin typeface="Arial"/>
              </a:rPr>
              <a:t>Sources: Finance Finland 2024; Del. Reg. (EU) 2026/269; Finansinspektionen 2023 (Gävle); PERILS 2025 (Boris)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txBody>
          <a:bodyPr rtlCol="0" anchor="ctr"/>
          <a:lstStyle/>
          <a:p>
            <a:pPr algn="ctr"/>
          </a:p>
        </p:txBody>
      </p:sp>
      <p:sp>
        <p:nvSpPr>
          <p:cNvPr id="3" name="TextBox 2"/>
          <p:cNvSpPr txBox="1"/>
          <p:nvPr/>
        </p:nvSpPr>
        <p:spPr>
          <a:xfrm>
            <a:off x="731520" y="502920"/>
            <a:ext cx="5486400" cy="548640"/>
          </a:xfrm>
          <a:prstGeom prst="rect">
            <a:avLst/>
          </a:prstGeom>
          <a:noFill/>
        </p:spPr>
        <p:txBody>
          <a:bodyPr wrap="square" lIns="0" rIns="0" tIns="0" bIns="0" anchor="t">
            <a:spAutoFit/>
          </a:bodyPr>
          <a:lstStyle/>
          <a:p>
            <a:pPr algn="l">
              <a:lnSpc>
                <a:spcPct val="100000"/>
              </a:lnSpc>
              <a:spcAft>
                <a:spcPts val="0"/>
              </a:spcAft>
            </a:pPr>
            <a:r>
              <a:rPr sz="2800" b="1">
                <a:solidFill>
                  <a:srgbClr val="FFFFFF"/>
                </a:solidFill>
                <a:latin typeface="Arial"/>
              </a:rPr>
              <a:t>Tulva</a:t>
            </a:r>
          </a:p>
        </p:txBody>
      </p:sp>
      <p:sp>
        <p:nvSpPr>
          <p:cNvPr id="4" name="TextBox 3"/>
          <p:cNvSpPr txBox="1"/>
          <p:nvPr/>
        </p:nvSpPr>
        <p:spPr>
          <a:xfrm>
            <a:off x="731520" y="1234440"/>
            <a:ext cx="10515600" cy="1554480"/>
          </a:xfrm>
          <a:prstGeom prst="rect">
            <a:avLst/>
          </a:prstGeom>
          <a:noFill/>
        </p:spPr>
        <p:txBody>
          <a:bodyPr wrap="square" lIns="0" rIns="0" tIns="0" bIns="0" anchor="t">
            <a:spAutoFit/>
          </a:bodyPr>
          <a:lstStyle/>
          <a:p>
            <a:pPr algn="l">
              <a:lnSpc>
                <a:spcPct val="105000"/>
              </a:lnSpc>
              <a:spcAft>
                <a:spcPts val="0"/>
              </a:spcAft>
            </a:pPr>
            <a:r>
              <a:rPr sz="3800" b="1">
                <a:solidFill>
                  <a:srgbClr val="FFFFFF"/>
                </a:solidFill>
                <a:latin typeface="Arial"/>
              </a:rPr>
              <a:t>Tulva prices Finland's spring floods as a </a:t>
            </a:r>
            <a:r>
              <a:rPr sz="3800" b="1">
                <a:solidFill>
                  <a:srgbClr val="A9C8F5"/>
                </a:solidFill>
                <a:latin typeface="Arial"/>
              </a:rPr>
              <a:t>joint risk</a:t>
            </a:r>
            <a:r>
              <a:rPr sz="3800" b="1">
                <a:solidFill>
                  <a:srgbClr val="FFFFFF"/>
                </a:solidFill>
                <a:latin typeface="Arial"/>
              </a:rPr>
              <a:t>, and runs it on real quantum hardware.</a:t>
            </a:r>
          </a:p>
        </p:txBody>
      </p:sp>
      <p:sp>
        <p:nvSpPr>
          <p:cNvPr id="5" name="TextBox 4"/>
          <p:cNvSpPr txBox="1"/>
          <p:nvPr/>
        </p:nvSpPr>
        <p:spPr>
          <a:xfrm>
            <a:off x="731520" y="2788920"/>
            <a:ext cx="10058400" cy="320040"/>
          </a:xfrm>
          <a:prstGeom prst="rect">
            <a:avLst/>
          </a:prstGeom>
          <a:noFill/>
        </p:spPr>
        <p:txBody>
          <a:bodyPr wrap="square" lIns="0" rIns="0" tIns="0" bIns="0" anchor="t">
            <a:spAutoFit/>
          </a:bodyPr>
          <a:lstStyle/>
          <a:p>
            <a:pPr algn="l">
              <a:lnSpc>
                <a:spcPct val="100000"/>
              </a:lnSpc>
              <a:spcAft>
                <a:spcPts val="0"/>
              </a:spcAft>
            </a:pPr>
            <a:r>
              <a:rPr sz="1600" b="1">
                <a:solidFill>
                  <a:srgbClr val="A9C8F5"/>
                </a:solidFill>
                <a:latin typeface="Arial"/>
              </a:rPr>
              <a:t>BUILT THIS WEEKEND</a:t>
            </a:r>
          </a:p>
        </p:txBody>
      </p:sp>
      <p:sp>
        <p:nvSpPr>
          <p:cNvPr id="6" name="Rounded Rectangle 5"/>
          <p:cNvSpPr/>
          <p:nvPr/>
        </p:nvSpPr>
        <p:spPr>
          <a:xfrm>
            <a:off x="731520" y="3154679"/>
            <a:ext cx="2043620" cy="457200"/>
          </a:xfrm>
          <a:prstGeom prst="roundRect">
            <a:avLst>
              <a:gd name="adj" fmla="val 50000"/>
            </a:avLst>
          </a:prstGeom>
          <a:solidFill>
            <a:srgbClr val="1A365F"/>
          </a:solidFill>
          <a:ln>
            <a:noFill/>
          </a:ln>
          <a:effectLst/>
        </p:spPr>
        <p:txBody>
          <a:bodyPr rtlCol="0" anchor="ctr"/>
          <a:lstStyle/>
          <a:p>
            <a:pPr algn="ctr"/>
          </a:p>
        </p:txBody>
      </p:sp>
      <p:sp>
        <p:nvSpPr>
          <p:cNvPr id="7" name="TextBox 6"/>
          <p:cNvSpPr txBox="1"/>
          <p:nvPr/>
        </p:nvSpPr>
        <p:spPr>
          <a:xfrm>
            <a:off x="731520" y="3154679"/>
            <a:ext cx="2043620"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SYKE data pipeline</a:t>
            </a:r>
          </a:p>
        </p:txBody>
      </p:sp>
      <p:sp>
        <p:nvSpPr>
          <p:cNvPr id="8" name="Rounded Rectangle 7"/>
          <p:cNvSpPr/>
          <p:nvPr/>
        </p:nvSpPr>
        <p:spPr>
          <a:xfrm>
            <a:off x="2866580" y="3154679"/>
            <a:ext cx="1828811" cy="457200"/>
          </a:xfrm>
          <a:prstGeom prst="roundRect">
            <a:avLst>
              <a:gd name="adj" fmla="val 50000"/>
            </a:avLst>
          </a:prstGeom>
          <a:solidFill>
            <a:srgbClr val="1A365F"/>
          </a:solidFill>
          <a:ln>
            <a:noFill/>
          </a:ln>
          <a:effectLst/>
        </p:spPr>
        <p:txBody>
          <a:bodyPr rtlCol="0" anchor="ctr"/>
          <a:lstStyle/>
          <a:p>
            <a:pPr algn="ctr"/>
          </a:p>
        </p:txBody>
      </p:sp>
      <p:sp>
        <p:nvSpPr>
          <p:cNvPr id="9" name="TextBox 8"/>
          <p:cNvSpPr txBox="1"/>
          <p:nvPr/>
        </p:nvSpPr>
        <p:spPr>
          <a:xfrm>
            <a:off x="2866580" y="3154679"/>
            <a:ext cx="182881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Joint flood model</a:t>
            </a:r>
          </a:p>
        </p:txBody>
      </p:sp>
      <p:sp>
        <p:nvSpPr>
          <p:cNvPr id="10" name="Rounded Rectangle 9"/>
          <p:cNvSpPr/>
          <p:nvPr/>
        </p:nvSpPr>
        <p:spPr>
          <a:xfrm>
            <a:off x="4786832" y="3154679"/>
            <a:ext cx="1444736" cy="457200"/>
          </a:xfrm>
          <a:prstGeom prst="roundRect">
            <a:avLst>
              <a:gd name="adj" fmla="val 50000"/>
            </a:avLst>
          </a:prstGeom>
          <a:solidFill>
            <a:srgbClr val="1A365F"/>
          </a:solidFill>
          <a:ln>
            <a:noFill/>
          </a:ln>
          <a:effectLst/>
        </p:spPr>
        <p:txBody>
          <a:bodyPr rtlCol="0" anchor="ctr"/>
          <a:lstStyle/>
          <a:p>
            <a:pPr algn="ctr"/>
          </a:p>
        </p:txBody>
      </p:sp>
      <p:sp>
        <p:nvSpPr>
          <p:cNvPr id="11" name="TextBox 10"/>
          <p:cNvSpPr txBox="1"/>
          <p:nvPr/>
        </p:nvSpPr>
        <p:spPr>
          <a:xfrm>
            <a:off x="4786832" y="3154679"/>
            <a:ext cx="1444736"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Index pricing</a:t>
            </a:r>
          </a:p>
        </p:txBody>
      </p:sp>
      <p:sp>
        <p:nvSpPr>
          <p:cNvPr id="12" name="Rounded Rectangle 11"/>
          <p:cNvSpPr/>
          <p:nvPr/>
        </p:nvSpPr>
        <p:spPr>
          <a:xfrm>
            <a:off x="6323008" y="3154679"/>
            <a:ext cx="2054137" cy="457200"/>
          </a:xfrm>
          <a:prstGeom prst="roundRect">
            <a:avLst>
              <a:gd name="adj" fmla="val 50000"/>
            </a:avLst>
          </a:prstGeom>
          <a:solidFill>
            <a:srgbClr val="1A365F"/>
          </a:solidFill>
          <a:ln>
            <a:noFill/>
          </a:ln>
          <a:effectLst/>
        </p:spPr>
        <p:txBody>
          <a:bodyPr rtlCol="0" anchor="ctr"/>
          <a:lstStyle/>
          <a:p>
            <a:pPr algn="ctr"/>
          </a:p>
        </p:txBody>
      </p:sp>
      <p:sp>
        <p:nvSpPr>
          <p:cNvPr id="13" name="TextBox 12"/>
          <p:cNvSpPr txBox="1"/>
          <p:nvPr/>
        </p:nvSpPr>
        <p:spPr>
          <a:xfrm>
            <a:off x="6323008" y="3154679"/>
            <a:ext cx="2054137"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QAE on IBM &amp; IQM</a:t>
            </a:r>
          </a:p>
        </p:txBody>
      </p:sp>
      <p:sp>
        <p:nvSpPr>
          <p:cNvPr id="14" name="TextBox 13"/>
          <p:cNvSpPr txBox="1"/>
          <p:nvPr/>
        </p:nvSpPr>
        <p:spPr>
          <a:xfrm>
            <a:off x="731520" y="3794760"/>
            <a:ext cx="10058400" cy="320040"/>
          </a:xfrm>
          <a:prstGeom prst="rect">
            <a:avLst/>
          </a:prstGeom>
          <a:noFill/>
        </p:spPr>
        <p:txBody>
          <a:bodyPr wrap="square" lIns="0" rIns="0" tIns="0" bIns="0" anchor="t">
            <a:spAutoFit/>
          </a:bodyPr>
          <a:lstStyle/>
          <a:p>
            <a:pPr algn="l">
              <a:lnSpc>
                <a:spcPct val="100000"/>
              </a:lnSpc>
              <a:spcAft>
                <a:spcPts val="0"/>
              </a:spcAft>
            </a:pPr>
            <a:r>
              <a:rPr sz="1600" b="1">
                <a:solidFill>
                  <a:srgbClr val="A9C8F5"/>
                </a:solidFill>
                <a:latin typeface="Arial"/>
              </a:rPr>
              <a:t>RESOURCES USED</a:t>
            </a:r>
          </a:p>
        </p:txBody>
      </p:sp>
      <p:sp>
        <p:nvSpPr>
          <p:cNvPr id="15" name="Rounded Rectangle 14"/>
          <p:cNvSpPr/>
          <p:nvPr/>
        </p:nvSpPr>
        <p:spPr>
          <a:xfrm>
            <a:off x="731520" y="4160520"/>
            <a:ext cx="1795176"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6" name="TextBox 15"/>
          <p:cNvSpPr txBox="1"/>
          <p:nvPr/>
        </p:nvSpPr>
        <p:spPr>
          <a:xfrm>
            <a:off x="731520" y="4160520"/>
            <a:ext cx="1795176"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SYKE open data</a:t>
            </a:r>
          </a:p>
        </p:txBody>
      </p:sp>
      <p:sp>
        <p:nvSpPr>
          <p:cNvPr id="17" name="Rounded Rectangle 16"/>
          <p:cNvSpPr/>
          <p:nvPr/>
        </p:nvSpPr>
        <p:spPr>
          <a:xfrm>
            <a:off x="2618136" y="4160520"/>
            <a:ext cx="1670161"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18" name="TextBox 17"/>
          <p:cNvSpPr txBox="1"/>
          <p:nvPr/>
        </p:nvSpPr>
        <p:spPr>
          <a:xfrm>
            <a:off x="2618136" y="4160520"/>
            <a:ext cx="167016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IBM Marrakesh</a:t>
            </a:r>
          </a:p>
        </p:txBody>
      </p:sp>
      <p:sp>
        <p:nvSpPr>
          <p:cNvPr id="19" name="Rounded Rectangle 18"/>
          <p:cNvSpPr/>
          <p:nvPr/>
        </p:nvSpPr>
        <p:spPr>
          <a:xfrm>
            <a:off x="4379737" y="4160520"/>
            <a:ext cx="3578931"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0" name="TextBox 19"/>
          <p:cNvSpPr txBox="1"/>
          <p:nvPr/>
        </p:nvSpPr>
        <p:spPr>
          <a:xfrm>
            <a:off x="4379737" y="4160520"/>
            <a:ext cx="3578931"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IQM Garnet &amp; Emerald (Resonance)</a:t>
            </a:r>
          </a:p>
        </p:txBody>
      </p:sp>
      <p:sp>
        <p:nvSpPr>
          <p:cNvPr id="21" name="Rounded Rectangle 20"/>
          <p:cNvSpPr/>
          <p:nvPr/>
        </p:nvSpPr>
        <p:spPr>
          <a:xfrm>
            <a:off x="8050109" y="4160520"/>
            <a:ext cx="778085"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2" name="TextBox 21"/>
          <p:cNvSpPr txBox="1"/>
          <p:nvPr/>
        </p:nvSpPr>
        <p:spPr>
          <a:xfrm>
            <a:off x="8050109" y="4160520"/>
            <a:ext cx="778085"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Qrisp</a:t>
            </a:r>
          </a:p>
        </p:txBody>
      </p:sp>
      <p:sp>
        <p:nvSpPr>
          <p:cNvPr id="23" name="Rounded Rectangle 22"/>
          <p:cNvSpPr/>
          <p:nvPr/>
        </p:nvSpPr>
        <p:spPr>
          <a:xfrm>
            <a:off x="8919634" y="4160520"/>
            <a:ext cx="800608"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4" name="TextBox 23"/>
          <p:cNvSpPr txBox="1"/>
          <p:nvPr/>
        </p:nvSpPr>
        <p:spPr>
          <a:xfrm>
            <a:off x="8919634" y="4160520"/>
            <a:ext cx="800608"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Qiskit</a:t>
            </a:r>
          </a:p>
        </p:txBody>
      </p:sp>
      <p:sp>
        <p:nvSpPr>
          <p:cNvPr id="25" name="Rounded Rectangle 24"/>
          <p:cNvSpPr/>
          <p:nvPr/>
        </p:nvSpPr>
        <p:spPr>
          <a:xfrm>
            <a:off x="9811682" y="4160520"/>
            <a:ext cx="1806388" cy="457200"/>
          </a:xfrm>
          <a:prstGeom prst="roundRect">
            <a:avLst>
              <a:gd name="adj" fmla="val 50000"/>
            </a:avLst>
          </a:prstGeom>
          <a:solidFill>
            <a:srgbClr val="0B1F3A"/>
          </a:solidFill>
          <a:ln w="12700">
            <a:solidFill>
              <a:srgbClr val="A9C8F5"/>
            </a:solidFill>
          </a:ln>
          <a:effectLst/>
        </p:spPr>
        <p:txBody>
          <a:bodyPr rtlCol="0" anchor="ctr"/>
          <a:lstStyle/>
          <a:p>
            <a:pPr algn="ctr"/>
          </a:p>
        </p:txBody>
      </p:sp>
      <p:sp>
        <p:nvSpPr>
          <p:cNvPr id="26" name="TextBox 25"/>
          <p:cNvSpPr txBox="1"/>
          <p:nvPr/>
        </p:nvSpPr>
        <p:spPr>
          <a:xfrm>
            <a:off x="9811682" y="4160520"/>
            <a:ext cx="1806388" cy="457200"/>
          </a:xfrm>
          <a:prstGeom prst="rect">
            <a:avLst/>
          </a:prstGeom>
          <a:noFill/>
        </p:spPr>
        <p:txBody>
          <a:bodyPr wrap="square" lIns="0" rIns="0" tIns="0" bIns="0" anchor="ctr">
            <a:spAutoFit/>
          </a:bodyPr>
          <a:lstStyle/>
          <a:p>
            <a:pPr algn="ctr">
              <a:lnSpc>
                <a:spcPct val="100000"/>
              </a:lnSpc>
              <a:spcAft>
                <a:spcPts val="0"/>
              </a:spcAft>
            </a:pPr>
            <a:r>
              <a:rPr sz="1600" b="0">
                <a:solidFill>
                  <a:srgbClr val="FFFFFF"/>
                </a:solidFill>
                <a:latin typeface="Arial"/>
              </a:rPr>
              <a:t>AI coding agents</a:t>
            </a:r>
          </a:p>
        </p:txBody>
      </p:sp>
      <p:sp>
        <p:nvSpPr>
          <p:cNvPr id="27" name="TextBox 26"/>
          <p:cNvSpPr txBox="1"/>
          <p:nvPr/>
        </p:nvSpPr>
        <p:spPr>
          <a:xfrm>
            <a:off x="731520" y="5394960"/>
            <a:ext cx="10058400" cy="731520"/>
          </a:xfrm>
          <a:prstGeom prst="rect">
            <a:avLst/>
          </a:prstGeom>
          <a:noFill/>
        </p:spPr>
        <p:txBody>
          <a:bodyPr wrap="square" lIns="0" rIns="0" tIns="0" bIns="0" anchor="t">
            <a:spAutoFit/>
          </a:bodyPr>
          <a:lstStyle/>
          <a:p>
            <a:pPr algn="l">
              <a:lnSpc>
                <a:spcPct val="100000"/>
              </a:lnSpc>
              <a:spcAft>
                <a:spcPts val="400"/>
              </a:spcAft>
            </a:pPr>
            <a:r>
              <a:rPr sz="2000" b="1">
                <a:solidFill>
                  <a:srgbClr val="FFFFFF"/>
                </a:solidFill>
                <a:latin typeface="Arial"/>
              </a:rPr>
              <a:t>Toivo Kallio</a:t>
            </a:r>
            <a:r>
              <a:rPr sz="2000" b="0">
                <a:solidFill>
                  <a:srgbClr val="A9C8F5"/>
                </a:solidFill>
                <a:latin typeface="Arial"/>
              </a:rPr>
              <a:t>  ·  </a:t>
            </a:r>
            <a:r>
              <a:rPr sz="2000" b="1">
                <a:solidFill>
                  <a:srgbClr val="FFFFFF"/>
                </a:solidFill>
                <a:latin typeface="Arial"/>
              </a:rPr>
              <a:t>Vaishnav Rane</a:t>
            </a:r>
          </a:p>
          <a:p>
            <a:pPr algn="l">
              <a:lnSpc>
                <a:spcPct val="100000"/>
              </a:lnSpc>
              <a:spcAft>
                <a:spcPts val="400"/>
              </a:spcAft>
            </a:pPr>
            <a:r>
              <a:rPr sz="1600" b="0">
                <a:solidFill>
                  <a:srgbClr val="A9C8F5"/>
                </a:solidFill>
                <a:latin typeface="Arial"/>
              </a:rPr>
              <a:t>Team 21 STUHI  ·  Quantum x Finance 2026, Hanken × Ultrahack</a:t>
            </a:r>
          </a:p>
        </p:txBody>
      </p:sp>
      <p:sp>
        <p:nvSpPr>
          <p:cNvPr id="28" name="TextBox 27"/>
          <p:cNvSpPr txBox="1"/>
          <p:nvPr/>
        </p:nvSpPr>
        <p:spPr>
          <a:xfrm>
            <a:off x="9814255" y="6473952"/>
            <a:ext cx="1828800" cy="228600"/>
          </a:xfrm>
          <a:prstGeom prst="rect">
            <a:avLst/>
          </a:prstGeom>
          <a:noFill/>
        </p:spPr>
        <p:txBody>
          <a:bodyPr wrap="square" lIns="0" rIns="0" tIns="0" bIns="0" anchor="t">
            <a:spAutoFit/>
          </a:bodyPr>
          <a:lstStyle/>
          <a:p>
            <a:pPr algn="r">
              <a:lnSpc>
                <a:spcPct val="100000"/>
              </a:lnSpc>
              <a:spcAft>
                <a:spcPts val="0"/>
              </a:spcAft>
            </a:pPr>
            <a:r>
              <a:rPr sz="1200" b="1">
                <a:solidFill>
                  <a:srgbClr val="FFFFFF"/>
                </a:solidFill>
                <a:latin typeface="Arial"/>
              </a:rPr>
              <a:t>Tulva</a:t>
            </a:r>
            <a:r>
              <a:rPr sz="1200" b="0">
                <a:solidFill>
                  <a:srgbClr val="A9C8F5"/>
                </a:solidFill>
                <a:latin typeface="Arial"/>
              </a:rPr>
              <a:t>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