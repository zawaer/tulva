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 (0:00–0:11)]</a:t>
            </a:r>
          </a:p>
          <a:p>
            <a:r>
              <a:t>In May 2005, four Lapland rivers hit flood levels TOGETHER. The snow had warned us two months EARLIER. Tulva turns that warning into a PRICE. [pause]</a:t>
            </a:r>
          </a:p>
          <a:p/>
          <a:p>
            <a:r>
              <a:t>Q&amp;A only (not spoken): "flood levels" = river flow (discharge) over each gauge's 1-in-10 level, not damage. Four = Ivalo, Kittilä, Rovaniemi, Tornio over their 1-in-10 level (the map's filled dots); Ivalo, Kittilä and Rovaniemi also passed their 1-in-50 level. "Warned us" = the North's 1 March snow was in its top 15 % (87th percentile): an in-sample back-test, not a forecast we made at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gap (0:11–0:24)]</a:t>
            </a:r>
          </a:p>
          <a:p>
            <a:r>
              <a:t>Rivers in one region share ONE snowpack: they flood TOGETHER. [pause] Big flood springs come almost FOUR times more often than chance. Insurers buy cover in autumn, BEFORE the snow.</a:t>
            </a:r>
          </a:p>
          <a:p/>
          <a:p>
            <a:r>
              <a:t>Q&amp;A only (not spoken): 10 of 65 springs (15.4 %, 90 % interval 9–24 %) had ≥4 of 14 areas over 1-in-10; chance on the same gauge-years 3.9 % (3.9×). If all 14 gauges had reported every year, chance would be 4.4 % (3.5×).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product (0:24–0:40)]</a:t>
            </a:r>
          </a:p>
          <a:p>
            <a:r>
              <a:t>Our index pays when SEVERAL northern rivers pass a rare flood level TOGETHER. Its expected loss is 1.8 TIMES what the regulator's 2027 average correlation gives. [pause] After a snowy March, it TRIPLES from autumn.</a:t>
            </a:r>
          </a:p>
          <a:p/>
          <a:p>
            <a:r>
              <a:t>Q&amp;A only (not spoken): a model comparison, not "the rule implies a price": expected loss 1.96 % of the limit a year (year-bootstrap 90 %: 1.6–2.2 %) vs 1.11 % for a model with one correlation of 0.27, the mean of the 2027 Finnish 19-zone flood matrix (1.77×). We used the 19-zone mean, not the Lapland zones' own entries (the repo has neither the entries nor the zone-to-region map). ≈5× only against independence (0.38 %). "Triples" = 6.4 % after a top-15 % snow March vs the autumn (normal) 1.96 % (3.3×, 90 %: 2.1–4.4×): snowy vs NORMAL, for the 5-river cover. Not the same as slide 5's 3.05× (snowy vs LOW snow, two-river pair on chip; snowy vs normal there is 1.51× chip / 1.55× exact). The product pays the full limit at ≥2; a staged payout is only a variant. The cover is priced in autumn; in March the insurer buys a top-up / second-layer cover if it wants one, staffs claims in the regions at risk and uses the number in its ORSA. Market price (2.5–3.5× expected loss): 4.9–6.9 % rate on line, ≈ €49–69k a year per €1M of 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video (0:40–1:17), narrated live]</a:t>
            </a:r>
          </a:p>
          <a:p>
            <a:r>
              <a:t>[0 s, map] This is our app. Lines join rivers that flood together. [5 s, snow high] March snow set to HIGH… and the northern price JUMPS. [12 s, low snow] IQM chip. Red: BOTH rivers flood. Low snow, little red. [18 s, snowy] Snowy versus low snow: about THREE times the risk, close to exact. [24 s, 14-area card] A simplified version of our 14-river model, on ONE chip. [29 s, 2005] And 2005: Lapland floods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[Quantum, in practice (1:17–1:32)]</a:t>
            </a:r>
          </a:p>
          <a:p>
            <a:r>
              <a:t>Our two-river core ran on IBM, IQM and Finland's VTT Q50; the simplified 14-river model on IQM's Emerald and Q50. [pause] On chip, the snow warning SURVIVES: snowy versus low snow, 3.05 times; exact, 2.75.</a:t>
            </a:r>
          </a:p>
          <a:p/>
          <a:p>
            <a:r>
              <a:t>Q&amp;A only (not spoken): the two-river core is a North-cluster pair with identical loadings and 1-in-50 trigger, not Kittilä and Ivalo specifically. Simplified = two-level (wet spring or not) version of the 14-river model, 18 qubits, sampling only. Method: calibrated sampling plus shallow amplitude estimation (Grover steps k = 0–2). Signal kept at k = 1 in the runs shown: Emerald 0.56–0.59, IBM / Garnet 0.77–0.78, VTT Q50 0.12–0.19 (earlier runs 0.65–0.88), so the estimate is mostly the calibrated k = 0 circuit. VTT Q50 (via LUMI): three repeats gave 0.11–0.53 % vs exact 0.125 %; calibration not yet stable, k = 1 keeps only 0.12–0.19 of the signal. It is the fourth computer we ran on, not a headline result (QA.md).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[Quantum, honestly (1:32–1:42)]</a:t>
            </a:r>
          </a:p>
          <a:p>
            <a:r>
              <a:t>Classical computers still WIN today. At 1-in-50, rare floods drown in noise. The method is READY. The hardware is not,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[Business (1:42–2:09)]</a:t>
            </a:r>
          </a:p>
          <a:p>
            <a:r>
              <a:t>Insurers like OP and If pay a reinsurer the premium, and US a licence: 25 thousand to pilot, then 75 thousand a year. Year three: up to 450 thousand. From 2027, the regulator's formula FIXES flood correlations, blind to snow. Insurers with their own model can use our snow-aware number. Our ask: one insurer's flood claims, eight weeks.</a:t>
            </a:r>
          </a:p>
          <a:p/>
          <a:p>
            <a:r>
              <a:t>Q&amp;A only (not spoken): premium per €10M North layer ≈ €0.5–0.7M a year (model × 2.5–3.5 market multiple) goes insurer → reinsurer; the licence goes insurer → Tulva (the reinsurer pays Tulva nothing). "The regulator's formula" = the 2027 Solvency II standard formula; "their own model" = an approved internal model (If: Sampo's partial internal model; we don't claim OP uses one). Year 3 = 3–6 insurers × €75k (assumption); Nordic snowmelt upside unsized (assumption). We'd like to pilot with OP; there is no agreement. Basis risk (1-in-10 back-test): paid in loss springs 1966, 2005, 2018; missed Ostrobothnia 2012–13 and 2024 (snow flag on, index silent) and Lapland 2020; since 2005 also paid in 2015, 2023 and 2024 in the North with no recorded Lapland loss. At the 1-in-50 product level: paid 1966 and 2005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[Close (2:09–2:21)]</a:t>
            </a:r>
          </a:p>
          <a:p>
            <a:r>
              <a:t>Everything you saw, we built THIS weekend. [pause] Next March, the snow will warn us AGAIN. [long pause] This time, it will have a PRICE.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B1F3A"/>
                </a:solidFill>
                <a:latin typeface="Arial"/>
              </a:rPr>
              <a:t>Tulva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00200"/>
            <a:ext cx="512064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1">
                <a:solidFill>
                  <a:srgbClr val="0B1F3A"/>
                </a:solidFill>
                <a:latin typeface="Arial"/>
              </a:rPr>
              <a:t>May 2005: four Lapland rivers flooded </a:t>
            </a:r>
            <a:r>
              <a:rPr sz="4800" b="1">
                <a:solidFill>
                  <a:srgbClr val="1F6FEB"/>
                </a:solidFill>
                <a:latin typeface="Arial"/>
              </a:rPr>
              <a:t>together.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6052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6B7280"/>
                </a:solidFill>
                <a:latin typeface="Arial"/>
              </a:rPr>
              <a:t>The March snow warned us.</a:t>
            </a:r>
          </a:p>
        </p:txBody>
      </p:sp>
      <p:pic>
        <p:nvPicPr>
          <p:cNvPr id="5" name="Picture 4" descr="map_2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411480"/>
            <a:ext cx="5852160" cy="4804011"/>
          </a:xfrm>
          <a:prstGeom prst="rect">
            <a:avLst/>
          </a:prstGeom>
          <a:ln>
            <a:solidFill>
              <a:srgbClr val="DDE3EA"/>
            </a:solidFill>
          </a:ln>
        </p:spPr>
      </p:pic>
      <p:sp>
        <p:nvSpPr>
          <p:cNvPr id="6" name="Rectangle 5"/>
          <p:cNvSpPr/>
          <p:nvPr/>
        </p:nvSpPr>
        <p:spPr>
          <a:xfrm>
            <a:off x="9247510" y="1513672"/>
            <a:ext cx="822960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47510" y="1513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Ivalo</a:t>
            </a:r>
          </a:p>
        </p:txBody>
      </p:sp>
      <p:sp>
        <p:nvSpPr>
          <p:cNvPr id="8" name="Rectangle 7"/>
          <p:cNvSpPr/>
          <p:nvPr/>
        </p:nvSpPr>
        <p:spPr>
          <a:xfrm>
            <a:off x="7091720" y="2282314"/>
            <a:ext cx="1078992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91720" y="2282314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Kittilä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32520" y="3120614"/>
            <a:ext cx="1335024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32520" y="3120614"/>
            <a:ext cx="133502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Rovaniemi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03206" y="3591407"/>
            <a:ext cx="950976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03206" y="3591407"/>
            <a:ext cx="9509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Tornio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0B1F3A"/>
                </a:solidFill>
                <a:latin typeface="Arial"/>
              </a:rPr>
              <a:t>Rivers flood together, not one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6B7280"/>
                </a:solidFill>
                <a:latin typeface="Arial"/>
              </a:rPr>
              <a:t>Springs when ≥4 of 14 rivers flood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743200"/>
            <a:ext cx="2377440" cy="23317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9659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0B1F3A"/>
                </a:solidFill>
                <a:latin typeface="Arial"/>
              </a:rPr>
              <a:t>15.4 %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5166359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0B1F3A"/>
                </a:solidFill>
                <a:latin typeface="Arial"/>
              </a:rPr>
              <a:t>Observed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4484419"/>
            <a:ext cx="2377440" cy="5905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3707179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6B7280"/>
                </a:solidFill>
                <a:latin typeface="Arial"/>
              </a:rPr>
              <a:t>3.9 %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166359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0B1F3A"/>
                </a:solidFill>
                <a:latin typeface="Arial"/>
              </a:rPr>
              <a:t>By chance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074920"/>
            <a:ext cx="6035040" cy="18288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2103120"/>
            <a:ext cx="429768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0" b="1">
                <a:solidFill>
                  <a:srgbClr val="D13B2F"/>
                </a:solidFill>
                <a:latin typeface="Arial"/>
              </a:rPr>
              <a:t>≈4×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947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6B7280"/>
                </a:solidFill>
                <a:latin typeface="Arial"/>
              </a:rPr>
              <a:t>as often as chance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760720"/>
            <a:ext cx="91440" cy="548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576072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Cover is bought in autumn, before the snow.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0B1F3A"/>
                </a:solidFill>
                <a:latin typeface="Arial"/>
              </a:rPr>
              <a:t>Tulva Index: pays if ≥2 northern rivers flood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0B1F3A"/>
                </a:solidFill>
                <a:latin typeface="Arial"/>
              </a:rPr>
              <a:t>0.27-correlation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11680"/>
            <a:ext cx="856392" cy="54864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87912" y="19659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6B7280"/>
                </a:solidFill>
                <a:latin typeface="Arial"/>
              </a:rPr>
              <a:t>1.11 %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0B1F3A"/>
                </a:solidFill>
                <a:latin typeface="Arial"/>
              </a:rPr>
              <a:t>Tulva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1839"/>
            <a:ext cx="1512189" cy="548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3709" y="324612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1F6FEB"/>
                </a:solidFill>
                <a:latin typeface="Arial"/>
              </a:rPr>
              <a:t>1.96 %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69079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0B1F3A"/>
                </a:solidFill>
                <a:latin typeface="Arial"/>
              </a:rPr>
              <a:t>Tulva, after a snowy March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571999"/>
            <a:ext cx="4937760" cy="5486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4526279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0B1F3A"/>
                </a:solidFill>
                <a:latin typeface="Arial"/>
              </a:rPr>
              <a:t>6.4 %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949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6B7280"/>
                </a:solidFill>
                <a:latin typeface="Arial"/>
              </a:rPr>
              <a:t>Expected loss, % of limit per year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508760"/>
            <a:ext cx="3410712" cy="40233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783080"/>
            <a:ext cx="341071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0" b="1">
                <a:solidFill>
                  <a:srgbClr val="D13B2F"/>
                </a:solidFill>
                <a:latin typeface="Arial"/>
              </a:rPr>
              <a:t>×3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49039"/>
            <a:ext cx="30449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B1F3A"/>
                </a:solidFill>
                <a:latin typeface="Arial"/>
              </a:rPr>
              <a:t>expected loss after a snowy March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tulva_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40967" y="502920"/>
            <a:ext cx="9509759" cy="5349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Tulva</a:t>
            </a:r>
            <a:r>
              <a:rPr sz="1200" b="0">
                <a:solidFill>
                  <a:srgbClr val="A9C8F5"/>
                </a:solidFill>
                <a:latin typeface="Arial"/>
              </a:rPr>
              <a:t>   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0B1F3A"/>
                </a:solidFill>
                <a:latin typeface="Arial"/>
              </a:rPr>
              <a:t>Snow warning survives on real chips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292608" cy="2926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0B1F3A"/>
                </a:solidFill>
                <a:latin typeface="Arial"/>
              </a:rPr>
              <a:t>Exact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481328"/>
            <a:ext cx="292608" cy="292608"/>
          </a:xfrm>
          <a:prstGeom prst="rect">
            <a:avLst/>
          </a:prstGeom>
          <a:solidFill>
            <a:srgbClr val="8250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37560" y="13716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0B1F3A"/>
                </a:solidFill>
                <a:latin typeface="Arial"/>
              </a:rPr>
              <a:t>IQM chip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80594"/>
            <a:ext cx="1143000" cy="87720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39112" y="4238559"/>
            <a:ext cx="1143000" cy="1019240"/>
          </a:xfrm>
          <a:prstGeom prst="rect">
            <a:avLst/>
          </a:prstGeom>
          <a:solidFill>
            <a:srgbClr val="8250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349240"/>
            <a:ext cx="2907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0B1F3A"/>
                </a:solidFill>
                <a:latin typeface="Arial"/>
              </a:rPr>
              <a:t>Low snow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2848396"/>
            <a:ext cx="1143000" cy="2409403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48072" y="2148840"/>
            <a:ext cx="1143000" cy="3108960"/>
          </a:xfrm>
          <a:prstGeom prst="rect">
            <a:avLst/>
          </a:prstGeom>
          <a:solidFill>
            <a:srgbClr val="8250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5349240"/>
            <a:ext cx="2907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0B1F3A"/>
                </a:solidFill>
                <a:latin typeface="Arial"/>
              </a:rPr>
              <a:t>Snowy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257800"/>
            <a:ext cx="6035040" cy="18288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14630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6B7280"/>
                </a:solidFill>
                <a:latin typeface="Arial"/>
              </a:rPr>
              <a:t>Snowy vs low-snow March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057400"/>
            <a:ext cx="2834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0" b="1">
                <a:solidFill>
                  <a:srgbClr val="8250DF"/>
                </a:solidFill>
                <a:latin typeface="Arial"/>
              </a:rPr>
              <a:t>3.05×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5560" y="2057400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0B1F3A"/>
                </a:solidFill>
                <a:latin typeface="Arial"/>
              </a:rPr>
              <a:t>on chip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246120"/>
            <a:ext cx="2834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0" b="1">
                <a:solidFill>
                  <a:srgbClr val="1F6FEB"/>
                </a:solidFill>
                <a:latin typeface="Arial"/>
              </a:rPr>
              <a:t>2.75×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5560" y="3246120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0B1F3A"/>
                </a:solidFill>
                <a:latin typeface="Arial"/>
              </a:rPr>
              <a:t>exact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4617720"/>
            <a:ext cx="4325112" cy="18288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0" y="47548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6B7280"/>
                </a:solidFill>
                <a:latin typeface="Arial"/>
              </a:rPr>
              <a:t>Ran 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52120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B1F3A"/>
                </a:solidFill>
                <a:latin typeface="Arial"/>
              </a:rPr>
              <a:t>IBM · IQM · VTT Q50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0B1F3A"/>
                </a:solidFill>
                <a:latin typeface="Arial"/>
              </a:rPr>
              <a:t>Classical still wins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6</a:t>
            </a:r>
          </a:p>
        </p:txBody>
      </p:sp>
      <p:pic>
        <p:nvPicPr>
          <p:cNvPr id="4" name="Picture 3" descr="stage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7498079" cy="448055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183879" y="1737360"/>
            <a:ext cx="91440" cy="2194560"/>
          </a:xfrm>
          <a:prstGeom prst="rect">
            <a:avLst/>
          </a:prstGeom>
          <a:solidFill>
            <a:srgbClr val="D13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58200" y="1737360"/>
            <a:ext cx="320040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0B1F3A"/>
                </a:solidFill>
                <a:latin typeface="Arial"/>
              </a:rPr>
              <a:t>Rare 1-in-50 floods drown in noise.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200" y="429768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6B7280"/>
                </a:solidFill>
                <a:latin typeface="Arial"/>
              </a:rPr>
              <a:t>Prices are computed classically.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0B1F3A"/>
                </a:solidFill>
                <a:latin typeface="Arial"/>
              </a:rPr>
              <a:t>Who pays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2743200" cy="1188720"/>
          </a:xfrm>
          <a:prstGeom prst="roundRect">
            <a:avLst>
              <a:gd name="adj" fmla="val 12000"/>
            </a:avLst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Tulva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4247" y="1508760"/>
            <a:ext cx="2743200" cy="1188720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24247" y="1508760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Insurer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99855" y="1508760"/>
            <a:ext cx="2743200" cy="1188720"/>
          </a:xfrm>
          <a:prstGeom prst="roundRect">
            <a:avLst>
              <a:gd name="adj" fmla="val 12000"/>
            </a:avLst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99855" y="1508760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0B1F3A"/>
                </a:solidFill>
                <a:latin typeface="Arial"/>
              </a:rPr>
              <a:t>Reinsurer</a:t>
            </a:r>
          </a:p>
        </p:txBody>
      </p:sp>
      <p:sp>
        <p:nvSpPr>
          <p:cNvPr id="10" name="Left Arrow 9"/>
          <p:cNvSpPr/>
          <p:nvPr/>
        </p:nvSpPr>
        <p:spPr>
          <a:xfrm>
            <a:off x="3429000" y="2057400"/>
            <a:ext cx="1158087" cy="457200"/>
          </a:xfrm>
          <a:prstGeom prst="leftArrow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1536191"/>
            <a:ext cx="17981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F6FEB"/>
                </a:solidFill>
                <a:latin typeface="Arial"/>
              </a:rPr>
              <a:t>licence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604607" y="2057400"/>
            <a:ext cx="1158087" cy="457200"/>
          </a:xfrm>
          <a:prstGeom prst="rightArrow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84567" y="1536191"/>
            <a:ext cx="17981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F6FEB"/>
                </a:solidFill>
                <a:latin typeface="Arial"/>
              </a:rPr>
              <a:t>premium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B1F3A"/>
                </a:solidFill>
                <a:latin typeface="Arial"/>
              </a:rPr>
              <a:t>€25k pilot, then €75k / yr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4290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0" b="1">
                <a:solidFill>
                  <a:srgbClr val="0B1F3A"/>
                </a:solidFill>
                <a:latin typeface="Arial"/>
              </a:rPr>
              <a:t>Year 3: €0.2–0.45M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348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6B7280"/>
                </a:solidFill>
                <a:latin typeface="Arial"/>
              </a:rPr>
              <a:t>3–6 Finnish insurers, then the Nordics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40680"/>
            <a:ext cx="11094415" cy="822960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4068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A9C8F5"/>
                </a:solidFill>
                <a:latin typeface="Arial"/>
              </a:rPr>
              <a:t>Ask:  </a:t>
            </a:r>
            <a:r>
              <a:rPr sz="3200" b="1">
                <a:solidFill>
                  <a:srgbClr val="FFFFFF"/>
                </a:solidFill>
                <a:latin typeface="Arial"/>
              </a:rPr>
              <a:t>one insurer's flood claims, 8 weeks.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Built this weekend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Tulva</a:t>
            </a:r>
            <a:r>
              <a:rPr sz="1200" b="0">
                <a:solidFill>
                  <a:srgbClr val="A9C8F5"/>
                </a:solidFill>
                <a:latin typeface="Arial"/>
              </a:rPr>
              <a:t>  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083857" cy="5943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3083857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SYKE data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15377" y="1417320"/>
            <a:ext cx="2761654" cy="5943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5377" y="1417320"/>
            <a:ext cx="2761654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Joint flood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59912" y="1417320"/>
            <a:ext cx="2185491" cy="5943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59912" y="1417320"/>
            <a:ext cx="218549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Index pricing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28283" y="1417320"/>
            <a:ext cx="1609645" cy="5943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28283" y="1417320"/>
            <a:ext cx="160964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Live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3913921" cy="5943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48840"/>
            <a:ext cx="391392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Runs on 4 quantum chips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546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Next March, the snow will warn us </a:t>
            </a:r>
            <a:r>
              <a:rPr sz="4400" b="1">
                <a:solidFill>
                  <a:srgbClr val="A9C8F5"/>
                </a:solidFill>
                <a:latin typeface="Arial"/>
              </a:rPr>
              <a:t>again.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02336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A9C8F5"/>
                </a:solidFill>
                <a:latin typeface="Arial"/>
              </a:rPr>
              <a:t>This time, it will have a price.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49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Toivo Kallio</a:t>
            </a:r>
            <a:r>
              <a:rPr sz="2400" b="0">
                <a:solidFill>
                  <a:srgbClr val="A9C8F5"/>
                </a:solidFill>
                <a:latin typeface="Arial"/>
              </a:rPr>
              <a:t>  ·  </a:t>
            </a:r>
            <a:r>
              <a:rPr sz="2400" b="1">
                <a:solidFill>
                  <a:srgbClr val="FFFFFF"/>
                </a:solidFill>
                <a:latin typeface="Arial"/>
              </a:rPr>
              <a:t>Vaishnav Rane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A9C8F5"/>
                </a:solidFill>
                <a:latin typeface="Arial"/>
              </a:rPr>
              <a:t>Team 21 STUHI  ·  Quantum x Finance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BACKUP · Q&amp;A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Product and pricing in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EXPECTED LOSS, % OF THE LIMIT PER YEAR (YEAR-BOOTSTRAP 90 % INTERVALS)</a:t>
            </a:r>
          </a:p>
        </p:txBody>
      </p:sp>
      <p:pic>
        <p:nvPicPr>
          <p:cNvPr id="6" name="Picture 5" descr="pitch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691640"/>
            <a:ext cx="11064240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703320"/>
            <a:ext cx="1109441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▪  </a:t>
            </a:r>
            <a:r>
              <a:rPr sz="1500" b="0">
                <a:solidFill>
                  <a:srgbClr val="0B1F3A"/>
                </a:solidFill>
                <a:latin typeface="Arial"/>
              </a:rPr>
              <a:t>Index: pays the full limit if ≥2 of 5 northern rivers pass their 1-in-50 level (a staged payout is only a variant). Priced in autumn; in March the insurer can buy top-up cover and staff claims in the regions at risk.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▪  </a:t>
            </a:r>
            <a:r>
              <a:rPr sz="1500" b="0">
                <a:solidFill>
                  <a:srgbClr val="0B1F3A"/>
                </a:solidFill>
                <a:latin typeface="Arial"/>
              </a:rPr>
              <a:t>Tulva 1.96 % (1.6–2.2 %) vs 1.11 % for a model with one 0.27 correlation = 1.77× (≈1.8×). 0.27 = mean of the 2027 Finnish 19-zone flood matrix, Del. Reg. (EU) 2026/269. ≈5× only vs independence (0.38 %).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▪  </a:t>
            </a:r>
            <a:r>
              <a:rPr sz="1500" b="0">
                <a:solidFill>
                  <a:srgbClr val="0B1F3A"/>
                </a:solidFill>
                <a:latin typeface="Arial"/>
              </a:rPr>
              <a:t>Snowy (top-15 %) March vs autumn (normal): 6.4 % (3.6–9.1 %) vs 1.96 % = 3.3× (90 %: 2.1–4.4×).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▪  </a:t>
            </a:r>
            <a:r>
              <a:rPr sz="1500" b="0">
                <a:solidFill>
                  <a:srgbClr val="0B1F3A"/>
                </a:solidFill>
                <a:latin typeface="Arial"/>
              </a:rPr>
              <a:t>Market price = expected loss × 2.5–3.5: 4.9–6.9 % rate on line ≈ €49–69k a year per €1M of cover.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▪  </a:t>
            </a:r>
            <a:r>
              <a:rPr sz="1500" b="0">
                <a:solidFill>
                  <a:srgbClr val="0B1F3A"/>
                </a:solidFill>
                <a:latin typeface="Arial"/>
              </a:rPr>
              <a:t>Slide 1: 'flooded' = flow over each gauge's 1-in-10 level; North's 1 March snow in its top 15 % (in-sample). Slide 2: 10 of 65 springs (15.4 %, 90 %: 9–24 %) had ≥4 of 14 areas over 1-in-10; chance on the same gauge-years 3.9 % (3.9×), 4.4 % if all gauges reported (3.5×). SYKE 1961–2025 (+ SMHI Torne).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BACKUP · Q&amp;A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Basis risk and business in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4415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0B1F3A"/>
                </a:solidFill>
                <a:latin typeface="Arial"/>
              </a:rPr>
              <a:t>Basis risk (1-in-10 back-test).  </a:t>
            </a:r>
            <a:r>
              <a:rPr sz="1700" b="0">
                <a:solidFill>
                  <a:srgbClr val="0B1F3A"/>
                </a:solidFill>
                <a:latin typeface="Arial"/>
              </a:rPr>
              <a:t>Paid in loss springs 1966, 2005, 2018; missed Ostrobothnia 2012–13 and 2024 and Lapland 2020; since 2005 also paid in 3 North springs with no recorded loss (2015, 2023, 2024). At the 1-in-50 product level: paid 1966 and 2005 only.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0B1F3A"/>
                </a:solidFill>
                <a:latin typeface="Arial"/>
              </a:rPr>
              <a:t>Why now.  </a:t>
            </a:r>
            <a:r>
              <a:rPr sz="1700" b="0">
                <a:solidFill>
                  <a:srgbClr val="0B1F3A"/>
                </a:solidFill>
                <a:latin typeface="Arial"/>
              </a:rPr>
              <a:t>From 2027 the Solvency II standard formula fixes flood correlations that ignore the snow (19-zone matrix inside Finland, mean ≈ 0.27; 0 % to SE/NO/DK; Del. Reg. (EU) 2026/269). Insurers with an approved internal model, like If, can use a snow-aware joint-flood number.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0B1F3A"/>
                </a:solidFill>
                <a:latin typeface="Arial"/>
              </a:rPr>
              <a:t>Money flows.  </a:t>
            </a:r>
            <a:r>
              <a:rPr sz="1700" b="0">
                <a:solidFill>
                  <a:srgbClr val="0B1F3A"/>
                </a:solidFill>
                <a:latin typeface="Arial"/>
              </a:rPr>
              <a:t>Insurer → reinsurer: premium ≈ €0.5–0.7M a year per €10M North layer (model × 2.5–3.5 market multiple). Insurer → Tulva: licence, €25k pilot, then ~€75k a year (assumption). The reinsurer pays Tulva nothing.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0B1F3A"/>
                </a:solidFill>
                <a:latin typeface="Arial"/>
              </a:rPr>
              <a:t>Year 3.  </a:t>
            </a:r>
            <a:r>
              <a:rPr sz="1700" b="0">
                <a:solidFill>
                  <a:srgbClr val="0B1F3A"/>
                </a:solidFill>
                <a:latin typeface="Arial"/>
              </a:rPr>
              <a:t>3–6 insurers × €75k ≈ €0.2–0.45M a year (assumption); Nordic snowmelt upside unsized (assumption). Buyers: Finnish home insurers (OP, If, LähiTapiola, …); no pilot agreement yet.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0B1F3A"/>
                </a:solidFill>
                <a:latin typeface="Arial"/>
              </a:rPr>
              <a:t>Market size.  </a:t>
            </a:r>
            <a:r>
              <a:rPr sz="1700" b="0">
                <a:solidFill>
                  <a:srgbClr val="0B1F3A"/>
                </a:solidFill>
                <a:latin typeface="Arial"/>
              </a:rPr>
              <a:t>Losses per event ≈ €5–20M; parametric insurance market $3.5bn to $18–21bn, 12–14 %/yr growth (business case, outside sources, quoted as a range).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0B1F3A"/>
                </a:solidFill>
                <a:latin typeface="Arial"/>
              </a:rPr>
              <a:t>Ask.  </a:t>
            </a:r>
            <a:r>
              <a:rPr sz="1700" b="0">
                <a:solidFill>
                  <a:srgbClr val="0B1F3A"/>
                </a:solidFill>
                <a:latin typeface="Arial"/>
              </a:rPr>
              <a:t>One insurer's flood claims for 8 weeks → basis-risk map + firm quote for 1 Jan 2028.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BACKUP · Q&amp;A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Hardware runs in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4029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42989" y="1280160"/>
            <a:ext cx="35765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Circuit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0939" y="1280160"/>
            <a:ext cx="72365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Exact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26039" y="1280160"/>
            <a:ext cx="108592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3405" y="1280160"/>
            <a:ext cx="22180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Calibrated (90 % CI)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855" y="1280160"/>
            <a:ext cx="153875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Job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039112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664207"/>
            <a:ext cx="14029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IBM Marrakesh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2989" y="1664207"/>
            <a:ext cx="35765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North-cluster pair, 3 qubits, k = 0–2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0939" y="1664207"/>
            <a:ext cx="72365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0.125 %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6039" y="1664207"/>
            <a:ext cx="108592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0.262 %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3405" y="1664207"/>
            <a:ext cx="22180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0.149 % (0.140–0.157)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855" y="1664207"/>
            <a:ext cx="153875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db3tddsvf2bc73ctoprg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423160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048255"/>
            <a:ext cx="14029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Garnet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2989" y="2048255"/>
            <a:ext cx="35765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North-cluster pair, 3 qubits, k = 0–2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0939" y="2048255"/>
            <a:ext cx="72365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0.125 %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6039" y="2048255"/>
            <a:ext cx="108592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0.368 %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3405" y="2048255"/>
            <a:ext cx="22180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0.164 % (0.147–0.180)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855" y="2048255"/>
            <a:ext cx="153875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01a11cc3-7f6c…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807208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432303"/>
            <a:ext cx="14029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Emerald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42989" y="2432303"/>
            <a:ext cx="35765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Snowy / low-snow ratio, same pair, k = 0–2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0939" y="2432303"/>
            <a:ext cx="72365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2.75×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26039" y="2432303"/>
            <a:ext cx="108592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1.3×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03405" y="2432303"/>
            <a:ext cx="22180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3.05× (2.6–3.6)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2855" y="2432303"/>
            <a:ext cx="153875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01a11fa8-65a9…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191256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2816351"/>
            <a:ext cx="14029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Emerald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42989" y="2816351"/>
            <a:ext cx="35765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14 rivers ≥4 over 1-in-10, 18 q / 44 CZ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0939" y="2816351"/>
            <a:ext cx="72365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10.9 %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26039" y="2816351"/>
            <a:ext cx="108592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03405" y="2816351"/>
            <a:ext cx="22180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13.8 % (readout-corr.)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855" y="2816351"/>
            <a:ext cx="153875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01a11cd4-da38…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575303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200399"/>
            <a:ext cx="14029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Emerald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42989" y="3200399"/>
            <a:ext cx="35765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14 rivers ≥2 over 1-in-50, same circuit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10939" y="3200399"/>
            <a:ext cx="72365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4.8 %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26039" y="3200399"/>
            <a:ext cx="108592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03405" y="3200399"/>
            <a:ext cx="22180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16.0 % (fails)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2855" y="3200399"/>
            <a:ext cx="153875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01a11f9b-c62a…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3959351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3584447"/>
            <a:ext cx="14029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Emerald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42989" y="3584447"/>
            <a:ext cx="35765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Control: independent circuit, ≥4 over 1-in-10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10939" y="3584447"/>
            <a:ext cx="72365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4.4 %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39" y="3584447"/>
            <a:ext cx="108592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03405" y="3584447"/>
            <a:ext cx="22180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9.7 % (noise fattens tails)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12855" y="3584447"/>
            <a:ext cx="153875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01a120f5-ece7…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343400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968496"/>
            <a:ext cx="14029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VTT Q50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42989" y="3968496"/>
            <a:ext cx="35765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Same pair, 3 repeats: not stable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10939" y="3968496"/>
            <a:ext cx="72365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0.125 %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26039" y="3968496"/>
            <a:ext cx="108592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1.48–1.58 %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03405" y="3968496"/>
            <a:ext cx="22180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0.47 / 0.53 / 0.11 %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12855" y="3968496"/>
            <a:ext cx="153875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7d20d8ac / a6fb9d52 / 381179fb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" y="4727448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4352544"/>
            <a:ext cx="14029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VTT Q50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42989" y="4352544"/>
            <a:ext cx="35765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14 rivers ≥4 over 1-in-10, 18 q / 49 CZ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10939" y="4352544"/>
            <a:ext cx="72365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10.9 %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26039" y="4352544"/>
            <a:ext cx="108592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34.2 %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03405" y="4352544"/>
            <a:ext cx="22180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31.2 % (readout-corr.)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12855" y="4352544"/>
            <a:ext cx="153875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9cdb0158-7574…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4782312"/>
            <a:ext cx="1109441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Method: calibrated sampling + shallow amplitude estimation (noise-aware MLAE, Grover steps k = 0–2, two known-answer calibration circuits in the same job; bootstrap 90 % intervals). Pair = two rivers with identical North-cluster loadings and 1-in-50 trigger. Snowy vs normal on the same pair: 1.51× chip, 1.55× exact. Simplified 14-river model = two-level version, 18 qubits, sampling only. IBM / Garnet intervals exclude exact (+19 % / +31 % bias). Classical Monte Carlo at the same budget is more precise (±0.004 pp).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Signal kept at k = 1 in the runs shown: Emerald 0.56–0.59, IBM / Garnet 0.77–0.78, VTT Q50 0.12–0.19 (earlier runs 0.65–0.88): the estimate is mostly the calibrated k = 0 circuit. Q50's zero-calibration offset moved 0.002 → 0.006 between repeats (the 5× spread). Not shown: first runs IBM 0.146 % (k = 0–3), Garnet 0.073 % (1 copy).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Resources: SYKE open data · IBM Marrakesh · IQM Garnet &amp; Emerald (Resonance) · VTT Q50 (LUMI) · Qrisp · Qiskit · AI coding agents.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