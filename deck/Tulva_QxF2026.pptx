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two Lapland rivers flooded at the SAME time. Lapland's snow had warned us two months EARLIER. Tulva turns that warning into a PRICE. [pause]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(0:12–0:30)]</a:t>
            </a:r>
          </a:p>
          <a:p>
            <a:r>
              <a:t>Finland's rivers in one region share ONE snowpack, so they flood TOGETHER. [pause] Springs with many floods come about FOUR times more often than chance says. Insurers carry that joint risk and buy cover in autumn, BEFORE the snow falls.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(0:30–0:51)]</a:t>
            </a:r>
          </a:p>
          <a:p>
            <a:r>
              <a:t>The Tulva Index pays when SEVERAL northern rivers pass a rare flood level TOGETHER. Even against the regulator's average correlation, the fair price is about TWICE as high. [pause] This March's snow moves it THREE times more. No vendor model uses this winter's snow. Tulva does.</a:t>
            </a:r>
          </a:p>
          <a:p/>
          <a:p>
            <a:r>
              <a:t>Q&amp;A only (not spoken): "about TWICE" = 1.96 % vs 1.09 % (≈1.8×) against one equicorrelation of 0.27, the mean of the regulator's 19-zone matrix inside Finland; ≈5× only against independence. "THREE times more" = after a snowy March (top 15 %) 6.4 % vs 1.96 %. Vendor models (Verisk inland flood, Central Europe incl. FI/SE/NO) are precipitation-driven; RMS says it models snowmelt but averages over simulated winters: none reprices from this March's measured snow. Per €1M of cover: 4.9–6.9 % rate on line ≈ €49–69k a year.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(0:51–1:28), narrated live]</a:t>
            </a:r>
          </a:p>
          <a:p>
            <a:r>
              <a:t>[0 s, map] This is our LIVE app. Lines join rivers that flood together. [5 s, snow high] March snow set to HIGH… and the northern price JUMPS. [12 s, shots, low snow] REAL shots from an IQM quantum chip. Red means BOTH rivers flood. Low snow: little red. [18 s, snowy] Snowy March: MORE red. More than TWICE as much. [24 s, 14-area card] A simplified version of our 14-river model, on ONE chip. [31 s, 2005] And 2005: Lapland floods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(1:28–1:41)]</a:t>
            </a:r>
          </a:p>
          <a:p>
            <a:r>
              <a:t>We ran a quantum method for rare events on IBM and IQM. [pause] The snow warning SURVIVES on the chip: about three times the risk, like the exact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(1:41–1:51)]</a:t>
            </a:r>
          </a:p>
          <a:p>
            <a:r>
              <a:t>But honestly: classical computers still WIN today. Rare floods drown in hardware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(1:51–2:16)]</a:t>
            </a:r>
          </a:p>
          <a:p>
            <a:r>
              <a:t>Who pays? First, insurers with internal models, like If. A reinsurer carries the risk; we earn a fee per deal for index and price. Why now? From 2027, EU rules make Finnish insurers hold capital for flood, but judged snowmelt floods NOT linked. We have the evidence. Our ask: one insurer's flood claims for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(2:16–2:29)]</a:t>
            </a:r>
          </a:p>
          <a:p>
            <a:r>
              <a:t>Everything you saw, we built THIS weekend.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400" b="1">
                <a:solidFill>
                  <a:srgbClr val="0B1F3A"/>
                </a:solidFill>
                <a:latin typeface="Arial"/>
              </a:rPr>
              <a:t>Tulva</a:t>
            </a:r>
            <a:r>
              <a:rPr sz="2000" b="0">
                <a:solidFill>
                  <a:srgbClr val="6B7280"/>
                </a:solidFill>
                <a:latin typeface="Arial"/>
              </a:rPr>
              <a:t>   spring-flood risk, priced jointly</a:t>
            </a:r>
          </a:p>
        </p:txBody>
      </p:sp>
      <p:sp>
        <p:nvSpPr>
          <p:cNvPr id="3" name="TextBox 2"/>
          <p:cNvSpPr txBox="1"/>
          <p:nvPr/>
        </p:nvSpPr>
        <p:spPr>
          <a:xfrm>
            <a:off x="548640" y="1554480"/>
            <a:ext cx="5120640" cy="3840480"/>
          </a:xfrm>
          <a:prstGeom prst="rect">
            <a:avLst/>
          </a:prstGeom>
          <a:noFill/>
        </p:spPr>
        <p:txBody>
          <a:bodyPr wrap="square" lIns="0" rIns="0" tIns="0" bIns="0" anchor="t">
            <a:spAutoFit/>
          </a:bodyPr>
          <a:lstStyle/>
          <a:p>
            <a:pPr algn="l">
              <a:lnSpc>
                <a:spcPct val="105000"/>
              </a:lnSpc>
              <a:spcAft>
                <a:spcPts val="2400"/>
              </a:spcAft>
            </a:pPr>
            <a:r>
              <a:rPr sz="4400" b="1">
                <a:solidFill>
                  <a:srgbClr val="0B1F3A"/>
                </a:solidFill>
                <a:latin typeface="Arial"/>
              </a:rPr>
              <a:t>In May 2005, Kittilä and Ivalo flooded </a:t>
            </a:r>
            <a:r>
              <a:rPr sz="4400" b="1">
                <a:solidFill>
                  <a:srgbClr val="1F6FEB"/>
                </a:solidFill>
                <a:latin typeface="Arial"/>
              </a:rPr>
              <a:t>together.</a:t>
            </a:r>
          </a:p>
          <a:p>
            <a:pPr algn="l">
              <a:lnSpc>
                <a:spcPct val="105000"/>
              </a:lnSpc>
              <a:spcAft>
                <a:spcPts val="2400"/>
              </a:spcAft>
            </a:pPr>
            <a:r>
              <a:rPr sz="2800" b="0">
                <a:solidFill>
                  <a:srgbClr val="6B7280"/>
                </a:solidFill>
                <a:latin typeface="Arial"/>
              </a:rPr>
              <a:t>Lapland's snow had warned us two months earlier.</a:t>
            </a:r>
          </a:p>
        </p:txBody>
      </p:sp>
      <p:pic>
        <p:nvPicPr>
          <p:cNvPr id="4" name="Picture 3"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5" name="Rectangle 4"/>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6" name="TextBox 5"/>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7" name="Rectangle 6"/>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8" name="TextBox 7"/>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9" name="Rectangle 8"/>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0" name="TextBox 9"/>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1" name="Rectangle 10"/>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2" name="TextBox 11"/>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3" name="TextBox 12"/>
          <p:cNvSpPr txBox="1"/>
          <p:nvPr/>
        </p:nvSpPr>
        <p:spPr>
          <a:xfrm>
            <a:off x="5806440" y="5288643"/>
            <a:ext cx="5852160" cy="320040"/>
          </a:xfrm>
          <a:prstGeom prst="rect">
            <a:avLst/>
          </a:prstGeom>
          <a:noFill/>
        </p:spPr>
        <p:txBody>
          <a:bodyPr wrap="square" lIns="0" rIns="0" tIns="0" bIns="0" anchor="t">
            <a:spAutoFit/>
          </a:bodyPr>
          <a:lstStyle/>
          <a:p>
            <a:pPr algn="r">
              <a:lnSpc>
                <a:spcPct val="100000"/>
              </a:lnSpc>
              <a:spcAft>
                <a:spcPts val="0"/>
              </a:spcAft>
            </a:pPr>
            <a:r>
              <a:rPr sz="1400" b="0">
                <a:solidFill>
                  <a:srgbClr val="6B7280"/>
                </a:solidFill>
                <a:latin typeface="Arial"/>
              </a:rPr>
              <a:t>Tulva app: spring 2005 replay</a:t>
            </a:r>
          </a:p>
        </p:txBody>
      </p:sp>
      <p:sp>
        <p:nvSpPr>
          <p:cNvPr id="14" name="TextBox 13"/>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SYKE discharge 1961–2025 and 1 March snow (SWE); Tulva back-test (out/backtest.json)</a:t>
            </a:r>
          </a:p>
        </p:txBody>
      </p:sp>
      <p:sp>
        <p:nvSpPr>
          <p:cNvPr id="15" name="TextBox 14"/>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THE GAP</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Finland's rivers flood together, not one at a time</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2</a:t>
            </a:r>
          </a:p>
        </p:txBody>
      </p:sp>
      <p:sp>
        <p:nvSpPr>
          <p:cNvPr id="5" name="TextBox 4"/>
          <p:cNvSpPr txBox="1"/>
          <p:nvPr/>
        </p:nvSpPr>
        <p:spPr>
          <a:xfrm>
            <a:off x="548640" y="1371600"/>
            <a:ext cx="11094415" cy="365760"/>
          </a:xfrm>
          <a:prstGeom prst="rect">
            <a:avLst/>
          </a:prstGeom>
          <a:noFill/>
        </p:spPr>
        <p:txBody>
          <a:bodyPr wrap="square" lIns="0" rIns="0" tIns="0" bIns="0" anchor="t">
            <a:spAutoFit/>
          </a:bodyPr>
          <a:lstStyle/>
          <a:p>
            <a:pPr algn="l">
              <a:lnSpc>
                <a:spcPct val="100000"/>
              </a:lnSpc>
              <a:spcAft>
                <a:spcPts val="0"/>
              </a:spcAft>
            </a:pPr>
            <a:r>
              <a:rPr sz="2000" b="0">
                <a:solidFill>
                  <a:srgbClr val="6B7280"/>
                </a:solidFill>
                <a:latin typeface="Arial"/>
              </a:rPr>
              <a:t>Springs when ≥4 of 14 river areas pass their 1-in-10 flood level</a:t>
            </a:r>
          </a:p>
        </p:txBody>
      </p:sp>
      <p:pic>
        <p:nvPicPr>
          <p:cNvPr id="6" name="Picture 5" descr="pitch_gap.png"/>
          <p:cNvPicPr>
            <a:picLocks noChangeAspect="1"/>
          </p:cNvPicPr>
          <p:nvPr/>
        </p:nvPicPr>
        <p:blipFill>
          <a:blip r:embed="rId2"/>
          <a:stretch>
            <a:fillRect/>
          </a:stretch>
        </p:blipFill>
        <p:spPr>
          <a:xfrm>
            <a:off x="754490" y="1783080"/>
            <a:ext cx="10682714" cy="3840480"/>
          </a:xfrm>
          <a:prstGeom prst="rect">
            <a:avLst/>
          </a:prstGeom>
        </p:spPr>
      </p:pic>
      <p:sp>
        <p:nvSpPr>
          <p:cNvPr id="7" name="Rectangle 6"/>
          <p:cNvSpPr/>
          <p:nvPr/>
        </p:nvSpPr>
        <p:spPr>
          <a:xfrm>
            <a:off x="548640" y="5760720"/>
            <a:ext cx="91440" cy="502920"/>
          </a:xfrm>
          <a:prstGeom prst="rect">
            <a:avLst/>
          </a:prstGeom>
          <a:solidFill>
            <a:srgbClr val="1F6FEB"/>
          </a:solidFill>
          <a:ln>
            <a:noFill/>
          </a:ln>
          <a:effectLst/>
        </p:spPr>
        <p:txBody>
          <a:bodyPr rtlCol="0" anchor="ctr"/>
          <a:lstStyle/>
          <a:p>
            <a:pPr algn="ctr"/>
          </a:p>
        </p:txBody>
      </p:sp>
      <p:sp>
        <p:nvSpPr>
          <p:cNvPr id="8" name="TextBox 7"/>
          <p:cNvSpPr txBox="1"/>
          <p:nvPr/>
        </p:nvSpPr>
        <p:spPr>
          <a:xfrm>
            <a:off x="822959" y="5760720"/>
            <a:ext cx="11094415" cy="502920"/>
          </a:xfrm>
          <a:prstGeom prst="rect">
            <a:avLst/>
          </a:prstGeom>
          <a:noFill/>
        </p:spPr>
        <p:txBody>
          <a:bodyPr wrap="square" lIns="0" rIns="0" tIns="0" bIns="0" anchor="ctr">
            <a:spAutoFit/>
          </a:bodyPr>
          <a:lstStyle/>
          <a:p>
            <a:pPr algn="l">
              <a:lnSpc>
                <a:spcPct val="100000"/>
              </a:lnSpc>
              <a:spcAft>
                <a:spcPts val="0"/>
              </a:spcAft>
            </a:pPr>
            <a:r>
              <a:rPr sz="2800" b="1">
                <a:solidFill>
                  <a:srgbClr val="0B1F3A"/>
                </a:solidFill>
                <a:latin typeface="Arial"/>
              </a:rPr>
              <a:t>Cover is bought in autumn. The snow signal comes in March.</a:t>
            </a:r>
          </a:p>
        </p:txBody>
      </p:sp>
      <p:sp>
        <p:nvSpPr>
          <p:cNvPr id="9" name="TextBox 8"/>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SYKE 1961–2025 (+ SMHI Torne); independence = same gauge-years, no co-flooding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THE PRODUCT</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Tulva Index: sold in autumn, updated in March</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5" name="Rounded Rectangle 4"/>
          <p:cNvSpPr/>
          <p:nvPr/>
        </p:nvSpPr>
        <p:spPr>
          <a:xfrm>
            <a:off x="548640" y="1371600"/>
            <a:ext cx="11094415" cy="731520"/>
          </a:xfrm>
          <a:prstGeom prst="roundRect">
            <a:avLst>
              <a:gd name="adj" fmla="val 12000"/>
            </a:avLst>
          </a:prstGeom>
          <a:solidFill>
            <a:srgbClr val="0B1F3A"/>
          </a:solidFill>
          <a:ln>
            <a:noFill/>
          </a:ln>
          <a:effectLst/>
        </p:spPr>
        <p:txBody>
          <a:bodyPr rtlCol="0" anchor="ctr"/>
          <a:lstStyle/>
          <a:p>
            <a:pPr algn="ctr"/>
          </a:p>
        </p:txBody>
      </p:sp>
      <p:sp>
        <p:nvSpPr>
          <p:cNvPr id="6" name="TextBox 5"/>
          <p:cNvSpPr txBox="1"/>
          <p:nvPr/>
        </p:nvSpPr>
        <p:spPr>
          <a:xfrm>
            <a:off x="914400" y="1371600"/>
            <a:ext cx="10362895" cy="731520"/>
          </a:xfrm>
          <a:prstGeom prst="rect">
            <a:avLst/>
          </a:prstGeom>
          <a:noFill/>
        </p:spPr>
        <p:txBody>
          <a:bodyPr wrap="square" lIns="0" rIns="0" tIns="0" bIns="0" anchor="ctr">
            <a:spAutoFit/>
          </a:bodyPr>
          <a:lstStyle/>
          <a:p>
            <a:pPr algn="l">
              <a:lnSpc>
                <a:spcPct val="100000"/>
              </a:lnSpc>
              <a:spcAft>
                <a:spcPts val="0"/>
              </a:spcAft>
            </a:pPr>
            <a:r>
              <a:rPr sz="2600" b="1">
                <a:solidFill>
                  <a:srgbClr val="FFFFFF"/>
                </a:solidFill>
                <a:latin typeface="Arial"/>
              </a:rPr>
              <a:t>Pays if ≥2 of 5 northern rivers pass their 1-in-50 flood level</a:t>
            </a:r>
          </a:p>
        </p:txBody>
      </p:sp>
      <p:sp>
        <p:nvSpPr>
          <p:cNvPr id="7" name="TextBox 6"/>
          <p:cNvSpPr txBox="1"/>
          <p:nvPr/>
        </p:nvSpPr>
        <p:spPr>
          <a:xfrm>
            <a:off x="548640" y="2240280"/>
            <a:ext cx="11094415" cy="502920"/>
          </a:xfrm>
          <a:prstGeom prst="rect">
            <a:avLst/>
          </a:prstGeom>
          <a:noFill/>
        </p:spPr>
        <p:txBody>
          <a:bodyPr wrap="square" lIns="0" rIns="0" tIns="0" bIns="0" anchor="t">
            <a:spAutoFit/>
          </a:bodyPr>
          <a:lstStyle/>
          <a:p>
            <a:pPr algn="l">
              <a:lnSpc>
                <a:spcPct val="100000"/>
              </a:lnSpc>
              <a:spcAft>
                <a:spcPts val="0"/>
              </a:spcAft>
            </a:pPr>
            <a:r>
              <a:rPr sz="3200" b="1">
                <a:solidFill>
                  <a:srgbClr val="D13B2F"/>
                </a:solidFill>
                <a:latin typeface="Arial"/>
              </a:rPr>
              <a:t>≈2× under-priced even vs regulator-style correlation</a:t>
            </a:r>
          </a:p>
        </p:txBody>
      </p:sp>
      <p:sp>
        <p:nvSpPr>
          <p:cNvPr id="8" name="TextBox 7"/>
          <p:cNvSpPr txBox="1"/>
          <p:nvPr/>
        </p:nvSpPr>
        <p:spPr>
          <a:xfrm>
            <a:off x="548640" y="2788920"/>
            <a:ext cx="11094415" cy="320040"/>
          </a:xfrm>
          <a:prstGeom prst="rect">
            <a:avLst/>
          </a:prstGeom>
          <a:noFill/>
        </p:spPr>
        <p:txBody>
          <a:bodyPr wrap="square" lIns="0" rIns="0" tIns="0" bIns="0" anchor="t">
            <a:spAutoFit/>
          </a:bodyPr>
          <a:lstStyle/>
          <a:p>
            <a:pPr algn="l">
              <a:lnSpc>
                <a:spcPct val="100000"/>
              </a:lnSpc>
              <a:spcAft>
                <a:spcPts val="0"/>
              </a:spcAft>
            </a:pPr>
            <a:r>
              <a:rPr sz="1800" b="0">
                <a:solidFill>
                  <a:srgbClr val="6B7280"/>
                </a:solidFill>
                <a:latin typeface="Arial"/>
              </a:rPr>
              <a:t>≈5× if rivers priced independently</a:t>
            </a:r>
          </a:p>
        </p:txBody>
      </p:sp>
      <p:sp>
        <p:nvSpPr>
          <p:cNvPr id="9" name="TextBox 8"/>
          <p:cNvSpPr txBox="1"/>
          <p:nvPr/>
        </p:nvSpPr>
        <p:spPr>
          <a:xfrm>
            <a:off x="548640" y="3200400"/>
            <a:ext cx="8229600" cy="274320"/>
          </a:xfrm>
          <a:prstGeom prst="rect">
            <a:avLst/>
          </a:prstGeom>
          <a:noFill/>
        </p:spPr>
        <p:txBody>
          <a:bodyPr wrap="square" lIns="0" rIns="0" tIns="0" bIns="0" anchor="t">
            <a:spAutoFit/>
          </a:bodyPr>
          <a:lstStyle/>
          <a:p>
            <a:pPr algn="l">
              <a:lnSpc>
                <a:spcPct val="100000"/>
              </a:lnSpc>
              <a:spcAft>
                <a:spcPts val="0"/>
              </a:spcAft>
            </a:pPr>
            <a:r>
              <a:rPr sz="1400" b="1">
                <a:solidFill>
                  <a:srgbClr val="1F6FEB"/>
                </a:solidFill>
                <a:latin typeface="Arial"/>
              </a:rPr>
              <a:t>MARKET PRICE, % OF THE LIMIT PER YEAR</a:t>
            </a:r>
          </a:p>
        </p:txBody>
      </p:sp>
      <p:pic>
        <p:nvPicPr>
          <p:cNvPr id="10" name="Picture 9" descr="pitch_cost.png"/>
          <p:cNvPicPr>
            <a:picLocks noChangeAspect="1"/>
          </p:cNvPicPr>
          <p:nvPr/>
        </p:nvPicPr>
        <p:blipFill>
          <a:blip r:embed="rId2"/>
          <a:stretch>
            <a:fillRect/>
          </a:stretch>
        </p:blipFill>
        <p:spPr>
          <a:xfrm>
            <a:off x="563727" y="3474720"/>
            <a:ext cx="11064240" cy="2194560"/>
          </a:xfrm>
          <a:prstGeom prst="rect">
            <a:avLst/>
          </a:prstGeom>
        </p:spPr>
      </p:pic>
      <p:sp>
        <p:nvSpPr>
          <p:cNvPr id="11" name="Rectangle 10"/>
          <p:cNvSpPr/>
          <p:nvPr/>
        </p:nvSpPr>
        <p:spPr>
          <a:xfrm>
            <a:off x="548640" y="5760720"/>
            <a:ext cx="91440" cy="457200"/>
          </a:xfrm>
          <a:prstGeom prst="rect">
            <a:avLst/>
          </a:prstGeom>
          <a:solidFill>
            <a:srgbClr val="1F6FEB"/>
          </a:solidFill>
          <a:ln>
            <a:noFill/>
          </a:ln>
          <a:effectLst/>
        </p:spPr>
        <p:txBody>
          <a:bodyPr rtlCol="0" anchor="ctr"/>
          <a:lstStyle/>
          <a:p>
            <a:pPr algn="ctr"/>
          </a:p>
        </p:txBody>
      </p:sp>
      <p:sp>
        <p:nvSpPr>
          <p:cNvPr id="12" name="TextBox 11"/>
          <p:cNvSpPr txBox="1"/>
          <p:nvPr/>
        </p:nvSpPr>
        <p:spPr>
          <a:xfrm>
            <a:off x="822959" y="5760720"/>
            <a:ext cx="11094415" cy="457200"/>
          </a:xfrm>
          <a:prstGeom prst="rect">
            <a:avLst/>
          </a:prstGeom>
          <a:noFill/>
        </p:spPr>
        <p:txBody>
          <a:bodyPr wrap="square" lIns="0" rIns="0" tIns="0" bIns="0" anchor="ctr">
            <a:spAutoFit/>
          </a:bodyPr>
          <a:lstStyle/>
          <a:p>
            <a:pPr algn="l">
              <a:lnSpc>
                <a:spcPct val="100000"/>
              </a:lnSpc>
              <a:spcAft>
                <a:spcPts val="0"/>
              </a:spcAft>
            </a:pPr>
            <a:r>
              <a:rPr sz="2400" b="1">
                <a:solidFill>
                  <a:srgbClr val="0B1F3A"/>
                </a:solidFill>
                <a:latin typeface="Arial"/>
              </a:rPr>
              <a:t>Per €1M of cover: ~€49–69k / year</a:t>
            </a:r>
          </a:p>
        </p:txBody>
      </p:sp>
      <p:sp>
        <p:nvSpPr>
          <p:cNvPr id="13" name="TextBox 12"/>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Sources: SYKE 1961–2025, Tulva model; 0.27 = mean of the 19-zone matrix, Del. Reg. (EU) 2026/269; market 2.5–3.5× (AM Best)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14400" y="5989320"/>
            <a:ext cx="10362895" cy="365760"/>
          </a:xfrm>
          <a:prstGeom prst="rect">
            <a:avLst/>
          </a:prstGeom>
          <a:noFill/>
        </p:spPr>
        <p:txBody>
          <a:bodyPr wrap="square" lIns="0" rIns="0" tIns="0" bIns="0" anchor="t">
            <a:spAutoFit/>
          </a:bodyPr>
          <a:lstStyle/>
          <a:p>
            <a:pPr algn="ctr">
              <a:lnSpc>
                <a:spcPct val="100000"/>
              </a:lnSpc>
              <a:spcAft>
                <a:spcPts val="0"/>
              </a:spcAft>
            </a:pPr>
            <a:r>
              <a:rPr sz="1800" b="0">
                <a:solidFill>
                  <a:srgbClr val="FFFFFF"/>
                </a:solidFill>
                <a:latin typeface="Arial"/>
              </a:rPr>
              <a:t>Live app: joint-flood map → March snow → quantum chip → 2005 replay</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QUANTUM, IN PRACTICE</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It runs on real quantum chips today</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sp>
        <p:nvSpPr>
          <p:cNvPr id="5" name="TextBox 4"/>
          <p:cNvSpPr txBox="1"/>
          <p:nvPr/>
        </p:nvSpPr>
        <p:spPr>
          <a:xfrm>
            <a:off x="548640" y="1417320"/>
            <a:ext cx="6949440" cy="365760"/>
          </a:xfrm>
          <a:prstGeom prst="rect">
            <a:avLst/>
          </a:prstGeom>
          <a:noFill/>
        </p:spPr>
        <p:txBody>
          <a:bodyPr wrap="square" lIns="0" rIns="0" tIns="0" bIns="0" anchor="t">
            <a:spAutoFit/>
          </a:bodyPr>
          <a:lstStyle/>
          <a:p>
            <a:pPr algn="l">
              <a:lnSpc>
                <a:spcPct val="100000"/>
              </a:lnSpc>
              <a:spcAft>
                <a:spcPts val="0"/>
              </a:spcAft>
            </a:pPr>
            <a:r>
              <a:rPr sz="2000" b="1">
                <a:solidFill>
                  <a:srgbClr val="0B1F3A"/>
                </a:solidFill>
                <a:latin typeface="Arial"/>
              </a:rPr>
              <a:t>IQM Emerald: Kittilä and Ivalo both flood</a:t>
            </a:r>
          </a:p>
        </p:txBody>
      </p:sp>
      <p:pic>
        <p:nvPicPr>
          <p:cNvPr id="6" name="Picture 5" descr="pitch_snow.png"/>
          <p:cNvPicPr>
            <a:picLocks noChangeAspect="1"/>
          </p:cNvPicPr>
          <p:nvPr/>
        </p:nvPicPr>
        <p:blipFill>
          <a:blip r:embed="rId2"/>
          <a:stretch>
            <a:fillRect/>
          </a:stretch>
        </p:blipFill>
        <p:spPr>
          <a:xfrm>
            <a:off x="548640" y="1828800"/>
            <a:ext cx="6949439" cy="4206240"/>
          </a:xfrm>
          <a:prstGeom prst="rect">
            <a:avLst/>
          </a:prstGeom>
        </p:spPr>
      </p:pic>
      <p:sp>
        <p:nvSpPr>
          <p:cNvPr id="7" name="TextBox 6"/>
          <p:cNvSpPr txBox="1"/>
          <p:nvPr/>
        </p:nvSpPr>
        <p:spPr>
          <a:xfrm>
            <a:off x="7909560" y="1417320"/>
            <a:ext cx="3749039" cy="32004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AMPLITUDE ESTIMATION</a:t>
            </a:r>
          </a:p>
        </p:txBody>
      </p:sp>
      <p:sp>
        <p:nvSpPr>
          <p:cNvPr id="8" name="TextBox 7"/>
          <p:cNvSpPr txBox="1"/>
          <p:nvPr/>
        </p:nvSpPr>
        <p:spPr>
          <a:xfrm>
            <a:off x="7909560" y="1709928"/>
            <a:ext cx="3749039" cy="32004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Kittilä + Ivalo, 1-in-50</a:t>
            </a:r>
          </a:p>
        </p:txBody>
      </p:sp>
      <p:sp>
        <p:nvSpPr>
          <p:cNvPr id="9" name="TextBox 8"/>
          <p:cNvSpPr txBox="1"/>
          <p:nvPr/>
        </p:nvSpPr>
        <p:spPr>
          <a:xfrm>
            <a:off x="7909560" y="2130552"/>
            <a:ext cx="1280160" cy="365760"/>
          </a:xfrm>
          <a:prstGeom prst="rect">
            <a:avLst/>
          </a:prstGeom>
          <a:noFill/>
        </p:spPr>
        <p:txBody>
          <a:bodyPr wrap="square" lIns="0" rIns="0" tIns="0" bIns="0" anchor="t">
            <a:spAutoFit/>
          </a:bodyPr>
          <a:lstStyle/>
          <a:p>
            <a:pPr algn="l">
              <a:lnSpc>
                <a:spcPct val="100000"/>
              </a:lnSpc>
              <a:spcAft>
                <a:spcPts val="0"/>
              </a:spcAft>
            </a:pPr>
            <a:r>
              <a:rPr sz="2000" b="1">
                <a:solidFill>
                  <a:srgbClr val="0B1F3A"/>
                </a:solidFill>
                <a:latin typeface="Arial"/>
              </a:rPr>
              <a:t>Exact</a:t>
            </a:r>
          </a:p>
        </p:txBody>
      </p:sp>
      <p:sp>
        <p:nvSpPr>
          <p:cNvPr id="10" name="TextBox 9"/>
          <p:cNvSpPr txBox="1"/>
          <p:nvPr/>
        </p:nvSpPr>
        <p:spPr>
          <a:xfrm>
            <a:off x="9098280" y="2057400"/>
            <a:ext cx="2560320" cy="411480"/>
          </a:xfrm>
          <a:prstGeom prst="rect">
            <a:avLst/>
          </a:prstGeom>
          <a:noFill/>
        </p:spPr>
        <p:txBody>
          <a:bodyPr wrap="square" lIns="0" rIns="0" tIns="0" bIns="0" anchor="t">
            <a:spAutoFit/>
          </a:bodyPr>
          <a:lstStyle/>
          <a:p>
            <a:pPr algn="r">
              <a:lnSpc>
                <a:spcPct val="100000"/>
              </a:lnSpc>
              <a:spcAft>
                <a:spcPts val="0"/>
              </a:spcAft>
            </a:pPr>
            <a:r>
              <a:rPr sz="2600" b="1">
                <a:solidFill>
                  <a:srgbClr val="0B1F3A"/>
                </a:solidFill>
                <a:latin typeface="Arial"/>
              </a:rPr>
              <a:t>0.125 %</a:t>
            </a:r>
          </a:p>
        </p:txBody>
      </p:sp>
      <p:sp>
        <p:nvSpPr>
          <p:cNvPr id="11" name="Rectangle 10"/>
          <p:cNvSpPr/>
          <p:nvPr/>
        </p:nvSpPr>
        <p:spPr>
          <a:xfrm>
            <a:off x="7909560" y="2770632"/>
            <a:ext cx="3749039" cy="10972"/>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909560" y="2862072"/>
            <a:ext cx="1280160" cy="365760"/>
          </a:xfrm>
          <a:prstGeom prst="rect">
            <a:avLst/>
          </a:prstGeom>
          <a:noFill/>
        </p:spPr>
        <p:txBody>
          <a:bodyPr wrap="square" lIns="0" rIns="0" tIns="0" bIns="0" anchor="t">
            <a:spAutoFit/>
          </a:bodyPr>
          <a:lstStyle/>
          <a:p>
            <a:pPr algn="l">
              <a:lnSpc>
                <a:spcPct val="100000"/>
              </a:lnSpc>
              <a:spcAft>
                <a:spcPts val="0"/>
              </a:spcAft>
            </a:pPr>
            <a:r>
              <a:rPr sz="2000" b="1">
                <a:solidFill>
                  <a:srgbClr val="0B1F3A"/>
                </a:solidFill>
                <a:latin typeface="Arial"/>
              </a:rPr>
              <a:t>IBM</a:t>
            </a:r>
          </a:p>
        </p:txBody>
      </p:sp>
      <p:sp>
        <p:nvSpPr>
          <p:cNvPr id="13" name="TextBox 12"/>
          <p:cNvSpPr txBox="1"/>
          <p:nvPr/>
        </p:nvSpPr>
        <p:spPr>
          <a:xfrm>
            <a:off x="9098280" y="2788920"/>
            <a:ext cx="2560320" cy="411480"/>
          </a:xfrm>
          <a:prstGeom prst="rect">
            <a:avLst/>
          </a:prstGeom>
          <a:noFill/>
        </p:spPr>
        <p:txBody>
          <a:bodyPr wrap="square" lIns="0" rIns="0" tIns="0" bIns="0" anchor="t">
            <a:spAutoFit/>
          </a:bodyPr>
          <a:lstStyle/>
          <a:p>
            <a:pPr algn="r">
              <a:lnSpc>
                <a:spcPct val="100000"/>
              </a:lnSpc>
              <a:spcAft>
                <a:spcPts val="0"/>
              </a:spcAft>
            </a:pPr>
            <a:r>
              <a:rPr sz="2600" b="1">
                <a:solidFill>
                  <a:srgbClr val="0B1F3A"/>
                </a:solidFill>
                <a:latin typeface="Arial"/>
              </a:rPr>
              <a:t>0.149 %</a:t>
            </a:r>
          </a:p>
        </p:txBody>
      </p:sp>
      <p:sp>
        <p:nvSpPr>
          <p:cNvPr id="14" name="TextBox 13"/>
          <p:cNvSpPr txBox="1"/>
          <p:nvPr/>
        </p:nvSpPr>
        <p:spPr>
          <a:xfrm>
            <a:off x="9098280" y="3200400"/>
            <a:ext cx="2560320" cy="274320"/>
          </a:xfrm>
          <a:prstGeom prst="rect">
            <a:avLst/>
          </a:prstGeom>
          <a:noFill/>
        </p:spPr>
        <p:txBody>
          <a:bodyPr wrap="square" lIns="0" rIns="0" tIns="0" bIns="0" anchor="t">
            <a:spAutoFit/>
          </a:bodyPr>
          <a:lstStyle/>
          <a:p>
            <a:pPr algn="r">
              <a:lnSpc>
                <a:spcPct val="100000"/>
              </a:lnSpc>
              <a:spcAft>
                <a:spcPts val="0"/>
              </a:spcAft>
            </a:pPr>
            <a:r>
              <a:rPr sz="1400" b="0">
                <a:solidFill>
                  <a:srgbClr val="6B7280"/>
                </a:solidFill>
                <a:latin typeface="Arial"/>
              </a:rPr>
              <a:t>90 % CI 0.140–0.157</a:t>
            </a:r>
          </a:p>
        </p:txBody>
      </p:sp>
      <p:sp>
        <p:nvSpPr>
          <p:cNvPr id="15" name="Rectangle 14"/>
          <p:cNvSpPr/>
          <p:nvPr/>
        </p:nvSpPr>
        <p:spPr>
          <a:xfrm>
            <a:off x="7909560" y="3502152"/>
            <a:ext cx="3749039" cy="10972"/>
          </a:xfrm>
          <a:prstGeom prst="rect">
            <a:avLst/>
          </a:prstGeom>
          <a:solidFill>
            <a:srgbClr val="DDE3EA"/>
          </a:solidFill>
          <a:ln>
            <a:noFill/>
          </a:ln>
          <a:effectLst/>
        </p:spPr>
        <p:txBody>
          <a:bodyPr rtlCol="0" anchor="ctr"/>
          <a:lstStyle/>
          <a:p>
            <a:pPr algn="ctr"/>
          </a:p>
        </p:txBody>
      </p:sp>
      <p:sp>
        <p:nvSpPr>
          <p:cNvPr id="16" name="TextBox 15"/>
          <p:cNvSpPr txBox="1"/>
          <p:nvPr/>
        </p:nvSpPr>
        <p:spPr>
          <a:xfrm>
            <a:off x="7909560" y="3593591"/>
            <a:ext cx="1280160" cy="365760"/>
          </a:xfrm>
          <a:prstGeom prst="rect">
            <a:avLst/>
          </a:prstGeom>
          <a:noFill/>
        </p:spPr>
        <p:txBody>
          <a:bodyPr wrap="square" lIns="0" rIns="0" tIns="0" bIns="0" anchor="t">
            <a:spAutoFit/>
          </a:bodyPr>
          <a:lstStyle/>
          <a:p>
            <a:pPr algn="l">
              <a:lnSpc>
                <a:spcPct val="100000"/>
              </a:lnSpc>
              <a:spcAft>
                <a:spcPts val="0"/>
              </a:spcAft>
            </a:pPr>
            <a:r>
              <a:rPr sz="2000" b="1">
                <a:solidFill>
                  <a:srgbClr val="0B1F3A"/>
                </a:solidFill>
                <a:latin typeface="Arial"/>
              </a:rPr>
              <a:t>IQM</a:t>
            </a:r>
          </a:p>
        </p:txBody>
      </p:sp>
      <p:sp>
        <p:nvSpPr>
          <p:cNvPr id="17" name="TextBox 16"/>
          <p:cNvSpPr txBox="1"/>
          <p:nvPr/>
        </p:nvSpPr>
        <p:spPr>
          <a:xfrm>
            <a:off x="9098280" y="3520439"/>
            <a:ext cx="2560320" cy="411480"/>
          </a:xfrm>
          <a:prstGeom prst="rect">
            <a:avLst/>
          </a:prstGeom>
          <a:noFill/>
        </p:spPr>
        <p:txBody>
          <a:bodyPr wrap="square" lIns="0" rIns="0" tIns="0" bIns="0" anchor="t">
            <a:spAutoFit/>
          </a:bodyPr>
          <a:lstStyle/>
          <a:p>
            <a:pPr algn="r">
              <a:lnSpc>
                <a:spcPct val="100000"/>
              </a:lnSpc>
              <a:spcAft>
                <a:spcPts val="0"/>
              </a:spcAft>
            </a:pPr>
            <a:r>
              <a:rPr sz="2600" b="1">
                <a:solidFill>
                  <a:srgbClr val="0B1F3A"/>
                </a:solidFill>
                <a:latin typeface="Arial"/>
              </a:rPr>
              <a:t>0.164 %</a:t>
            </a:r>
          </a:p>
        </p:txBody>
      </p:sp>
      <p:sp>
        <p:nvSpPr>
          <p:cNvPr id="18" name="TextBox 17"/>
          <p:cNvSpPr txBox="1"/>
          <p:nvPr/>
        </p:nvSpPr>
        <p:spPr>
          <a:xfrm>
            <a:off x="9098280" y="3931920"/>
            <a:ext cx="2560320" cy="274320"/>
          </a:xfrm>
          <a:prstGeom prst="rect">
            <a:avLst/>
          </a:prstGeom>
          <a:noFill/>
        </p:spPr>
        <p:txBody>
          <a:bodyPr wrap="square" lIns="0" rIns="0" tIns="0" bIns="0" anchor="t">
            <a:spAutoFit/>
          </a:bodyPr>
          <a:lstStyle/>
          <a:p>
            <a:pPr algn="r">
              <a:lnSpc>
                <a:spcPct val="100000"/>
              </a:lnSpc>
              <a:spcAft>
                <a:spcPts val="0"/>
              </a:spcAft>
            </a:pPr>
            <a:r>
              <a:rPr sz="1400" b="0">
                <a:solidFill>
                  <a:srgbClr val="6B7280"/>
                </a:solidFill>
                <a:latin typeface="Arial"/>
              </a:rPr>
              <a:t>90 % CI 0.147–0.180</a:t>
            </a:r>
          </a:p>
        </p:txBody>
      </p:sp>
      <p:sp>
        <p:nvSpPr>
          <p:cNvPr id="19" name="Rectangle 18"/>
          <p:cNvSpPr/>
          <p:nvPr/>
        </p:nvSpPr>
        <p:spPr>
          <a:xfrm>
            <a:off x="7909560" y="4233672"/>
            <a:ext cx="3749039" cy="10972"/>
          </a:xfrm>
          <a:prstGeom prst="rect">
            <a:avLst/>
          </a:prstGeom>
          <a:solidFill>
            <a:srgbClr val="DDE3EA"/>
          </a:solidFill>
          <a:ln>
            <a:noFill/>
          </a:ln>
          <a:effectLst/>
        </p:spPr>
        <p:txBody>
          <a:bodyPr rtlCol="0" anchor="ctr"/>
          <a:lstStyle/>
          <a:p>
            <a:pPr algn="ctr"/>
          </a:p>
        </p:txBody>
      </p:sp>
      <p:sp>
        <p:nvSpPr>
          <p:cNvPr id="20" name="TextBox 19"/>
          <p:cNvSpPr txBox="1"/>
          <p:nvPr/>
        </p:nvSpPr>
        <p:spPr>
          <a:xfrm>
            <a:off x="7909560" y="4325112"/>
            <a:ext cx="3840479" cy="640080"/>
          </a:xfrm>
          <a:prstGeom prst="rect">
            <a:avLst/>
          </a:prstGeom>
          <a:noFill/>
        </p:spPr>
        <p:txBody>
          <a:bodyPr wrap="square" lIns="0" rIns="0" tIns="0" bIns="0" anchor="t">
            <a:spAutoFit/>
          </a:bodyPr>
          <a:lstStyle/>
          <a:p>
            <a:pPr algn="l">
              <a:lnSpc>
                <a:spcPct val="100000"/>
              </a:lnSpc>
              <a:spcAft>
                <a:spcPts val="0"/>
              </a:spcAft>
            </a:pPr>
            <a:r>
              <a:rPr sz="1600" b="1">
                <a:solidFill>
                  <a:srgbClr val="6B7280"/>
                </a:solidFill>
                <a:latin typeface="Arial"/>
              </a:rPr>
              <a:t>+19 % / +31 % bias</a:t>
            </a:r>
          </a:p>
          <a:p>
            <a:pPr algn="l">
              <a:lnSpc>
                <a:spcPct val="100000"/>
              </a:lnSpc>
              <a:spcAft>
                <a:spcPts val="0"/>
              </a:spcAft>
            </a:pPr>
            <a:r>
              <a:rPr sz="1600" b="1">
                <a:solidFill>
                  <a:srgbClr val="6B7280"/>
                </a:solidFill>
                <a:latin typeface="Arial"/>
              </a:rPr>
              <a:t>(calibrated; raw 2–3× off)</a:t>
            </a:r>
          </a:p>
        </p:txBody>
      </p:sp>
      <p:sp>
        <p:nvSpPr>
          <p:cNvPr id="21" name="Rectangle 20"/>
          <p:cNvSpPr/>
          <p:nvPr/>
        </p:nvSpPr>
        <p:spPr>
          <a:xfrm>
            <a:off x="7909560" y="5074920"/>
            <a:ext cx="3749039" cy="960120"/>
          </a:xfrm>
          <a:prstGeom prst="rect">
            <a:avLst/>
          </a:prstGeom>
          <a:solidFill>
            <a:srgbClr val="F3F6FA"/>
          </a:solidFill>
          <a:ln>
            <a:noFill/>
          </a:ln>
          <a:effectLst/>
        </p:spPr>
        <p:txBody>
          <a:bodyPr rtlCol="0" anchor="ctr"/>
          <a:lstStyle/>
          <a:p>
            <a:pPr algn="ctr"/>
          </a:p>
        </p:txBody>
      </p:sp>
      <p:sp>
        <p:nvSpPr>
          <p:cNvPr id="22" name="TextBox 21"/>
          <p:cNvSpPr txBox="1"/>
          <p:nvPr/>
        </p:nvSpPr>
        <p:spPr>
          <a:xfrm>
            <a:off x="8092440" y="5138928"/>
            <a:ext cx="3428999" cy="868680"/>
          </a:xfrm>
          <a:prstGeom prst="rect">
            <a:avLst/>
          </a:prstGeom>
          <a:noFill/>
        </p:spPr>
        <p:txBody>
          <a:bodyPr wrap="square" lIns="0" rIns="0" tIns="0" bIns="0" anchor="ctr">
            <a:spAutoFit/>
          </a:bodyPr>
          <a:lstStyle/>
          <a:p>
            <a:pPr algn="l">
              <a:lnSpc>
                <a:spcPct val="100000"/>
              </a:lnSpc>
              <a:spcAft>
                <a:spcPts val="0"/>
              </a:spcAft>
            </a:pPr>
            <a:r>
              <a:rPr sz="1500" b="0">
                <a:solidFill>
                  <a:srgbClr val="0B1F3A"/>
                </a:solidFill>
                <a:latin typeface="Arial"/>
              </a:rPr>
              <a:t>A two-level version of the 14-area model: 18 qubits, 44 two-qubit gates on IQM Emerald (sampling)</a:t>
            </a:r>
          </a:p>
        </p:txBody>
      </p:sp>
      <p:sp>
        <p:nvSpPr>
          <p:cNvPr id="23" name="TextBox 22"/>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IQM Emerald (snow: 10 copies, 240k shots per level; 14 areas: job 01a11cd4…); IBM Marrakesh, IQM Garnet; bootstrap 90 % 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QUANTUM, HONESTLY</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Classical Monte Carlo still wins today</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pic>
        <p:nvPicPr>
          <p:cNvPr id="5" name="Picture 4" descr="pitch_scaling.png"/>
          <p:cNvPicPr>
            <a:picLocks noChangeAspect="1"/>
          </p:cNvPicPr>
          <p:nvPr/>
        </p:nvPicPr>
        <p:blipFill>
          <a:blip r:embed="rId2"/>
          <a:stretch>
            <a:fillRect/>
          </a:stretch>
        </p:blipFill>
        <p:spPr>
          <a:xfrm>
            <a:off x="554603" y="1463040"/>
            <a:ext cx="6571753" cy="3977639"/>
          </a:xfrm>
          <a:prstGeom prst="rect">
            <a:avLst/>
          </a:prstGeom>
        </p:spPr>
      </p:pic>
      <p:sp>
        <p:nvSpPr>
          <p:cNvPr id="6" name="TextBox 5"/>
          <p:cNvSpPr txBox="1"/>
          <p:nvPr/>
        </p:nvSpPr>
        <p:spPr>
          <a:xfrm>
            <a:off x="548640" y="5532120"/>
            <a:ext cx="6583680" cy="36576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Kittilä and Ivalo both pass 1-in-50: error vs effort</a:t>
            </a:r>
          </a:p>
        </p:txBody>
      </p:sp>
      <p:sp>
        <p:nvSpPr>
          <p:cNvPr id="7" name="TextBox 6"/>
          <p:cNvSpPr txBox="1"/>
          <p:nvPr/>
        </p:nvSpPr>
        <p:spPr>
          <a:xfrm>
            <a:off x="7498079" y="1463040"/>
            <a:ext cx="4160520" cy="411480"/>
          </a:xfrm>
          <a:prstGeom prst="rect">
            <a:avLst/>
          </a:prstGeom>
          <a:noFill/>
        </p:spPr>
        <p:txBody>
          <a:bodyPr wrap="square" lIns="0" rIns="0" tIns="0" bIns="0" anchor="t">
            <a:spAutoFit/>
          </a:bodyPr>
          <a:lstStyle/>
          <a:p>
            <a:pPr algn="l">
              <a:lnSpc>
                <a:spcPct val="100000"/>
              </a:lnSpc>
              <a:spcAft>
                <a:spcPts val="0"/>
              </a:spcAft>
            </a:pPr>
            <a:r>
              <a:rPr sz="2000" b="1">
                <a:solidFill>
                  <a:srgbClr val="1F6FEB"/>
                </a:solidFill>
                <a:latin typeface="Arial"/>
              </a:rPr>
              <a:t>Method ready, hardware not yet</a:t>
            </a:r>
          </a:p>
        </p:txBody>
      </p:sp>
      <p:sp>
        <p:nvSpPr>
          <p:cNvPr id="8" name="Rectangle 7"/>
          <p:cNvSpPr/>
          <p:nvPr/>
        </p:nvSpPr>
        <p:spPr>
          <a:xfrm>
            <a:off x="7498079" y="2011680"/>
            <a:ext cx="4160520" cy="1600200"/>
          </a:xfrm>
          <a:prstGeom prst="rect">
            <a:avLst/>
          </a:prstGeom>
          <a:solidFill>
            <a:srgbClr val="F3F6FA"/>
          </a:solidFill>
          <a:ln>
            <a:noFill/>
          </a:ln>
          <a:effectLst/>
        </p:spPr>
        <p:txBody>
          <a:bodyPr rtlCol="0" anchor="ctr"/>
          <a:lstStyle/>
          <a:p>
            <a:pPr algn="ctr"/>
          </a:p>
        </p:txBody>
      </p:sp>
      <p:sp>
        <p:nvSpPr>
          <p:cNvPr id="9" name="Rectangle 8"/>
          <p:cNvSpPr/>
          <p:nvPr/>
        </p:nvSpPr>
        <p:spPr>
          <a:xfrm>
            <a:off x="7498079" y="2011680"/>
            <a:ext cx="73152" cy="1600200"/>
          </a:xfrm>
          <a:prstGeom prst="rect">
            <a:avLst/>
          </a:prstGeom>
          <a:solidFill>
            <a:srgbClr val="D13B2F"/>
          </a:solidFill>
          <a:ln>
            <a:noFill/>
          </a:ln>
          <a:effectLst/>
        </p:spPr>
        <p:txBody>
          <a:bodyPr rtlCol="0" anchor="ctr"/>
          <a:lstStyle/>
          <a:p>
            <a:pPr algn="ctr"/>
          </a:p>
        </p:txBody>
      </p:sp>
      <p:sp>
        <p:nvSpPr>
          <p:cNvPr id="10" name="TextBox 9"/>
          <p:cNvSpPr txBox="1"/>
          <p:nvPr/>
        </p:nvSpPr>
        <p:spPr>
          <a:xfrm>
            <a:off x="7772400" y="2148840"/>
            <a:ext cx="3749039" cy="13716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Today: rare floods drown in noise.</a:t>
            </a:r>
          </a:p>
        </p:txBody>
      </p:sp>
      <p:sp>
        <p:nvSpPr>
          <p:cNvPr id="11" name="TextBox 10"/>
          <p:cNvSpPr txBox="1"/>
          <p:nvPr/>
        </p:nvSpPr>
        <p:spPr>
          <a:xfrm>
            <a:off x="7772400" y="3154680"/>
            <a:ext cx="3749039" cy="41148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~18 qubits / ~50 two-qubit gates work</a:t>
            </a:r>
          </a:p>
        </p:txBody>
      </p:sp>
      <p:sp>
        <p:nvSpPr>
          <p:cNvPr id="12" name="TextBox 11"/>
          <p:cNvSpPr txBox="1"/>
          <p:nvPr/>
        </p:nvSpPr>
        <p:spPr>
          <a:xfrm>
            <a:off x="7498079" y="3931920"/>
            <a:ext cx="4160520" cy="822960"/>
          </a:xfrm>
          <a:prstGeom prst="rect">
            <a:avLst/>
          </a:prstGeom>
          <a:noFill/>
        </p:spPr>
        <p:txBody>
          <a:bodyPr wrap="square" lIns="0" rIns="0" tIns="0" bIns="0" anchor="t">
            <a:spAutoFit/>
          </a:bodyPr>
          <a:lstStyle/>
          <a:p>
            <a:pPr algn="l">
              <a:lnSpc>
                <a:spcPct val="100000"/>
              </a:lnSpc>
              <a:spcAft>
                <a:spcPts val="0"/>
              </a:spcAft>
            </a:pPr>
            <a:r>
              <a:rPr sz="2000" b="1">
                <a:solidFill>
                  <a:srgbClr val="0B1F3A"/>
                </a:solidFill>
                <a:latin typeface="Arial"/>
              </a:rPr>
              <a:t>Prices are computed classically; quantum is the R&amp;D track.</a:t>
            </a:r>
          </a:p>
        </p:txBody>
      </p:sp>
      <p:sp>
        <p:nvSpPr>
          <p:cNvPr id="13" name="TextBox 12"/>
          <p:cNvSpPr txBox="1"/>
          <p:nvPr/>
        </p:nvSpPr>
        <p:spPr>
          <a:xfrm>
            <a:off x="7498079" y="4800600"/>
            <a:ext cx="4160520" cy="731520"/>
          </a:xfrm>
          <a:prstGeom prst="rect">
            <a:avLst/>
          </a:prstGeom>
          <a:noFill/>
        </p:spPr>
        <p:txBody>
          <a:bodyPr wrap="square" lIns="0" rIns="0" tIns="0" bIns="0" anchor="t">
            <a:spAutoFit/>
          </a:bodyPr>
          <a:lstStyle/>
          <a:p>
            <a:pPr algn="l">
              <a:lnSpc>
                <a:spcPct val="100000"/>
              </a:lnSpc>
              <a:spcAft>
                <a:spcPts val="0"/>
              </a:spcAft>
            </a:pPr>
            <a:r>
              <a:rPr sz="1400" b="0">
                <a:solidFill>
                  <a:srgbClr val="6B7280"/>
                </a:solidFill>
                <a:latin typeface="Arial"/>
              </a:rPr>
              <a:t>Advantage needs fault-tolerant scale (cf. derivative pricing: ~8k logical qubits, Chakrabarti 2021)</a:t>
            </a:r>
          </a:p>
        </p:txBody>
      </p:sp>
      <p:sp>
        <p:nvSpPr>
          <p:cNvPr id="14" name="TextBox 13"/>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Tulva simulations (qae-sim) + IBM Marrakesh / IQM Garnet / IQM Emerald runs; Chakrabarti et al., Quantum 5, 463 (2021)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BUSINESS</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Who buys, why, and why now</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sp>
        <p:nvSpPr>
          <p:cNvPr id="5" name="Rectangle 4"/>
          <p:cNvSpPr/>
          <p:nvPr/>
        </p:nvSpPr>
        <p:spPr>
          <a:xfrm>
            <a:off x="548640" y="1463040"/>
            <a:ext cx="2464993" cy="2514600"/>
          </a:xfrm>
          <a:prstGeom prst="rect">
            <a:avLst/>
          </a:prstGeom>
          <a:solidFill>
            <a:srgbClr val="F3F6FA"/>
          </a:solidFill>
          <a:ln>
            <a:noFill/>
          </a:ln>
          <a:effectLst/>
        </p:spPr>
        <p:txBody>
          <a:bodyPr rtlCol="0" anchor="ctr"/>
          <a:lstStyle/>
          <a:p>
            <a:pPr algn="ctr"/>
          </a:p>
        </p:txBody>
      </p:sp>
      <p:sp>
        <p:nvSpPr>
          <p:cNvPr id="6" name="Rectangle 5"/>
          <p:cNvSpPr/>
          <p:nvPr/>
        </p:nvSpPr>
        <p:spPr>
          <a:xfrm>
            <a:off x="548640" y="1463040"/>
            <a:ext cx="2464993" cy="64008"/>
          </a:xfrm>
          <a:prstGeom prst="rect">
            <a:avLst/>
          </a:prstGeom>
          <a:solidFill>
            <a:srgbClr val="1F6FEB"/>
          </a:solidFill>
          <a:ln>
            <a:noFill/>
          </a:ln>
          <a:effectLst/>
        </p:spPr>
        <p:txBody>
          <a:bodyPr rtlCol="0" anchor="ctr"/>
          <a:lstStyle/>
          <a:p>
            <a:pPr algn="ctr"/>
          </a:p>
        </p:txBody>
      </p:sp>
      <p:sp>
        <p:nvSpPr>
          <p:cNvPr id="7" name="TextBox 6"/>
          <p:cNvSpPr txBox="1"/>
          <p:nvPr/>
        </p:nvSpPr>
        <p:spPr>
          <a:xfrm>
            <a:off x="731520" y="1664208"/>
            <a:ext cx="2099233" cy="32004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BUYER</a:t>
            </a:r>
          </a:p>
        </p:txBody>
      </p:sp>
      <p:sp>
        <p:nvSpPr>
          <p:cNvPr id="8" name="TextBox 7"/>
          <p:cNvSpPr txBox="1"/>
          <p:nvPr/>
        </p:nvSpPr>
        <p:spPr>
          <a:xfrm>
            <a:off x="731520" y="2057400"/>
            <a:ext cx="2099233" cy="13716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Insurer with internal capital model</a:t>
            </a:r>
          </a:p>
        </p:txBody>
      </p:sp>
      <p:sp>
        <p:nvSpPr>
          <p:cNvPr id="9" name="TextBox 8"/>
          <p:cNvSpPr txBox="1"/>
          <p:nvPr/>
        </p:nvSpPr>
        <p:spPr>
          <a:xfrm>
            <a:off x="731520" y="3291839"/>
            <a:ext cx="2099233" cy="548640"/>
          </a:xfrm>
          <a:prstGeom prst="rect">
            <a:avLst/>
          </a:prstGeom>
          <a:noFill/>
        </p:spPr>
        <p:txBody>
          <a:bodyPr wrap="square" lIns="0" rIns="0" tIns="0" bIns="0" anchor="b">
            <a:spAutoFit/>
          </a:bodyPr>
          <a:lstStyle/>
          <a:p>
            <a:pPr algn="l">
              <a:lnSpc>
                <a:spcPct val="100000"/>
              </a:lnSpc>
              <a:spcAft>
                <a:spcPts val="0"/>
              </a:spcAft>
            </a:pPr>
            <a:r>
              <a:rPr sz="1400" b="0">
                <a:solidFill>
                  <a:srgbClr val="6B7280"/>
                </a:solidFill>
                <a:latin typeface="Arial"/>
              </a:rPr>
              <a:t>e.g. If</a:t>
            </a:r>
          </a:p>
        </p:txBody>
      </p:sp>
      <p:sp>
        <p:nvSpPr>
          <p:cNvPr id="10" name="TextBox 9"/>
          <p:cNvSpPr txBox="1"/>
          <p:nvPr/>
        </p:nvSpPr>
        <p:spPr>
          <a:xfrm>
            <a:off x="3013633" y="2446020"/>
            <a:ext cx="411480" cy="548640"/>
          </a:xfrm>
          <a:prstGeom prst="rect">
            <a:avLst/>
          </a:prstGeom>
          <a:noFill/>
        </p:spPr>
        <p:txBody>
          <a:bodyPr wrap="square" lIns="0" rIns="0" tIns="0" bIns="0" anchor="ctr">
            <a:spAutoFit/>
          </a:bodyPr>
          <a:lstStyle/>
          <a:p>
            <a:pPr algn="ctr">
              <a:lnSpc>
                <a:spcPct val="100000"/>
              </a:lnSpc>
              <a:spcAft>
                <a:spcPts val="0"/>
              </a:spcAft>
            </a:pPr>
            <a:r>
              <a:rPr sz="3000" b="1">
                <a:solidFill>
                  <a:srgbClr val="1F6FEB"/>
                </a:solidFill>
                <a:latin typeface="Arial"/>
              </a:rPr>
              <a:t>→</a:t>
            </a:r>
          </a:p>
        </p:txBody>
      </p:sp>
      <p:sp>
        <p:nvSpPr>
          <p:cNvPr id="11" name="Rectangle 10"/>
          <p:cNvSpPr/>
          <p:nvPr/>
        </p:nvSpPr>
        <p:spPr>
          <a:xfrm>
            <a:off x="3425113" y="1463040"/>
            <a:ext cx="2464993" cy="2514600"/>
          </a:xfrm>
          <a:prstGeom prst="rect">
            <a:avLst/>
          </a:prstGeom>
          <a:solidFill>
            <a:srgbClr val="F3F6FA"/>
          </a:solidFill>
          <a:ln>
            <a:noFill/>
          </a:ln>
          <a:effectLst/>
        </p:spPr>
        <p:txBody>
          <a:bodyPr rtlCol="0" anchor="ctr"/>
          <a:lstStyle/>
          <a:p>
            <a:pPr algn="ctr"/>
          </a:p>
        </p:txBody>
      </p:sp>
      <p:sp>
        <p:nvSpPr>
          <p:cNvPr id="12" name="Rectangle 11"/>
          <p:cNvSpPr/>
          <p:nvPr/>
        </p:nvSpPr>
        <p:spPr>
          <a:xfrm>
            <a:off x="3425113" y="1463040"/>
            <a:ext cx="2464993" cy="64008"/>
          </a:xfrm>
          <a:prstGeom prst="rect">
            <a:avLst/>
          </a:prstGeom>
          <a:solidFill>
            <a:srgbClr val="1F6FEB"/>
          </a:solidFill>
          <a:ln>
            <a:noFill/>
          </a:ln>
          <a:effectLst/>
        </p:spPr>
        <p:txBody>
          <a:bodyPr rtlCol="0" anchor="ctr"/>
          <a:lstStyle/>
          <a:p>
            <a:pPr algn="ctr"/>
          </a:p>
        </p:txBody>
      </p:sp>
      <p:sp>
        <p:nvSpPr>
          <p:cNvPr id="13" name="TextBox 12"/>
          <p:cNvSpPr txBox="1"/>
          <p:nvPr/>
        </p:nvSpPr>
        <p:spPr>
          <a:xfrm>
            <a:off x="3607993" y="1664208"/>
            <a:ext cx="2099233" cy="32004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RISK CARRIER</a:t>
            </a:r>
          </a:p>
        </p:txBody>
      </p:sp>
      <p:sp>
        <p:nvSpPr>
          <p:cNvPr id="14" name="TextBox 13"/>
          <p:cNvSpPr txBox="1"/>
          <p:nvPr/>
        </p:nvSpPr>
        <p:spPr>
          <a:xfrm>
            <a:off x="3607993" y="2057400"/>
            <a:ext cx="2099233" cy="13716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A reinsurer</a:t>
            </a:r>
          </a:p>
        </p:txBody>
      </p:sp>
      <p:sp>
        <p:nvSpPr>
          <p:cNvPr id="15" name="TextBox 14"/>
          <p:cNvSpPr txBox="1"/>
          <p:nvPr/>
        </p:nvSpPr>
        <p:spPr>
          <a:xfrm>
            <a:off x="5890107" y="2446020"/>
            <a:ext cx="411480" cy="548640"/>
          </a:xfrm>
          <a:prstGeom prst="rect">
            <a:avLst/>
          </a:prstGeom>
          <a:noFill/>
        </p:spPr>
        <p:txBody>
          <a:bodyPr wrap="square" lIns="0" rIns="0" tIns="0" bIns="0" anchor="ctr">
            <a:spAutoFit/>
          </a:bodyPr>
          <a:lstStyle/>
          <a:p>
            <a:pPr algn="ctr">
              <a:lnSpc>
                <a:spcPct val="100000"/>
              </a:lnSpc>
              <a:spcAft>
                <a:spcPts val="0"/>
              </a:spcAft>
            </a:pPr>
            <a:r>
              <a:rPr sz="3000" b="1">
                <a:solidFill>
                  <a:srgbClr val="1F6FEB"/>
                </a:solidFill>
                <a:latin typeface="Arial"/>
              </a:rPr>
              <a:t>→</a:t>
            </a:r>
          </a:p>
        </p:txBody>
      </p:sp>
      <p:sp>
        <p:nvSpPr>
          <p:cNvPr id="16" name="Rectangle 15"/>
          <p:cNvSpPr/>
          <p:nvPr/>
        </p:nvSpPr>
        <p:spPr>
          <a:xfrm>
            <a:off x="6301587" y="1463040"/>
            <a:ext cx="2464993" cy="2514600"/>
          </a:xfrm>
          <a:prstGeom prst="rect">
            <a:avLst/>
          </a:prstGeom>
          <a:solidFill>
            <a:srgbClr val="F3F6FA"/>
          </a:solidFill>
          <a:ln>
            <a:noFill/>
          </a:ln>
          <a:effectLst/>
        </p:spPr>
        <p:txBody>
          <a:bodyPr rtlCol="0" anchor="ctr"/>
          <a:lstStyle/>
          <a:p>
            <a:pPr algn="ctr"/>
          </a:p>
        </p:txBody>
      </p:sp>
      <p:sp>
        <p:nvSpPr>
          <p:cNvPr id="17" name="Rectangle 16"/>
          <p:cNvSpPr/>
          <p:nvPr/>
        </p:nvSpPr>
        <p:spPr>
          <a:xfrm>
            <a:off x="6301587" y="1463040"/>
            <a:ext cx="2464993" cy="64008"/>
          </a:xfrm>
          <a:prstGeom prst="rect">
            <a:avLst/>
          </a:prstGeom>
          <a:solidFill>
            <a:srgbClr val="1F6FEB"/>
          </a:solidFill>
          <a:ln>
            <a:noFill/>
          </a:ln>
          <a:effectLst/>
        </p:spPr>
        <p:txBody>
          <a:bodyPr rtlCol="0" anchor="ctr"/>
          <a:lstStyle/>
          <a:p>
            <a:pPr algn="ctr"/>
          </a:p>
        </p:txBody>
      </p:sp>
      <p:sp>
        <p:nvSpPr>
          <p:cNvPr id="18" name="TextBox 17"/>
          <p:cNvSpPr txBox="1"/>
          <p:nvPr/>
        </p:nvSpPr>
        <p:spPr>
          <a:xfrm>
            <a:off x="6484467" y="1664208"/>
            <a:ext cx="2099233" cy="32004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TULVA</a:t>
            </a:r>
          </a:p>
        </p:txBody>
      </p:sp>
      <p:sp>
        <p:nvSpPr>
          <p:cNvPr id="19" name="TextBox 18"/>
          <p:cNvSpPr txBox="1"/>
          <p:nvPr/>
        </p:nvSpPr>
        <p:spPr>
          <a:xfrm>
            <a:off x="6484467" y="2057400"/>
            <a:ext cx="2099233" cy="13716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Index + pricing engine</a:t>
            </a:r>
          </a:p>
        </p:txBody>
      </p:sp>
      <p:sp>
        <p:nvSpPr>
          <p:cNvPr id="20" name="TextBox 19"/>
          <p:cNvSpPr txBox="1"/>
          <p:nvPr/>
        </p:nvSpPr>
        <p:spPr>
          <a:xfrm>
            <a:off x="6484467" y="3291839"/>
            <a:ext cx="2099233" cy="548640"/>
          </a:xfrm>
          <a:prstGeom prst="rect">
            <a:avLst/>
          </a:prstGeom>
          <a:noFill/>
        </p:spPr>
        <p:txBody>
          <a:bodyPr wrap="square" lIns="0" rIns="0" tIns="0" bIns="0" anchor="b">
            <a:spAutoFit/>
          </a:bodyPr>
          <a:lstStyle/>
          <a:p>
            <a:pPr algn="l">
              <a:lnSpc>
                <a:spcPct val="100000"/>
              </a:lnSpc>
              <a:spcAft>
                <a:spcPts val="0"/>
              </a:spcAft>
            </a:pPr>
            <a:r>
              <a:rPr sz="1400" b="0">
                <a:solidFill>
                  <a:srgbClr val="6B7280"/>
                </a:solidFill>
                <a:latin typeface="Arial"/>
              </a:rPr>
              <a:t>€25k pilot, then fee per deal / ~€75k a year</a:t>
            </a:r>
          </a:p>
        </p:txBody>
      </p:sp>
      <p:sp>
        <p:nvSpPr>
          <p:cNvPr id="21" name="TextBox 20"/>
          <p:cNvSpPr txBox="1"/>
          <p:nvPr/>
        </p:nvSpPr>
        <p:spPr>
          <a:xfrm>
            <a:off x="8766581" y="2446020"/>
            <a:ext cx="411480" cy="548640"/>
          </a:xfrm>
          <a:prstGeom prst="rect">
            <a:avLst/>
          </a:prstGeom>
          <a:noFill/>
        </p:spPr>
        <p:txBody>
          <a:bodyPr wrap="square" lIns="0" rIns="0" tIns="0" bIns="0" anchor="ctr">
            <a:spAutoFit/>
          </a:bodyPr>
          <a:lstStyle/>
          <a:p>
            <a:pPr algn="ctr">
              <a:lnSpc>
                <a:spcPct val="100000"/>
              </a:lnSpc>
              <a:spcAft>
                <a:spcPts val="0"/>
              </a:spcAft>
            </a:pPr>
            <a:r>
              <a:rPr sz="3000" b="1">
                <a:solidFill>
                  <a:srgbClr val="1F6FEB"/>
                </a:solidFill>
                <a:latin typeface="Arial"/>
              </a:rPr>
              <a:t>→</a:t>
            </a:r>
          </a:p>
        </p:txBody>
      </p:sp>
      <p:sp>
        <p:nvSpPr>
          <p:cNvPr id="22" name="Rectangle 21"/>
          <p:cNvSpPr/>
          <p:nvPr/>
        </p:nvSpPr>
        <p:spPr>
          <a:xfrm>
            <a:off x="9178061" y="1463040"/>
            <a:ext cx="2464993" cy="2514600"/>
          </a:xfrm>
          <a:prstGeom prst="rect">
            <a:avLst/>
          </a:prstGeom>
          <a:solidFill>
            <a:srgbClr val="F3F6FA"/>
          </a:solidFill>
          <a:ln>
            <a:noFill/>
          </a:ln>
          <a:effectLst/>
        </p:spPr>
        <p:txBody>
          <a:bodyPr rtlCol="0" anchor="ctr"/>
          <a:lstStyle/>
          <a:p>
            <a:pPr algn="ctr"/>
          </a:p>
        </p:txBody>
      </p:sp>
      <p:sp>
        <p:nvSpPr>
          <p:cNvPr id="23" name="Rectangle 22"/>
          <p:cNvSpPr/>
          <p:nvPr/>
        </p:nvSpPr>
        <p:spPr>
          <a:xfrm>
            <a:off x="9178061" y="1463040"/>
            <a:ext cx="2464993" cy="64008"/>
          </a:xfrm>
          <a:prstGeom prst="rect">
            <a:avLst/>
          </a:prstGeom>
          <a:solidFill>
            <a:srgbClr val="0B1F3A"/>
          </a:solidFill>
          <a:ln>
            <a:noFill/>
          </a:ln>
          <a:effectLst/>
        </p:spPr>
        <p:txBody>
          <a:bodyPr rtlCol="0" anchor="ctr"/>
          <a:lstStyle/>
          <a:p>
            <a:pPr algn="ctr"/>
          </a:p>
        </p:txBody>
      </p:sp>
      <p:sp>
        <p:nvSpPr>
          <p:cNvPr id="24" name="TextBox 23"/>
          <p:cNvSpPr txBox="1"/>
          <p:nvPr/>
        </p:nvSpPr>
        <p:spPr>
          <a:xfrm>
            <a:off x="9360941" y="1664208"/>
            <a:ext cx="2099233" cy="32004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YEAR 3</a:t>
            </a:r>
          </a:p>
        </p:txBody>
      </p:sp>
      <p:sp>
        <p:nvSpPr>
          <p:cNvPr id="25" name="TextBox 24"/>
          <p:cNvSpPr txBox="1"/>
          <p:nvPr/>
        </p:nvSpPr>
        <p:spPr>
          <a:xfrm>
            <a:off x="9360941" y="2057400"/>
            <a:ext cx="2099233" cy="13716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3–6 insurers</a:t>
            </a:r>
          </a:p>
          <a:p>
            <a:pPr algn="l">
              <a:lnSpc>
                <a:spcPct val="100000"/>
              </a:lnSpc>
              <a:spcAft>
                <a:spcPts val="0"/>
              </a:spcAft>
            </a:pPr>
            <a:r>
              <a:rPr sz="2200" b="1">
                <a:solidFill>
                  <a:srgbClr val="0B1F3A"/>
                </a:solidFill>
                <a:latin typeface="Arial"/>
              </a:rPr>
              <a:t>≈ €0.1–0.6M</a:t>
            </a:r>
          </a:p>
          <a:p>
            <a:pPr algn="l">
              <a:lnSpc>
                <a:spcPct val="100000"/>
              </a:lnSpc>
              <a:spcAft>
                <a:spcPts val="0"/>
              </a:spcAft>
            </a:pPr>
            <a:r>
              <a:rPr sz="2200" b="1">
                <a:solidFill>
                  <a:srgbClr val="0B1F3A"/>
                </a:solidFill>
                <a:latin typeface="Arial"/>
              </a:rPr>
              <a:t>a year</a:t>
            </a:r>
          </a:p>
        </p:txBody>
      </p:sp>
      <p:sp>
        <p:nvSpPr>
          <p:cNvPr id="26" name="TextBox 25"/>
          <p:cNvSpPr txBox="1"/>
          <p:nvPr/>
        </p:nvSpPr>
        <p:spPr>
          <a:xfrm>
            <a:off x="9360941" y="3291839"/>
            <a:ext cx="2099233" cy="548640"/>
          </a:xfrm>
          <a:prstGeom prst="rect">
            <a:avLst/>
          </a:prstGeom>
          <a:noFill/>
        </p:spPr>
        <p:txBody>
          <a:bodyPr wrap="square" lIns="0" rIns="0" tIns="0" bIns="0" anchor="b">
            <a:spAutoFit/>
          </a:bodyPr>
          <a:lstStyle/>
          <a:p>
            <a:pPr algn="l">
              <a:lnSpc>
                <a:spcPct val="100000"/>
              </a:lnSpc>
              <a:spcAft>
                <a:spcPts val="0"/>
              </a:spcAft>
            </a:pPr>
            <a:r>
              <a:rPr sz="1400" b="0">
                <a:solidFill>
                  <a:srgbClr val="6B7280"/>
                </a:solidFill>
                <a:latin typeface="Arial"/>
              </a:rPr>
              <a:t>Nordic snowmelt flood (assumption)</a:t>
            </a:r>
          </a:p>
        </p:txBody>
      </p:sp>
      <p:sp>
        <p:nvSpPr>
          <p:cNvPr id="27" name="Rectangle 26"/>
          <p:cNvSpPr/>
          <p:nvPr/>
        </p:nvSpPr>
        <p:spPr>
          <a:xfrm>
            <a:off x="548640" y="4206240"/>
            <a:ext cx="91440" cy="914400"/>
          </a:xfrm>
          <a:prstGeom prst="rect">
            <a:avLst/>
          </a:prstGeom>
          <a:solidFill>
            <a:srgbClr val="D13B2F"/>
          </a:solidFill>
          <a:ln>
            <a:noFill/>
          </a:ln>
          <a:effectLst/>
        </p:spPr>
        <p:txBody>
          <a:bodyPr rtlCol="0" anchor="ctr"/>
          <a:lstStyle/>
          <a:p>
            <a:pPr algn="ctr"/>
          </a:p>
        </p:txBody>
      </p:sp>
      <p:sp>
        <p:nvSpPr>
          <p:cNvPr id="28" name="TextBox 27"/>
          <p:cNvSpPr txBox="1"/>
          <p:nvPr/>
        </p:nvSpPr>
        <p:spPr>
          <a:xfrm>
            <a:off x="822959" y="4206240"/>
            <a:ext cx="10820095" cy="914400"/>
          </a:xfrm>
          <a:prstGeom prst="rect">
            <a:avLst/>
          </a:prstGeom>
          <a:noFill/>
        </p:spPr>
        <p:txBody>
          <a:bodyPr wrap="square" lIns="0" rIns="0" tIns="0" bIns="0" anchor="ctr">
            <a:spAutoFit/>
          </a:bodyPr>
          <a:lstStyle/>
          <a:p>
            <a:pPr algn="l">
              <a:lnSpc>
                <a:spcPct val="100000"/>
              </a:lnSpc>
              <a:spcAft>
                <a:spcPts val="0"/>
              </a:spcAft>
            </a:pPr>
            <a:r>
              <a:rPr sz="1900" b="1">
                <a:solidFill>
                  <a:srgbClr val="D13B2F"/>
                </a:solidFill>
                <a:latin typeface="Arial"/>
              </a:rPr>
              <a:t>Why now  </a:t>
            </a:r>
            <a:r>
              <a:rPr sz="1900" b="1">
                <a:solidFill>
                  <a:srgbClr val="0B1F3A"/>
                </a:solidFill>
                <a:latin typeface="Arial"/>
              </a:rPr>
              <a:t>2027: Finland's first Solvency II flood charge — regulator judged snowmelt correlation insignificant (one vendor model). </a:t>
            </a:r>
            <a:r>
              <a:rPr sz="1900" b="1">
                <a:solidFill>
                  <a:srgbClr val="1F6FEB"/>
                </a:solidFill>
                <a:latin typeface="Arial"/>
              </a:rPr>
              <a:t>We have 65 years of evidence.</a:t>
            </a:r>
          </a:p>
        </p:txBody>
      </p:sp>
      <p:sp>
        <p:nvSpPr>
          <p:cNvPr id="29" name="Rounded Rectangle 28"/>
          <p:cNvSpPr/>
          <p:nvPr/>
        </p:nvSpPr>
        <p:spPr>
          <a:xfrm>
            <a:off x="548640" y="5349240"/>
            <a:ext cx="11094415" cy="777240"/>
          </a:xfrm>
          <a:prstGeom prst="roundRect">
            <a:avLst>
              <a:gd name="adj" fmla="val 12000"/>
            </a:avLst>
          </a:prstGeom>
          <a:solidFill>
            <a:srgbClr val="0B1F3A"/>
          </a:solidFill>
          <a:ln>
            <a:noFill/>
          </a:ln>
          <a:effectLst/>
        </p:spPr>
        <p:txBody>
          <a:bodyPr rtlCol="0" anchor="ctr"/>
          <a:lstStyle/>
          <a:p>
            <a:pPr algn="ctr"/>
          </a:p>
        </p:txBody>
      </p:sp>
      <p:sp>
        <p:nvSpPr>
          <p:cNvPr id="30" name="TextBox 29"/>
          <p:cNvSpPr txBox="1"/>
          <p:nvPr/>
        </p:nvSpPr>
        <p:spPr>
          <a:xfrm>
            <a:off x="822959" y="5349240"/>
            <a:ext cx="10728655" cy="777240"/>
          </a:xfrm>
          <a:prstGeom prst="rect">
            <a:avLst/>
          </a:prstGeom>
          <a:noFill/>
        </p:spPr>
        <p:txBody>
          <a:bodyPr wrap="square" lIns="0" rIns="0" tIns="0" bIns="0" anchor="ctr">
            <a:spAutoFit/>
          </a:bodyPr>
          <a:lstStyle/>
          <a:p>
            <a:pPr algn="l">
              <a:lnSpc>
                <a:spcPct val="100000"/>
              </a:lnSpc>
              <a:spcAft>
                <a:spcPts val="0"/>
              </a:spcAft>
            </a:pPr>
            <a:r>
              <a:rPr sz="1900" b="1">
                <a:solidFill>
                  <a:srgbClr val="A9C8F5"/>
                </a:solidFill>
                <a:latin typeface="Arial"/>
              </a:rPr>
              <a:t>Ask  </a:t>
            </a:r>
            <a:r>
              <a:rPr sz="1900" b="1">
                <a:solidFill>
                  <a:srgbClr val="FFFFFF"/>
                </a:solidFill>
                <a:latin typeface="Arial"/>
              </a:rPr>
              <a:t>One insurer's flood claims for 8 weeks → basis-risk map + firm quote for 1 Jan 2028.</a:t>
            </a:r>
          </a:p>
        </p:txBody>
      </p:sp>
      <p:sp>
        <p:nvSpPr>
          <p:cNvPr id="31" name="TextBox 30"/>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Sources: Del. Reg. (EU) 2026/269; EIOPA-BoS-24/462 §4.70; pricing and year-3 range are team assumptions (business case §5)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731520" y="502920"/>
            <a:ext cx="5486400" cy="548640"/>
          </a:xfrm>
          <a:prstGeom prst="rect">
            <a:avLst/>
          </a:prstGeom>
          <a:noFill/>
        </p:spPr>
        <p:txBody>
          <a:bodyPr wrap="square" lIns="0" rIns="0" tIns="0" bIns="0" anchor="t">
            <a:spAutoFit/>
          </a:bodyPr>
          <a:lstStyle/>
          <a:p>
            <a:pPr algn="l">
              <a:lnSpc>
                <a:spcPct val="100000"/>
              </a:lnSpc>
              <a:spcAft>
                <a:spcPts val="0"/>
              </a:spcAft>
            </a:pPr>
            <a:r>
              <a:rPr sz="2800" b="1">
                <a:solidFill>
                  <a:srgbClr val="FFFFFF"/>
                </a:solidFill>
                <a:latin typeface="Arial"/>
              </a:rPr>
              <a:t>Tulva</a:t>
            </a:r>
          </a:p>
        </p:txBody>
      </p:sp>
      <p:sp>
        <p:nvSpPr>
          <p:cNvPr id="4" name="TextBox 3"/>
          <p:cNvSpPr txBox="1"/>
          <p:nvPr/>
        </p:nvSpPr>
        <p:spPr>
          <a:xfrm>
            <a:off x="731520" y="1280160"/>
            <a:ext cx="10789920" cy="1828800"/>
          </a:xfrm>
          <a:prstGeom prst="rect">
            <a:avLst/>
          </a:prstGeom>
          <a:noFill/>
        </p:spPr>
        <p:txBody>
          <a:bodyPr wrap="square" lIns="0" rIns="0" tIns="0" bIns="0" anchor="t">
            <a:spAutoFit/>
          </a:bodyPr>
          <a:lstStyle/>
          <a:p>
            <a:pPr algn="l">
              <a:lnSpc>
                <a:spcPct val="105000"/>
              </a:lnSpc>
              <a:spcAft>
                <a:spcPts val="1400"/>
              </a:spcAft>
            </a:pPr>
            <a:r>
              <a:rPr sz="4000" b="1">
                <a:solidFill>
                  <a:srgbClr val="FFFFFF"/>
                </a:solidFill>
                <a:latin typeface="Arial"/>
              </a:rPr>
              <a:t>Next March, the snow will warn us </a:t>
            </a:r>
            <a:r>
              <a:rPr sz="4000" b="1">
                <a:solidFill>
                  <a:srgbClr val="A9C8F5"/>
                </a:solidFill>
                <a:latin typeface="Arial"/>
              </a:rPr>
              <a:t>again.</a:t>
            </a:r>
          </a:p>
          <a:p>
            <a:pPr algn="l">
              <a:lnSpc>
                <a:spcPct val="105000"/>
              </a:lnSpc>
              <a:spcAft>
                <a:spcPts val="1400"/>
              </a:spcAft>
            </a:pPr>
            <a:r>
              <a:rPr sz="3000" b="0">
                <a:solidFill>
                  <a:srgbClr val="A9C8F5"/>
                </a:solidFill>
                <a:latin typeface="Arial"/>
              </a:rPr>
              <a:t>This time, it will have a price.</a:t>
            </a:r>
          </a:p>
        </p:txBody>
      </p:sp>
      <p:sp>
        <p:nvSpPr>
          <p:cNvPr id="5" name="TextBox 4"/>
          <p:cNvSpPr txBox="1"/>
          <p:nvPr/>
        </p:nvSpPr>
        <p:spPr>
          <a:xfrm>
            <a:off x="731520" y="3246120"/>
            <a:ext cx="10058400" cy="274320"/>
          </a:xfrm>
          <a:prstGeom prst="rect">
            <a:avLst/>
          </a:prstGeom>
          <a:noFill/>
        </p:spPr>
        <p:txBody>
          <a:bodyPr wrap="square" lIns="0" rIns="0" tIns="0" bIns="0" anchor="t">
            <a:spAutoFit/>
          </a:bodyPr>
          <a:lstStyle/>
          <a:p>
            <a:pPr algn="l">
              <a:lnSpc>
                <a:spcPct val="100000"/>
              </a:lnSpc>
              <a:spcAft>
                <a:spcPts val="0"/>
              </a:spcAft>
            </a:pPr>
            <a:r>
              <a:rPr sz="1300" b="1">
                <a:solidFill>
                  <a:srgbClr val="A9C8F5"/>
                </a:solidFill>
                <a:latin typeface="Arial"/>
              </a:rPr>
              <a:t>BUILT THIS WEEKEND</a:t>
            </a:r>
          </a:p>
        </p:txBody>
      </p:sp>
      <p:sp>
        <p:nvSpPr>
          <p:cNvPr id="6" name="Rounded Rectangle 5"/>
          <p:cNvSpPr/>
          <p:nvPr/>
        </p:nvSpPr>
        <p:spPr>
          <a:xfrm>
            <a:off x="731520" y="3547872"/>
            <a:ext cx="1660382" cy="365760"/>
          </a:xfrm>
          <a:prstGeom prst="roundRect">
            <a:avLst>
              <a:gd name="adj" fmla="val 50000"/>
            </a:avLst>
          </a:prstGeom>
          <a:solidFill>
            <a:srgbClr val="1A365F"/>
          </a:solidFill>
          <a:ln>
            <a:noFill/>
          </a:ln>
          <a:effectLst/>
        </p:spPr>
        <p:txBody>
          <a:bodyPr rtlCol="0" anchor="ctr"/>
          <a:lstStyle/>
          <a:p>
            <a:pPr algn="ctr"/>
          </a:p>
        </p:txBody>
      </p:sp>
      <p:sp>
        <p:nvSpPr>
          <p:cNvPr id="7" name="TextBox 6"/>
          <p:cNvSpPr txBox="1"/>
          <p:nvPr/>
        </p:nvSpPr>
        <p:spPr>
          <a:xfrm>
            <a:off x="731520" y="3547872"/>
            <a:ext cx="1660382"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SYKE data pipeline</a:t>
            </a:r>
          </a:p>
        </p:txBody>
      </p:sp>
      <p:sp>
        <p:nvSpPr>
          <p:cNvPr id="8" name="Rounded Rectangle 7"/>
          <p:cNvSpPr/>
          <p:nvPr/>
        </p:nvSpPr>
        <p:spPr>
          <a:xfrm>
            <a:off x="2483342" y="3547872"/>
            <a:ext cx="1485896" cy="365760"/>
          </a:xfrm>
          <a:prstGeom prst="roundRect">
            <a:avLst>
              <a:gd name="adj" fmla="val 50000"/>
            </a:avLst>
          </a:prstGeom>
          <a:solidFill>
            <a:srgbClr val="1A365F"/>
          </a:solidFill>
          <a:ln>
            <a:noFill/>
          </a:ln>
          <a:effectLst/>
        </p:spPr>
        <p:txBody>
          <a:bodyPr rtlCol="0" anchor="ctr"/>
          <a:lstStyle/>
          <a:p>
            <a:pPr algn="ctr"/>
          </a:p>
        </p:txBody>
      </p:sp>
      <p:sp>
        <p:nvSpPr>
          <p:cNvPr id="9" name="TextBox 8"/>
          <p:cNvSpPr txBox="1"/>
          <p:nvPr/>
        </p:nvSpPr>
        <p:spPr>
          <a:xfrm>
            <a:off x="2483342" y="3547872"/>
            <a:ext cx="1485896"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Joint flood model</a:t>
            </a:r>
          </a:p>
        </p:txBody>
      </p:sp>
      <p:sp>
        <p:nvSpPr>
          <p:cNvPr id="10" name="Rounded Rectangle 9"/>
          <p:cNvSpPr/>
          <p:nvPr/>
        </p:nvSpPr>
        <p:spPr>
          <a:xfrm>
            <a:off x="4060678" y="3547872"/>
            <a:ext cx="1173833" cy="365760"/>
          </a:xfrm>
          <a:prstGeom prst="roundRect">
            <a:avLst>
              <a:gd name="adj" fmla="val 50000"/>
            </a:avLst>
          </a:prstGeom>
          <a:solidFill>
            <a:srgbClr val="1A365F"/>
          </a:solidFill>
          <a:ln>
            <a:noFill/>
          </a:ln>
          <a:effectLst/>
        </p:spPr>
        <p:txBody>
          <a:bodyPr rtlCol="0" anchor="ctr"/>
          <a:lstStyle/>
          <a:p>
            <a:pPr algn="ctr"/>
          </a:p>
        </p:txBody>
      </p:sp>
      <p:sp>
        <p:nvSpPr>
          <p:cNvPr id="11" name="TextBox 10"/>
          <p:cNvSpPr txBox="1"/>
          <p:nvPr/>
        </p:nvSpPr>
        <p:spPr>
          <a:xfrm>
            <a:off x="4060678" y="3547872"/>
            <a:ext cx="1173833"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Index pricing</a:t>
            </a:r>
          </a:p>
        </p:txBody>
      </p:sp>
      <p:sp>
        <p:nvSpPr>
          <p:cNvPr id="12" name="Rounded Rectangle 11"/>
          <p:cNvSpPr/>
          <p:nvPr/>
        </p:nvSpPr>
        <p:spPr>
          <a:xfrm>
            <a:off x="5325951" y="3547872"/>
            <a:ext cx="861929" cy="365760"/>
          </a:xfrm>
          <a:prstGeom prst="roundRect">
            <a:avLst>
              <a:gd name="adj" fmla="val 50000"/>
            </a:avLst>
          </a:prstGeom>
          <a:solidFill>
            <a:srgbClr val="1A365F"/>
          </a:solidFill>
          <a:ln>
            <a:noFill/>
          </a:ln>
          <a:effectLst/>
        </p:spPr>
        <p:txBody>
          <a:bodyPr rtlCol="0" anchor="ctr"/>
          <a:lstStyle/>
          <a:p>
            <a:pPr algn="ctr"/>
          </a:p>
        </p:txBody>
      </p:sp>
      <p:sp>
        <p:nvSpPr>
          <p:cNvPr id="13" name="TextBox 12"/>
          <p:cNvSpPr txBox="1"/>
          <p:nvPr/>
        </p:nvSpPr>
        <p:spPr>
          <a:xfrm>
            <a:off x="5325951" y="3547872"/>
            <a:ext cx="861929"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Live app</a:t>
            </a:r>
          </a:p>
        </p:txBody>
      </p:sp>
      <p:sp>
        <p:nvSpPr>
          <p:cNvPr id="14" name="Rounded Rectangle 13"/>
          <p:cNvSpPr/>
          <p:nvPr/>
        </p:nvSpPr>
        <p:spPr>
          <a:xfrm>
            <a:off x="6279320" y="3547872"/>
            <a:ext cx="1669034" cy="365760"/>
          </a:xfrm>
          <a:prstGeom prst="roundRect">
            <a:avLst>
              <a:gd name="adj" fmla="val 50000"/>
            </a:avLst>
          </a:prstGeom>
          <a:solidFill>
            <a:srgbClr val="1A365F"/>
          </a:solidFill>
          <a:ln>
            <a:noFill/>
          </a:ln>
          <a:effectLst/>
        </p:spPr>
        <p:txBody>
          <a:bodyPr rtlCol="0" anchor="ctr"/>
          <a:lstStyle/>
          <a:p>
            <a:pPr algn="ctr"/>
          </a:p>
        </p:txBody>
      </p:sp>
      <p:sp>
        <p:nvSpPr>
          <p:cNvPr id="15" name="TextBox 14"/>
          <p:cNvSpPr txBox="1"/>
          <p:nvPr/>
        </p:nvSpPr>
        <p:spPr>
          <a:xfrm>
            <a:off x="6279320" y="3547872"/>
            <a:ext cx="1669034"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QAE on IBM &amp; IQM</a:t>
            </a:r>
          </a:p>
        </p:txBody>
      </p:sp>
      <p:sp>
        <p:nvSpPr>
          <p:cNvPr id="16" name="TextBox 15"/>
          <p:cNvSpPr txBox="1"/>
          <p:nvPr/>
        </p:nvSpPr>
        <p:spPr>
          <a:xfrm>
            <a:off x="731520" y="4069080"/>
            <a:ext cx="10058400" cy="274320"/>
          </a:xfrm>
          <a:prstGeom prst="rect">
            <a:avLst/>
          </a:prstGeom>
          <a:noFill/>
        </p:spPr>
        <p:txBody>
          <a:bodyPr wrap="square" lIns="0" rIns="0" tIns="0" bIns="0" anchor="t">
            <a:spAutoFit/>
          </a:bodyPr>
          <a:lstStyle/>
          <a:p>
            <a:pPr algn="l">
              <a:lnSpc>
                <a:spcPct val="100000"/>
              </a:lnSpc>
              <a:spcAft>
                <a:spcPts val="0"/>
              </a:spcAft>
            </a:pPr>
            <a:r>
              <a:rPr sz="1300" b="1">
                <a:solidFill>
                  <a:srgbClr val="A9C8F5"/>
                </a:solidFill>
                <a:latin typeface="Arial"/>
              </a:rPr>
              <a:t>RESOURCES USED</a:t>
            </a:r>
          </a:p>
        </p:txBody>
      </p:sp>
      <p:sp>
        <p:nvSpPr>
          <p:cNvPr id="17" name="Rounded Rectangle 16"/>
          <p:cNvSpPr/>
          <p:nvPr/>
        </p:nvSpPr>
        <p:spPr>
          <a:xfrm>
            <a:off x="731520" y="4370832"/>
            <a:ext cx="1458551" cy="36576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18" name="TextBox 17"/>
          <p:cNvSpPr txBox="1"/>
          <p:nvPr/>
        </p:nvSpPr>
        <p:spPr>
          <a:xfrm>
            <a:off x="731520" y="4370832"/>
            <a:ext cx="1458551"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SYKE open data</a:t>
            </a:r>
          </a:p>
        </p:txBody>
      </p:sp>
      <p:sp>
        <p:nvSpPr>
          <p:cNvPr id="19" name="Rounded Rectangle 18"/>
          <p:cNvSpPr/>
          <p:nvPr/>
        </p:nvSpPr>
        <p:spPr>
          <a:xfrm>
            <a:off x="2281511" y="4370832"/>
            <a:ext cx="1357030" cy="36576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0" name="TextBox 19"/>
          <p:cNvSpPr txBox="1"/>
          <p:nvPr/>
        </p:nvSpPr>
        <p:spPr>
          <a:xfrm>
            <a:off x="2281511" y="4370832"/>
            <a:ext cx="1357030"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IBM Marrakesh</a:t>
            </a:r>
          </a:p>
        </p:txBody>
      </p:sp>
      <p:sp>
        <p:nvSpPr>
          <p:cNvPr id="21" name="Rounded Rectangle 20"/>
          <p:cNvSpPr/>
          <p:nvPr/>
        </p:nvSpPr>
        <p:spPr>
          <a:xfrm>
            <a:off x="3729982" y="4370832"/>
            <a:ext cx="2907919" cy="36576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2" name="TextBox 21"/>
          <p:cNvSpPr txBox="1"/>
          <p:nvPr/>
        </p:nvSpPr>
        <p:spPr>
          <a:xfrm>
            <a:off x="3729982" y="4370832"/>
            <a:ext cx="2907919"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IQM Garnet &amp; Emerald (Resonance)</a:t>
            </a:r>
          </a:p>
        </p:txBody>
      </p:sp>
      <p:sp>
        <p:nvSpPr>
          <p:cNvPr id="23" name="Rounded Rectangle 22"/>
          <p:cNvSpPr/>
          <p:nvPr/>
        </p:nvSpPr>
        <p:spPr>
          <a:xfrm>
            <a:off x="6729341" y="4370832"/>
            <a:ext cx="632198" cy="36576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4" name="TextBox 23"/>
          <p:cNvSpPr txBox="1"/>
          <p:nvPr/>
        </p:nvSpPr>
        <p:spPr>
          <a:xfrm>
            <a:off x="6729341" y="4370832"/>
            <a:ext cx="632198"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Qrisp</a:t>
            </a:r>
          </a:p>
        </p:txBody>
      </p:sp>
      <p:sp>
        <p:nvSpPr>
          <p:cNvPr id="25" name="Rounded Rectangle 24"/>
          <p:cNvSpPr/>
          <p:nvPr/>
        </p:nvSpPr>
        <p:spPr>
          <a:xfrm>
            <a:off x="7452979" y="4370832"/>
            <a:ext cx="650494" cy="36576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6" name="TextBox 25"/>
          <p:cNvSpPr txBox="1"/>
          <p:nvPr/>
        </p:nvSpPr>
        <p:spPr>
          <a:xfrm>
            <a:off x="7452979" y="4370832"/>
            <a:ext cx="650494"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Qiskit</a:t>
            </a:r>
          </a:p>
        </p:txBody>
      </p:sp>
      <p:sp>
        <p:nvSpPr>
          <p:cNvPr id="27" name="Rounded Rectangle 26"/>
          <p:cNvSpPr/>
          <p:nvPr/>
        </p:nvSpPr>
        <p:spPr>
          <a:xfrm>
            <a:off x="8194913" y="4370832"/>
            <a:ext cx="1467679" cy="36576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8" name="TextBox 27"/>
          <p:cNvSpPr txBox="1"/>
          <p:nvPr/>
        </p:nvSpPr>
        <p:spPr>
          <a:xfrm>
            <a:off x="8194913" y="4370832"/>
            <a:ext cx="1467679"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AI coding agents</a:t>
            </a:r>
          </a:p>
        </p:txBody>
      </p:sp>
      <p:sp>
        <p:nvSpPr>
          <p:cNvPr id="29" name="TextBox 28"/>
          <p:cNvSpPr txBox="1"/>
          <p:nvPr/>
        </p:nvSpPr>
        <p:spPr>
          <a:xfrm>
            <a:off x="731520" y="5349240"/>
            <a:ext cx="10058400" cy="731520"/>
          </a:xfrm>
          <a:prstGeom prst="rect">
            <a:avLst/>
          </a:prstGeom>
          <a:noFill/>
        </p:spPr>
        <p:txBody>
          <a:bodyPr wrap="square" lIns="0" rIns="0" tIns="0" bIns="0" anchor="t">
            <a:spAutoFit/>
          </a:bodyPr>
          <a:lstStyle/>
          <a:p>
            <a:pPr algn="l">
              <a:lnSpc>
                <a:spcPct val="100000"/>
              </a:lnSpc>
              <a:spcAft>
                <a:spcPts val="400"/>
              </a:spcAft>
            </a:pPr>
            <a:r>
              <a:rPr sz="2000" b="1">
                <a:solidFill>
                  <a:srgbClr val="FFFFFF"/>
                </a:solidFill>
                <a:latin typeface="Arial"/>
              </a:rPr>
              <a:t>Toivo Kallio</a:t>
            </a:r>
            <a:r>
              <a:rPr sz="2000" b="0">
                <a:solidFill>
                  <a:srgbClr val="A9C8F5"/>
                </a:solidFill>
                <a:latin typeface="Arial"/>
              </a:rPr>
              <a:t>  ·  </a:t>
            </a:r>
            <a:r>
              <a:rPr sz="2000" b="1">
                <a:solidFill>
                  <a:srgbClr val="FFFFFF"/>
                </a:solidFill>
                <a:latin typeface="Arial"/>
              </a:rPr>
              <a:t>Vaishnav Rane</a:t>
            </a:r>
          </a:p>
          <a:p>
            <a:pPr algn="l">
              <a:lnSpc>
                <a:spcPct val="100000"/>
              </a:lnSpc>
              <a:spcAft>
                <a:spcPts val="400"/>
              </a:spcAft>
            </a:pPr>
            <a:r>
              <a:rPr sz="1600" b="0">
                <a:solidFill>
                  <a:srgbClr val="A9C8F5"/>
                </a:solidFill>
                <a:latin typeface="Arial"/>
              </a:rPr>
              <a:t>Team 21 STUHI  ·  Quantum x Finance 2026, Hanken × Ultrahack</a:t>
            </a:r>
          </a:p>
        </p:txBody>
      </p:sp>
      <p:sp>
        <p:nvSpPr>
          <p:cNvPr id="30" name="TextBox 29"/>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