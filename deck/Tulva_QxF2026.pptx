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[Hook (0:00–0:12)]</a:t>
            </a:r>
          </a:p>
          <a:p>
            <a:r>
              <a:t>In May 2005, Kittilä and Ivalo flooded together. The snow had warned us two months earlier. Nobody priced that warning. Tulva does.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gap (0:12–0:32)]</a:t>
            </a:r>
          </a:p>
          <a:p>
            <a:r>
              <a:t>Finnish rivers share one snowpack, so they flood together. In 65 years of SYKE data, four or more of fourteen river areas flooded in the same spring 15 percent of the time. Independence says 3.9. And reinsurance renews on 1 January, before the snow arrives.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it costs (0:32–0:45)]</a:t>
            </a:r>
          </a:p>
          <a:p>
            <a:r>
              <a:t>That gap has a price. A cover paying when two of five northern gauges pass their 1-in-50 level: about 100 thousand euros a year if you assume independence. On the joint risk, 500 to 700 thousand. Five times more.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[Tulva Index (0:45–1:05)]</a:t>
            </a:r>
          </a:p>
          <a:p>
            <a:r>
              <a:t>The Tulva Index pays ten million euros if two of those gauges pass 1-in-50 this spring. Bought in winter, triggered by a public gauge anyone can check. Back-tested, the March snow flag caught 11 of 19 payout years, 2005 included.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video (1:05–2:05)]</a:t>
            </a:r>
          </a:p>
          <a:p>
            <a:r>
              <a:t>This is Tulva, built this weekend on 65 years of SYKE river data. The map shows Finland's fourteen river flood-risk areas in three clusters; lines join areas whose spring peaks move together. Now set the March snow outlook to high snow. In the North, the chance that two gauges pass their 1-in-50 level jumps, and the index price follows: from 265 thousand to 870 thousand euros, technical. The product card shows the same cover three ways: independence, Tulva, and Tulva after a snowy March. Under the hood, the same joint model runs on real quantum chips, IBM Marrakesh and IQM Garnet and Emerald, next to the exact answer and classical Monte Carlo. Finally, replay 2005: the Lapland cluster lights up, Kittilä and Ivalo together.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[Quantum, in practice (2:05–2:25)]</a:t>
            </a:r>
          </a:p>
          <a:p>
            <a:r>
              <a:t>Pricing this cover means estimating one rare joint probability: a job for quantum amplitude estimation. We loaded all fourteen areas onto IQM Emerald, 18 qubits, 44 two-qubit gates, and it reproduced the joint tail. On IBM and IQM, calibrated amplitude estimation landed within 0.04 points of the exact answer.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[Quantum, honestly (2:25–2:39)]</a:t>
            </a:r>
          </a:p>
          <a:p>
            <a:r>
              <a:t>Honestly: classical Monte Carlo still wins today. Quantum wins at scale, with fault-tolerant hardware and expensive models: a full hydrological simulation per scenario, many perils, daily repricing.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[Business (2:39–2:54)]</a:t>
            </a:r>
          </a:p>
          <a:p>
            <a:r>
              <a:t>Who buys? Finland's non-life insurers, for the flood risk they keep, and the reinsurers behind them. We license the pricing and trigger engine. Why now? From 2027, Solvency II gives Finland a flood factor with zero correlation to its neighbours. Finland first, then the Nordics and Central Europe.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(2:54–3:00)]</a:t>
            </a:r>
          </a:p>
          <a:p>
            <a:r>
              <a:t>Tulva prices Finland's spring floods as a joint risk, and runs it on real quantum hardware.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3657600" cy="457200"/>
          </a:xfrm>
          <a:prstGeom prst="rect">
            <a:avLst/>
          </a:prstGeom>
          <a:noFill/>
        </p:spPr>
        <p:txBody>
          <a:bodyPr wrap="square" lIns="0" rIns="0" tIns="0" bIns="0" anchor="t">
            <a:spAutoFit/>
          </a:bodyPr>
          <a:lstStyle/>
          <a:p>
            <a:pPr algn="l">
              <a:lnSpc>
                <a:spcPct val="100000"/>
              </a:lnSpc>
              <a:spcAft>
                <a:spcPts val="0"/>
              </a:spcAft>
            </a:pPr>
            <a:r>
              <a:rPr sz="2200" b="1">
                <a:solidFill>
                  <a:srgbClr val="0B1F3A"/>
                </a:solidFill>
                <a:latin typeface="Arial"/>
              </a:rPr>
              <a:t>Tulva</a:t>
            </a:r>
            <a:r>
              <a:rPr sz="1400" b="0">
                <a:solidFill>
                  <a:srgbClr val="6B7280"/>
                </a:solidFill>
                <a:latin typeface="Arial"/>
              </a:rPr>
              <a:t>   spring-flood risk, priced jointly</a:t>
            </a:r>
          </a:p>
        </p:txBody>
      </p:sp>
      <p:sp>
        <p:nvSpPr>
          <p:cNvPr id="3" name="TextBox 2"/>
          <p:cNvSpPr txBox="1"/>
          <p:nvPr/>
        </p:nvSpPr>
        <p:spPr>
          <a:xfrm>
            <a:off x="548640" y="1691640"/>
            <a:ext cx="6217920" cy="2926080"/>
          </a:xfrm>
          <a:prstGeom prst="rect">
            <a:avLst/>
          </a:prstGeom>
          <a:noFill/>
        </p:spPr>
        <p:txBody>
          <a:bodyPr wrap="square" lIns="0" rIns="0" tIns="0" bIns="0" anchor="t">
            <a:spAutoFit/>
          </a:bodyPr>
          <a:lstStyle/>
          <a:p>
            <a:pPr algn="l">
              <a:lnSpc>
                <a:spcPct val="105000"/>
              </a:lnSpc>
              <a:spcAft>
                <a:spcPts val="1800"/>
              </a:spcAft>
            </a:pPr>
            <a:r>
              <a:rPr sz="4200" b="1">
                <a:solidFill>
                  <a:srgbClr val="0B1F3A"/>
                </a:solidFill>
                <a:latin typeface="Arial"/>
              </a:rPr>
              <a:t>In May 2005, Kittilä and Ivalo flooded </a:t>
            </a:r>
            <a:r>
              <a:rPr sz="4200" b="1">
                <a:solidFill>
                  <a:srgbClr val="1F6FEB"/>
                </a:solidFill>
                <a:latin typeface="Arial"/>
              </a:rPr>
              <a:t>together.</a:t>
            </a:r>
          </a:p>
          <a:p>
            <a:pPr algn="l">
              <a:lnSpc>
                <a:spcPct val="105000"/>
              </a:lnSpc>
              <a:spcAft>
                <a:spcPts val="1800"/>
              </a:spcAft>
            </a:pPr>
            <a:r>
              <a:rPr sz="2400" b="0">
                <a:solidFill>
                  <a:srgbClr val="6B7280"/>
                </a:solidFill>
                <a:latin typeface="Arial"/>
              </a:rPr>
              <a:t>The snow had warned us two months earlier.</a:t>
            </a:r>
          </a:p>
        </p:txBody>
      </p:sp>
      <p:sp>
        <p:nvSpPr>
          <p:cNvPr id="4" name="TextBox 3"/>
          <p:cNvSpPr txBox="1"/>
          <p:nvPr/>
        </p:nvSpPr>
        <p:spPr>
          <a:xfrm>
            <a:off x="548640" y="4206240"/>
            <a:ext cx="5852160" cy="822960"/>
          </a:xfrm>
          <a:prstGeom prst="rect">
            <a:avLst/>
          </a:prstGeom>
          <a:noFill/>
        </p:spPr>
        <p:txBody>
          <a:bodyPr wrap="square" lIns="0" rIns="0" tIns="0" bIns="0" anchor="t">
            <a:spAutoFit/>
          </a:bodyPr>
          <a:lstStyle/>
          <a:p>
            <a:pPr algn="l">
              <a:lnSpc>
                <a:spcPct val="100000"/>
              </a:lnSpc>
              <a:spcAft>
                <a:spcPts val="0"/>
              </a:spcAft>
            </a:pPr>
            <a:r>
              <a:rPr sz="1500" b="0">
                <a:solidFill>
                  <a:srgbClr val="0B1F3A"/>
                </a:solidFill>
                <a:latin typeface="Arial"/>
              </a:rPr>
              <a:t>1 March snow flagged 2005 in advance. Kittilä and Ivalo then passed their flood levels in the same spring.</a:t>
            </a:r>
          </a:p>
        </p:txBody>
      </p:sp>
      <p:pic>
        <p:nvPicPr>
          <p:cNvPr id="5" name="Picture 4" descr="map_2005.png"/>
          <p:cNvPicPr>
            <a:picLocks noChangeAspect="1"/>
          </p:cNvPicPr>
          <p:nvPr/>
        </p:nvPicPr>
        <p:blipFill>
          <a:blip r:embed="rId2"/>
          <a:stretch>
            <a:fillRect/>
          </a:stretch>
        </p:blipFill>
        <p:spPr>
          <a:xfrm>
            <a:off x="6949440" y="868680"/>
            <a:ext cx="4663440" cy="3828197"/>
          </a:xfrm>
          <a:prstGeom prst="rect">
            <a:avLst/>
          </a:prstGeom>
          <a:ln>
            <a:solidFill>
              <a:srgbClr val="DDE3EA"/>
            </a:solidFill>
          </a:ln>
        </p:spPr>
      </p:pic>
      <p:sp>
        <p:nvSpPr>
          <p:cNvPr id="6" name="TextBox 5"/>
          <p:cNvSpPr txBox="1"/>
          <p:nvPr/>
        </p:nvSpPr>
        <p:spPr>
          <a:xfrm>
            <a:off x="6949440" y="4788317"/>
            <a:ext cx="4663440" cy="274320"/>
          </a:xfrm>
          <a:prstGeom prst="rect">
            <a:avLst/>
          </a:prstGeom>
          <a:noFill/>
        </p:spPr>
        <p:txBody>
          <a:bodyPr wrap="square" lIns="0" rIns="0" tIns="0" bIns="0" anchor="t">
            <a:spAutoFit/>
          </a:bodyPr>
          <a:lstStyle/>
          <a:p>
            <a:pPr algn="r">
              <a:lnSpc>
                <a:spcPct val="100000"/>
              </a:lnSpc>
              <a:spcAft>
                <a:spcPts val="0"/>
              </a:spcAft>
            </a:pPr>
            <a:r>
              <a:rPr sz="1000" b="0">
                <a:solidFill>
                  <a:srgbClr val="6B7280"/>
                </a:solidFill>
                <a:latin typeface="Arial"/>
              </a:rPr>
              <a:t>Tulva app, year replay: spring 2005</a:t>
            </a:r>
          </a:p>
        </p:txBody>
      </p:sp>
      <p:sp>
        <p:nvSpPr>
          <p:cNvPr id="7" name="TextBox 6"/>
          <p:cNvSpPr txBox="1"/>
          <p:nvPr/>
        </p:nvSpPr>
        <p:spPr>
          <a:xfrm>
            <a:off x="548640" y="6473952"/>
            <a:ext cx="9082735" cy="274320"/>
          </a:xfrm>
          <a:prstGeom prst="rect">
            <a:avLst/>
          </a:prstGeom>
          <a:noFill/>
        </p:spPr>
        <p:txBody>
          <a:bodyPr wrap="square" lIns="0" rIns="0" tIns="0" bIns="0" anchor="t">
            <a:spAutoFit/>
          </a:bodyPr>
          <a:lstStyle/>
          <a:p>
            <a:pPr algn="l">
              <a:lnSpc>
                <a:spcPct val="100000"/>
              </a:lnSpc>
              <a:spcAft>
                <a:spcPts val="0"/>
              </a:spcAft>
            </a:pPr>
            <a:r>
              <a:rPr sz="1000" b="0">
                <a:solidFill>
                  <a:srgbClr val="6B7280"/>
                </a:solidFill>
                <a:latin typeface="Arial"/>
              </a:rPr>
              <a:t>Source: SYKE discharge 1961–2025 and 1 March snow (SWE); Tulva back-test (out/backtest.json)</a:t>
            </a:r>
          </a:p>
        </p:txBody>
      </p:sp>
      <p:sp>
        <p:nvSpPr>
          <p:cNvPr id="8" name="TextBox 7"/>
          <p:cNvSpPr txBox="1"/>
          <p:nvPr/>
        </p:nvSpPr>
        <p:spPr>
          <a:xfrm>
            <a:off x="9814255" y="6473952"/>
            <a:ext cx="1828800" cy="228600"/>
          </a:xfrm>
          <a:prstGeom prst="rect">
            <a:avLst/>
          </a:prstGeom>
          <a:noFill/>
        </p:spPr>
        <p:txBody>
          <a:bodyPr wrap="square" lIns="0" rIns="0" tIns="0" bIns="0" anchor="t">
            <a:spAutoFit/>
          </a:bodyPr>
          <a:lstStyle/>
          <a:p>
            <a:pPr algn="r">
              <a:lnSpc>
                <a:spcPct val="100000"/>
              </a:lnSpc>
              <a:spcAft>
                <a:spcPts val="0"/>
              </a:spcAft>
            </a:pPr>
            <a:r>
              <a:rPr sz="1100" b="1">
                <a:solidFill>
                  <a:srgbClr val="0B1F3A"/>
                </a:solidFill>
                <a:latin typeface="Arial"/>
              </a:rPr>
              <a:t>Tulva</a:t>
            </a:r>
            <a:r>
              <a:rPr sz="1100" b="0">
                <a:solidFill>
                  <a:srgbClr val="6B7280"/>
                </a:solidFill>
                <a:latin typeface="Arial"/>
              </a:rPr>
              <a:t>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lnSpc>
                <a:spcPct val="100000"/>
              </a:lnSpc>
              <a:spcAft>
                <a:spcPts val="0"/>
              </a:spcAft>
            </a:pPr>
            <a:r>
              <a:rPr sz="1200" b="1">
                <a:solidFill>
                  <a:srgbClr val="1F6FEB"/>
                </a:solidFill>
                <a:latin typeface="Arial"/>
              </a:rPr>
              <a:t>THE GAP</a:t>
            </a:r>
          </a:p>
        </p:txBody>
      </p:sp>
      <p:sp>
        <p:nvSpPr>
          <p:cNvPr id="3" name="TextBox 2"/>
          <p:cNvSpPr txBox="1"/>
          <p:nvPr/>
        </p:nvSpPr>
        <p:spPr>
          <a:xfrm>
            <a:off x="548640" y="658368"/>
            <a:ext cx="11094415" cy="685800"/>
          </a:xfrm>
          <a:prstGeom prst="rect">
            <a:avLst/>
          </a:prstGeom>
          <a:noFill/>
        </p:spPr>
        <p:txBody>
          <a:bodyPr wrap="square" lIns="0" rIns="0" tIns="0" bIns="0" anchor="t">
            <a:spAutoFit/>
          </a:bodyPr>
          <a:lstStyle/>
          <a:p>
            <a:pPr algn="l">
              <a:lnSpc>
                <a:spcPct val="100000"/>
              </a:lnSpc>
              <a:spcAft>
                <a:spcPts val="0"/>
              </a:spcAft>
            </a:pPr>
            <a:r>
              <a:rPr sz="3000" b="1">
                <a:solidFill>
                  <a:srgbClr val="0B1F3A"/>
                </a:solidFill>
                <a:latin typeface="Arial"/>
              </a:rPr>
              <a:t>Finland's rivers flood together, not one at a time</a:t>
            </a:r>
          </a:p>
        </p:txBody>
      </p:sp>
      <p:sp>
        <p:nvSpPr>
          <p:cNvPr id="4" name="TextBox 3"/>
          <p:cNvSpPr txBox="1"/>
          <p:nvPr/>
        </p:nvSpPr>
        <p:spPr>
          <a:xfrm>
            <a:off x="9814255" y="6473952"/>
            <a:ext cx="1828800" cy="228600"/>
          </a:xfrm>
          <a:prstGeom prst="rect">
            <a:avLst/>
          </a:prstGeom>
          <a:noFill/>
        </p:spPr>
        <p:txBody>
          <a:bodyPr wrap="square" lIns="0" rIns="0" tIns="0" bIns="0" anchor="t">
            <a:spAutoFit/>
          </a:bodyPr>
          <a:lstStyle/>
          <a:p>
            <a:pPr algn="r">
              <a:lnSpc>
                <a:spcPct val="100000"/>
              </a:lnSpc>
              <a:spcAft>
                <a:spcPts val="0"/>
              </a:spcAft>
            </a:pPr>
            <a:r>
              <a:rPr sz="1100" b="1">
                <a:solidFill>
                  <a:srgbClr val="0B1F3A"/>
                </a:solidFill>
                <a:latin typeface="Arial"/>
              </a:rPr>
              <a:t>Tulva</a:t>
            </a:r>
            <a:r>
              <a:rPr sz="1100" b="0">
                <a:solidFill>
                  <a:srgbClr val="6B7280"/>
                </a:solidFill>
                <a:latin typeface="Arial"/>
              </a:rPr>
              <a:t>   2</a:t>
            </a:r>
          </a:p>
        </p:txBody>
      </p:sp>
      <p:pic>
        <p:nvPicPr>
          <p:cNvPr id="5" name="Picture 4" descr="joint_floods.png"/>
          <p:cNvPicPr>
            <a:picLocks noChangeAspect="1"/>
          </p:cNvPicPr>
          <p:nvPr/>
        </p:nvPicPr>
        <p:blipFill>
          <a:blip r:embed="rId2"/>
          <a:stretch>
            <a:fillRect/>
          </a:stretch>
        </p:blipFill>
        <p:spPr>
          <a:xfrm>
            <a:off x="548640" y="1623974"/>
            <a:ext cx="7223760" cy="4478731"/>
          </a:xfrm>
          <a:prstGeom prst="rect">
            <a:avLst/>
          </a:prstGeom>
        </p:spPr>
      </p:pic>
      <p:sp>
        <p:nvSpPr>
          <p:cNvPr id="6" name="TextBox 5"/>
          <p:cNvSpPr txBox="1"/>
          <p:nvPr/>
        </p:nvSpPr>
        <p:spPr>
          <a:xfrm>
            <a:off x="8183879" y="1508760"/>
            <a:ext cx="3474720" cy="548640"/>
          </a:xfrm>
          <a:prstGeom prst="rect">
            <a:avLst/>
          </a:prstGeom>
          <a:noFill/>
        </p:spPr>
        <p:txBody>
          <a:bodyPr wrap="square" lIns="0" rIns="0" tIns="0" bIns="0" anchor="t">
            <a:spAutoFit/>
          </a:bodyPr>
          <a:lstStyle/>
          <a:p>
            <a:pPr algn="l">
              <a:lnSpc>
                <a:spcPct val="100000"/>
              </a:lnSpc>
              <a:spcAft>
                <a:spcPts val="0"/>
              </a:spcAft>
            </a:pPr>
            <a:r>
              <a:rPr sz="1300" b="0">
                <a:solidFill>
                  <a:srgbClr val="6B7280"/>
                </a:solidFill>
                <a:latin typeface="Arial"/>
              </a:rPr>
              <a:t>Springs when ≥4 of the 14 river areas flooded (own 1-in-10 level)</a:t>
            </a:r>
          </a:p>
        </p:txBody>
      </p:sp>
      <p:sp>
        <p:nvSpPr>
          <p:cNvPr id="7" name="TextBox 6"/>
          <p:cNvSpPr txBox="1"/>
          <p:nvPr/>
        </p:nvSpPr>
        <p:spPr>
          <a:xfrm>
            <a:off x="8183879" y="2057400"/>
            <a:ext cx="3474720" cy="685800"/>
          </a:xfrm>
          <a:prstGeom prst="rect">
            <a:avLst/>
          </a:prstGeom>
          <a:noFill/>
        </p:spPr>
        <p:txBody>
          <a:bodyPr wrap="square" lIns="0" rIns="0" tIns="0" bIns="0" anchor="t">
            <a:spAutoFit/>
          </a:bodyPr>
          <a:lstStyle/>
          <a:p>
            <a:pPr algn="l">
              <a:lnSpc>
                <a:spcPct val="100000"/>
              </a:lnSpc>
              <a:spcAft>
                <a:spcPts val="0"/>
              </a:spcAft>
            </a:pPr>
            <a:r>
              <a:rPr sz="3800" b="1">
                <a:solidFill>
                  <a:srgbClr val="0B1F3A"/>
                </a:solidFill>
                <a:latin typeface="Arial"/>
              </a:rPr>
              <a:t>15.4 %</a:t>
            </a:r>
          </a:p>
        </p:txBody>
      </p:sp>
      <p:sp>
        <p:nvSpPr>
          <p:cNvPr id="8" name="TextBox 7"/>
          <p:cNvSpPr txBox="1"/>
          <p:nvPr/>
        </p:nvSpPr>
        <p:spPr>
          <a:xfrm>
            <a:off x="8183879" y="2626868"/>
            <a:ext cx="3474720" cy="548640"/>
          </a:xfrm>
          <a:prstGeom prst="rect">
            <a:avLst/>
          </a:prstGeom>
          <a:noFill/>
        </p:spPr>
        <p:txBody>
          <a:bodyPr wrap="square" lIns="0" rIns="0" tIns="0" bIns="0" anchor="t">
            <a:spAutoFit/>
          </a:bodyPr>
          <a:lstStyle/>
          <a:p>
            <a:pPr algn="l">
              <a:lnSpc>
                <a:spcPct val="100000"/>
              </a:lnSpc>
              <a:spcAft>
                <a:spcPts val="0"/>
              </a:spcAft>
            </a:pPr>
            <a:r>
              <a:rPr sz="1300" b="0">
                <a:solidFill>
                  <a:srgbClr val="6B7280"/>
                </a:solidFill>
                <a:latin typeface="Arial"/>
              </a:rPr>
              <a:t>observed, 1961–2025 (10 of 65 years)</a:t>
            </a:r>
          </a:p>
        </p:txBody>
      </p:sp>
      <p:sp>
        <p:nvSpPr>
          <p:cNvPr id="9" name="TextBox 8"/>
          <p:cNvSpPr txBox="1"/>
          <p:nvPr/>
        </p:nvSpPr>
        <p:spPr>
          <a:xfrm>
            <a:off x="8183879" y="3017520"/>
            <a:ext cx="3474720" cy="685800"/>
          </a:xfrm>
          <a:prstGeom prst="rect">
            <a:avLst/>
          </a:prstGeom>
          <a:noFill/>
        </p:spPr>
        <p:txBody>
          <a:bodyPr wrap="square" lIns="0" rIns="0" tIns="0" bIns="0" anchor="t">
            <a:spAutoFit/>
          </a:bodyPr>
          <a:lstStyle/>
          <a:p>
            <a:pPr algn="l">
              <a:lnSpc>
                <a:spcPct val="100000"/>
              </a:lnSpc>
              <a:spcAft>
                <a:spcPts val="0"/>
              </a:spcAft>
            </a:pPr>
            <a:r>
              <a:rPr sz="3800" b="1">
                <a:solidFill>
                  <a:srgbClr val="1F6FEB"/>
                </a:solidFill>
                <a:latin typeface="Arial"/>
              </a:rPr>
              <a:t>12.2 %</a:t>
            </a:r>
          </a:p>
        </p:txBody>
      </p:sp>
      <p:sp>
        <p:nvSpPr>
          <p:cNvPr id="10" name="TextBox 9"/>
          <p:cNvSpPr txBox="1"/>
          <p:nvPr/>
        </p:nvSpPr>
        <p:spPr>
          <a:xfrm>
            <a:off x="8183879" y="3586988"/>
            <a:ext cx="3474720" cy="548640"/>
          </a:xfrm>
          <a:prstGeom prst="rect">
            <a:avLst/>
          </a:prstGeom>
          <a:noFill/>
        </p:spPr>
        <p:txBody>
          <a:bodyPr wrap="square" lIns="0" rIns="0" tIns="0" bIns="0" anchor="t">
            <a:spAutoFit/>
          </a:bodyPr>
          <a:lstStyle/>
          <a:p>
            <a:pPr algn="l">
              <a:lnSpc>
                <a:spcPct val="100000"/>
              </a:lnSpc>
              <a:spcAft>
                <a:spcPts val="0"/>
              </a:spcAft>
            </a:pPr>
            <a:r>
              <a:rPr sz="1300" b="0">
                <a:solidFill>
                  <a:srgbClr val="6B7280"/>
                </a:solidFill>
                <a:latin typeface="Arial"/>
              </a:rPr>
              <a:t>Tulva joint model</a:t>
            </a:r>
          </a:p>
        </p:txBody>
      </p:sp>
      <p:sp>
        <p:nvSpPr>
          <p:cNvPr id="11" name="TextBox 10"/>
          <p:cNvSpPr txBox="1"/>
          <p:nvPr/>
        </p:nvSpPr>
        <p:spPr>
          <a:xfrm>
            <a:off x="8183879" y="3977639"/>
            <a:ext cx="3474720" cy="685800"/>
          </a:xfrm>
          <a:prstGeom prst="rect">
            <a:avLst/>
          </a:prstGeom>
          <a:noFill/>
        </p:spPr>
        <p:txBody>
          <a:bodyPr wrap="square" lIns="0" rIns="0" tIns="0" bIns="0" anchor="t">
            <a:spAutoFit/>
          </a:bodyPr>
          <a:lstStyle/>
          <a:p>
            <a:pPr algn="l">
              <a:lnSpc>
                <a:spcPct val="100000"/>
              </a:lnSpc>
              <a:spcAft>
                <a:spcPts val="0"/>
              </a:spcAft>
            </a:pPr>
            <a:r>
              <a:rPr sz="3800" b="1">
                <a:solidFill>
                  <a:srgbClr val="D13B2F"/>
                </a:solidFill>
                <a:latin typeface="Arial"/>
              </a:rPr>
              <a:t>3.9 %</a:t>
            </a:r>
          </a:p>
        </p:txBody>
      </p:sp>
      <p:sp>
        <p:nvSpPr>
          <p:cNvPr id="12" name="TextBox 11"/>
          <p:cNvSpPr txBox="1"/>
          <p:nvPr/>
        </p:nvSpPr>
        <p:spPr>
          <a:xfrm>
            <a:off x="8183879" y="4547107"/>
            <a:ext cx="3474720" cy="548640"/>
          </a:xfrm>
          <a:prstGeom prst="rect">
            <a:avLst/>
          </a:prstGeom>
          <a:noFill/>
        </p:spPr>
        <p:txBody>
          <a:bodyPr wrap="square" lIns="0" rIns="0" tIns="0" bIns="0" anchor="t">
            <a:spAutoFit/>
          </a:bodyPr>
          <a:lstStyle/>
          <a:p>
            <a:pPr algn="l">
              <a:lnSpc>
                <a:spcPct val="100000"/>
              </a:lnSpc>
              <a:spcAft>
                <a:spcPts val="0"/>
              </a:spcAft>
            </a:pPr>
            <a:r>
              <a:rPr sz="1300" b="0">
                <a:solidFill>
                  <a:srgbClr val="6B7280"/>
                </a:solidFill>
                <a:latin typeface="Arial"/>
              </a:rPr>
              <a:t>if areas were independent</a:t>
            </a:r>
          </a:p>
        </p:txBody>
      </p:sp>
      <p:sp>
        <p:nvSpPr>
          <p:cNvPr id="13" name="Rectangle 12"/>
          <p:cNvSpPr/>
          <p:nvPr/>
        </p:nvSpPr>
        <p:spPr>
          <a:xfrm>
            <a:off x="8183879" y="4983480"/>
            <a:ext cx="3474720" cy="18288"/>
          </a:xfrm>
          <a:prstGeom prst="rect">
            <a:avLst/>
          </a:prstGeom>
          <a:solidFill>
            <a:srgbClr val="DDE3EA"/>
          </a:solidFill>
          <a:ln>
            <a:noFill/>
          </a:ln>
          <a:effectLst/>
        </p:spPr>
        <p:txBody>
          <a:bodyPr rtlCol="0" anchor="ctr"/>
          <a:lstStyle/>
          <a:p>
            <a:pPr algn="ctr"/>
          </a:p>
        </p:txBody>
      </p:sp>
      <p:sp>
        <p:nvSpPr>
          <p:cNvPr id="14" name="TextBox 13"/>
          <p:cNvSpPr txBox="1"/>
          <p:nvPr/>
        </p:nvSpPr>
        <p:spPr>
          <a:xfrm>
            <a:off x="8183879" y="5120640"/>
            <a:ext cx="3474720" cy="914400"/>
          </a:xfrm>
          <a:prstGeom prst="rect">
            <a:avLst/>
          </a:prstGeom>
          <a:noFill/>
        </p:spPr>
        <p:txBody>
          <a:bodyPr wrap="square" lIns="0" rIns="0" tIns="0" bIns="0" anchor="t">
            <a:spAutoFit/>
          </a:bodyPr>
          <a:lstStyle/>
          <a:p>
            <a:pPr algn="l">
              <a:lnSpc>
                <a:spcPct val="100000"/>
              </a:lnSpc>
              <a:spcAft>
                <a:spcPts val="600"/>
              </a:spcAft>
            </a:pPr>
            <a:r>
              <a:rPr sz="1250" b="0">
                <a:solidFill>
                  <a:srgbClr val="0B1F3A"/>
                </a:solidFill>
                <a:latin typeface="Arial"/>
              </a:rPr>
              <a:t>Home insurance pays only for floods rarer than 1-in-50.</a:t>
            </a:r>
          </a:p>
          <a:p>
            <a:pPr algn="l">
              <a:lnSpc>
                <a:spcPct val="100000"/>
              </a:lnSpc>
              <a:spcAft>
                <a:spcPts val="600"/>
              </a:spcAft>
            </a:pPr>
            <a:r>
              <a:rPr sz="1250" b="0">
                <a:solidFill>
                  <a:srgbClr val="0B1F3A"/>
                </a:solidFill>
                <a:latin typeface="Arial"/>
              </a:rPr>
              <a:t>Reinsurance renews 1 January, before the snow signal.</a:t>
            </a:r>
          </a:p>
        </p:txBody>
      </p:sp>
      <p:sp>
        <p:nvSpPr>
          <p:cNvPr id="15" name="TextBox 14"/>
          <p:cNvSpPr txBox="1"/>
          <p:nvPr/>
        </p:nvSpPr>
        <p:spPr>
          <a:xfrm>
            <a:off x="548640" y="6473952"/>
            <a:ext cx="9082735" cy="274320"/>
          </a:xfrm>
          <a:prstGeom prst="rect">
            <a:avLst/>
          </a:prstGeom>
          <a:noFill/>
        </p:spPr>
        <p:txBody>
          <a:bodyPr wrap="square" lIns="0" rIns="0" tIns="0" bIns="0" anchor="t">
            <a:spAutoFit/>
          </a:bodyPr>
          <a:lstStyle/>
          <a:p>
            <a:pPr algn="l">
              <a:lnSpc>
                <a:spcPct val="100000"/>
              </a:lnSpc>
              <a:spcAft>
                <a:spcPts val="0"/>
              </a:spcAft>
            </a:pPr>
            <a:r>
              <a:rPr sz="1000" b="0">
                <a:solidFill>
                  <a:srgbClr val="6B7280"/>
                </a:solidFill>
                <a:latin typeface="Arial"/>
              </a:rPr>
              <a:t>Source: SYKE 1961–2025 (+ SMHI Torne), Tulva model (exact); vesi.fi / OP (1-in-50 rule)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lnSpc>
                <a:spcPct val="100000"/>
              </a:lnSpc>
              <a:spcAft>
                <a:spcPts val="0"/>
              </a:spcAft>
            </a:pPr>
            <a:r>
              <a:rPr sz="1200" b="1">
                <a:solidFill>
                  <a:srgbClr val="1F6FEB"/>
                </a:solidFill>
                <a:latin typeface="Arial"/>
              </a:rPr>
              <a:t>WHAT IT COSTS</a:t>
            </a:r>
          </a:p>
        </p:txBody>
      </p:sp>
      <p:sp>
        <p:nvSpPr>
          <p:cNvPr id="3" name="TextBox 2"/>
          <p:cNvSpPr txBox="1"/>
          <p:nvPr/>
        </p:nvSpPr>
        <p:spPr>
          <a:xfrm>
            <a:off x="548640" y="658368"/>
            <a:ext cx="11094415" cy="685800"/>
          </a:xfrm>
          <a:prstGeom prst="rect">
            <a:avLst/>
          </a:prstGeom>
          <a:noFill/>
        </p:spPr>
        <p:txBody>
          <a:bodyPr wrap="square" lIns="0" rIns="0" tIns="0" bIns="0" anchor="t">
            <a:spAutoFit/>
          </a:bodyPr>
          <a:lstStyle/>
          <a:p>
            <a:pPr algn="l">
              <a:lnSpc>
                <a:spcPct val="100000"/>
              </a:lnSpc>
              <a:spcAft>
                <a:spcPts val="0"/>
              </a:spcAft>
            </a:pPr>
            <a:r>
              <a:rPr sz="3000" b="1">
                <a:solidFill>
                  <a:srgbClr val="0B1F3A"/>
                </a:solidFill>
                <a:latin typeface="Arial"/>
              </a:rPr>
              <a:t>Priced as independent, a joint flood cover is ~5× too cheap</a:t>
            </a:r>
          </a:p>
        </p:txBody>
      </p:sp>
      <p:sp>
        <p:nvSpPr>
          <p:cNvPr id="4" name="TextBox 3"/>
          <p:cNvSpPr txBox="1"/>
          <p:nvPr/>
        </p:nvSpPr>
        <p:spPr>
          <a:xfrm>
            <a:off x="9814255" y="6473952"/>
            <a:ext cx="1828800" cy="228600"/>
          </a:xfrm>
          <a:prstGeom prst="rect">
            <a:avLst/>
          </a:prstGeom>
          <a:noFill/>
        </p:spPr>
        <p:txBody>
          <a:bodyPr wrap="square" lIns="0" rIns="0" tIns="0" bIns="0" anchor="t">
            <a:spAutoFit/>
          </a:bodyPr>
          <a:lstStyle/>
          <a:p>
            <a:pPr algn="r">
              <a:lnSpc>
                <a:spcPct val="100000"/>
              </a:lnSpc>
              <a:spcAft>
                <a:spcPts val="0"/>
              </a:spcAft>
            </a:pPr>
            <a:r>
              <a:rPr sz="1100" b="1">
                <a:solidFill>
                  <a:srgbClr val="0B1F3A"/>
                </a:solidFill>
                <a:latin typeface="Arial"/>
              </a:rPr>
              <a:t>Tulva</a:t>
            </a:r>
            <a:r>
              <a:rPr sz="1100" b="0">
                <a:solidFill>
                  <a:srgbClr val="6B7280"/>
                </a:solidFill>
                <a:latin typeface="Arial"/>
              </a:rPr>
              <a:t>   3</a:t>
            </a:r>
          </a:p>
        </p:txBody>
      </p:sp>
      <p:sp>
        <p:nvSpPr>
          <p:cNvPr id="5" name="TextBox 4"/>
          <p:cNvSpPr txBox="1"/>
          <p:nvPr/>
        </p:nvSpPr>
        <p:spPr>
          <a:xfrm>
            <a:off x="548640" y="1417320"/>
            <a:ext cx="10972800" cy="365760"/>
          </a:xfrm>
          <a:prstGeom prst="rect">
            <a:avLst/>
          </a:prstGeom>
          <a:noFill/>
        </p:spPr>
        <p:txBody>
          <a:bodyPr wrap="square" lIns="0" rIns="0" tIns="0" bIns="0" anchor="t">
            <a:spAutoFit/>
          </a:bodyPr>
          <a:lstStyle/>
          <a:p>
            <a:pPr algn="l">
              <a:lnSpc>
                <a:spcPct val="100000"/>
              </a:lnSpc>
              <a:spcAft>
                <a:spcPts val="0"/>
              </a:spcAft>
            </a:pPr>
            <a:r>
              <a:rPr sz="1500" b="0">
                <a:solidFill>
                  <a:srgbClr val="6B7280"/>
                </a:solidFill>
                <a:latin typeface="Arial"/>
              </a:rPr>
              <a:t>North cluster: pays €10M if ≥2 of 5 gauges pass their 1-in-50 level. Market price per year:</a:t>
            </a:r>
          </a:p>
        </p:txBody>
      </p:sp>
      <p:sp>
        <p:nvSpPr>
          <p:cNvPr id="6" name="TextBox 5"/>
          <p:cNvSpPr txBox="1"/>
          <p:nvPr/>
        </p:nvSpPr>
        <p:spPr>
          <a:xfrm>
            <a:off x="548640" y="1828800"/>
            <a:ext cx="3291840" cy="685800"/>
          </a:xfrm>
          <a:prstGeom prst="rect">
            <a:avLst/>
          </a:prstGeom>
          <a:noFill/>
        </p:spPr>
        <p:txBody>
          <a:bodyPr wrap="square" lIns="0" rIns="0" tIns="0" bIns="0" anchor="t">
            <a:spAutoFit/>
          </a:bodyPr>
          <a:lstStyle/>
          <a:p>
            <a:pPr algn="l">
              <a:lnSpc>
                <a:spcPct val="100000"/>
              </a:lnSpc>
              <a:spcAft>
                <a:spcPts val="0"/>
              </a:spcAft>
            </a:pPr>
            <a:r>
              <a:rPr sz="3400" b="1">
                <a:solidFill>
                  <a:srgbClr val="D13B2F"/>
                </a:solidFill>
                <a:latin typeface="Arial"/>
              </a:rPr>
              <a:t>€96k–134k</a:t>
            </a:r>
          </a:p>
        </p:txBody>
      </p:sp>
      <p:sp>
        <p:nvSpPr>
          <p:cNvPr id="7" name="TextBox 6"/>
          <p:cNvSpPr txBox="1"/>
          <p:nvPr/>
        </p:nvSpPr>
        <p:spPr>
          <a:xfrm>
            <a:off x="548640" y="2338324"/>
            <a:ext cx="3291840" cy="548640"/>
          </a:xfrm>
          <a:prstGeom prst="rect">
            <a:avLst/>
          </a:prstGeom>
          <a:noFill/>
        </p:spPr>
        <p:txBody>
          <a:bodyPr wrap="square" lIns="0" rIns="0" tIns="0" bIns="0" anchor="t">
            <a:spAutoFit/>
          </a:bodyPr>
          <a:lstStyle/>
          <a:p>
            <a:pPr algn="l">
              <a:lnSpc>
                <a:spcPct val="100000"/>
              </a:lnSpc>
              <a:spcAft>
                <a:spcPts val="0"/>
              </a:spcAft>
            </a:pPr>
            <a:r>
              <a:rPr sz="1300" b="0">
                <a:solidFill>
                  <a:srgbClr val="6B7280"/>
                </a:solidFill>
                <a:latin typeface="Arial"/>
              </a:rPr>
              <a:t>if areas were independent</a:t>
            </a:r>
          </a:p>
        </p:txBody>
      </p:sp>
      <p:sp>
        <p:nvSpPr>
          <p:cNvPr id="8" name="TextBox 7"/>
          <p:cNvSpPr txBox="1"/>
          <p:nvPr/>
        </p:nvSpPr>
        <p:spPr>
          <a:xfrm>
            <a:off x="3886200" y="1874519"/>
            <a:ext cx="731520" cy="548640"/>
          </a:xfrm>
          <a:prstGeom prst="rect">
            <a:avLst/>
          </a:prstGeom>
          <a:noFill/>
        </p:spPr>
        <p:txBody>
          <a:bodyPr wrap="square" lIns="0" rIns="0" tIns="0" bIns="0" anchor="t">
            <a:spAutoFit/>
          </a:bodyPr>
          <a:lstStyle/>
          <a:p>
            <a:pPr algn="l">
              <a:lnSpc>
                <a:spcPct val="100000"/>
              </a:lnSpc>
              <a:spcAft>
                <a:spcPts val="0"/>
              </a:spcAft>
            </a:pPr>
            <a:r>
              <a:rPr sz="3400" b="0">
                <a:solidFill>
                  <a:srgbClr val="6B7280"/>
                </a:solidFill>
                <a:latin typeface="Arial"/>
              </a:rPr>
              <a:t>→</a:t>
            </a:r>
          </a:p>
        </p:txBody>
      </p:sp>
      <p:sp>
        <p:nvSpPr>
          <p:cNvPr id="9" name="TextBox 8"/>
          <p:cNvSpPr txBox="1"/>
          <p:nvPr/>
        </p:nvSpPr>
        <p:spPr>
          <a:xfrm>
            <a:off x="4572000" y="1828800"/>
            <a:ext cx="3566160" cy="685800"/>
          </a:xfrm>
          <a:prstGeom prst="rect">
            <a:avLst/>
          </a:prstGeom>
          <a:noFill/>
        </p:spPr>
        <p:txBody>
          <a:bodyPr wrap="square" lIns="0" rIns="0" tIns="0" bIns="0" anchor="t">
            <a:spAutoFit/>
          </a:bodyPr>
          <a:lstStyle/>
          <a:p>
            <a:pPr algn="l">
              <a:lnSpc>
                <a:spcPct val="100000"/>
              </a:lnSpc>
              <a:spcAft>
                <a:spcPts val="0"/>
              </a:spcAft>
            </a:pPr>
            <a:r>
              <a:rPr sz="3400" b="1">
                <a:solidFill>
                  <a:srgbClr val="1F6FEB"/>
                </a:solidFill>
                <a:latin typeface="Arial"/>
              </a:rPr>
              <a:t>€491k–687k</a:t>
            </a:r>
          </a:p>
        </p:txBody>
      </p:sp>
      <p:sp>
        <p:nvSpPr>
          <p:cNvPr id="10" name="TextBox 9"/>
          <p:cNvSpPr txBox="1"/>
          <p:nvPr/>
        </p:nvSpPr>
        <p:spPr>
          <a:xfrm>
            <a:off x="4572000" y="2338324"/>
            <a:ext cx="3566160" cy="548640"/>
          </a:xfrm>
          <a:prstGeom prst="rect">
            <a:avLst/>
          </a:prstGeom>
          <a:noFill/>
        </p:spPr>
        <p:txBody>
          <a:bodyPr wrap="square" lIns="0" rIns="0" tIns="0" bIns="0" anchor="t">
            <a:spAutoFit/>
          </a:bodyPr>
          <a:lstStyle/>
          <a:p>
            <a:pPr algn="l">
              <a:lnSpc>
                <a:spcPct val="100000"/>
              </a:lnSpc>
              <a:spcAft>
                <a:spcPts val="0"/>
              </a:spcAft>
            </a:pPr>
            <a:r>
              <a:rPr sz="1300" b="0">
                <a:solidFill>
                  <a:srgbClr val="6B7280"/>
                </a:solidFill>
                <a:latin typeface="Arial"/>
              </a:rPr>
              <a:t>Tulva joint risk  (technical €265k)</a:t>
            </a:r>
          </a:p>
        </p:txBody>
      </p:sp>
      <p:sp>
        <p:nvSpPr>
          <p:cNvPr id="11" name="TextBox 10"/>
          <p:cNvSpPr txBox="1"/>
          <p:nvPr/>
        </p:nvSpPr>
        <p:spPr>
          <a:xfrm>
            <a:off x="8595360" y="1828800"/>
            <a:ext cx="3108960" cy="685800"/>
          </a:xfrm>
          <a:prstGeom prst="rect">
            <a:avLst/>
          </a:prstGeom>
          <a:noFill/>
        </p:spPr>
        <p:txBody>
          <a:bodyPr wrap="square" lIns="0" rIns="0" tIns="0" bIns="0" anchor="t">
            <a:spAutoFit/>
          </a:bodyPr>
          <a:lstStyle/>
          <a:p>
            <a:pPr algn="l">
              <a:lnSpc>
                <a:spcPct val="100000"/>
              </a:lnSpc>
              <a:spcAft>
                <a:spcPts val="0"/>
              </a:spcAft>
            </a:pPr>
            <a:r>
              <a:rPr sz="3400" b="1">
                <a:solidFill>
                  <a:srgbClr val="0B1F3A"/>
                </a:solidFill>
                <a:latin typeface="Arial"/>
              </a:rPr>
              <a:t>5.1×</a:t>
            </a:r>
          </a:p>
        </p:txBody>
      </p:sp>
      <p:sp>
        <p:nvSpPr>
          <p:cNvPr id="12" name="TextBox 11"/>
          <p:cNvSpPr txBox="1"/>
          <p:nvPr/>
        </p:nvSpPr>
        <p:spPr>
          <a:xfrm>
            <a:off x="8595360" y="2338324"/>
            <a:ext cx="3108960" cy="548640"/>
          </a:xfrm>
          <a:prstGeom prst="rect">
            <a:avLst/>
          </a:prstGeom>
          <a:noFill/>
        </p:spPr>
        <p:txBody>
          <a:bodyPr wrap="square" lIns="0" rIns="0" tIns="0" bIns="0" anchor="t">
            <a:spAutoFit/>
          </a:bodyPr>
          <a:lstStyle/>
          <a:p>
            <a:pPr algn="l">
              <a:lnSpc>
                <a:spcPct val="100000"/>
              </a:lnSpc>
              <a:spcAft>
                <a:spcPts val="0"/>
              </a:spcAft>
            </a:pPr>
            <a:r>
              <a:rPr sz="1300" b="0">
                <a:solidFill>
                  <a:srgbClr val="6B7280"/>
                </a:solidFill>
                <a:latin typeface="Arial"/>
              </a:rPr>
              <a:t>Tulva vs independence</a:t>
            </a:r>
          </a:p>
        </p:txBody>
      </p:sp>
      <p:pic>
        <p:nvPicPr>
          <p:cNvPr id="13" name="Picture 12" descr="index_price.png"/>
          <p:cNvPicPr>
            <a:picLocks noChangeAspect="1"/>
          </p:cNvPicPr>
          <p:nvPr/>
        </p:nvPicPr>
        <p:blipFill>
          <a:blip r:embed="rId2"/>
          <a:stretch>
            <a:fillRect/>
          </a:stretch>
        </p:blipFill>
        <p:spPr>
          <a:xfrm>
            <a:off x="1897072" y="2926080"/>
            <a:ext cx="8397551" cy="3429000"/>
          </a:xfrm>
          <a:prstGeom prst="rect">
            <a:avLst/>
          </a:prstGeom>
        </p:spPr>
      </p:pic>
      <p:sp>
        <p:nvSpPr>
          <p:cNvPr id="14" name="TextBox 13"/>
          <p:cNvSpPr txBox="1"/>
          <p:nvPr/>
        </p:nvSpPr>
        <p:spPr>
          <a:xfrm>
            <a:off x="548640" y="6473952"/>
            <a:ext cx="9082735" cy="274320"/>
          </a:xfrm>
          <a:prstGeom prst="rect">
            <a:avLst/>
          </a:prstGeom>
          <a:noFill/>
        </p:spPr>
        <p:txBody>
          <a:bodyPr wrap="square" lIns="0" rIns="0" tIns="0" bIns="0" anchor="t">
            <a:spAutoFit/>
          </a:bodyPr>
          <a:lstStyle/>
          <a:p>
            <a:pPr algn="l">
              <a:lnSpc>
                <a:spcPct val="100000"/>
              </a:lnSpc>
              <a:spcAft>
                <a:spcPts val="0"/>
              </a:spcAft>
            </a:pPr>
            <a:r>
              <a:rPr sz="1000" b="0">
                <a:solidFill>
                  <a:srgbClr val="6B7280"/>
                </a:solidFill>
                <a:latin typeface="Arial"/>
              </a:rPr>
              <a:t>Source: SYKE 1961–2025, Tulva model (exact; MC 1M agrees). Market = 2.5–3.5× expected payout (AM Best cat bonds, flood ILS)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lnSpc>
                <a:spcPct val="100000"/>
              </a:lnSpc>
              <a:spcAft>
                <a:spcPts val="0"/>
              </a:spcAft>
            </a:pPr>
            <a:r>
              <a:rPr sz="1200" b="1">
                <a:solidFill>
                  <a:srgbClr val="1F6FEB"/>
                </a:solidFill>
                <a:latin typeface="Arial"/>
              </a:rPr>
              <a:t>THE PRODUCT</a:t>
            </a:r>
          </a:p>
        </p:txBody>
      </p:sp>
      <p:sp>
        <p:nvSpPr>
          <p:cNvPr id="3" name="TextBox 2"/>
          <p:cNvSpPr txBox="1"/>
          <p:nvPr/>
        </p:nvSpPr>
        <p:spPr>
          <a:xfrm>
            <a:off x="548640" y="658368"/>
            <a:ext cx="11094415" cy="685800"/>
          </a:xfrm>
          <a:prstGeom prst="rect">
            <a:avLst/>
          </a:prstGeom>
          <a:noFill/>
        </p:spPr>
        <p:txBody>
          <a:bodyPr wrap="square" lIns="0" rIns="0" tIns="0" bIns="0" anchor="t">
            <a:spAutoFit/>
          </a:bodyPr>
          <a:lstStyle/>
          <a:p>
            <a:pPr algn="l">
              <a:lnSpc>
                <a:spcPct val="100000"/>
              </a:lnSpc>
              <a:spcAft>
                <a:spcPts val="0"/>
              </a:spcAft>
            </a:pPr>
            <a:r>
              <a:rPr sz="3000" b="1">
                <a:solidFill>
                  <a:srgbClr val="0B1F3A"/>
                </a:solidFill>
                <a:latin typeface="Arial"/>
              </a:rPr>
              <a:t>Tulva Index: bought in winter, pays in spring</a:t>
            </a:r>
          </a:p>
        </p:txBody>
      </p:sp>
      <p:sp>
        <p:nvSpPr>
          <p:cNvPr id="4" name="TextBox 3"/>
          <p:cNvSpPr txBox="1"/>
          <p:nvPr/>
        </p:nvSpPr>
        <p:spPr>
          <a:xfrm>
            <a:off x="9814255" y="6473952"/>
            <a:ext cx="1828800" cy="228600"/>
          </a:xfrm>
          <a:prstGeom prst="rect">
            <a:avLst/>
          </a:prstGeom>
          <a:noFill/>
        </p:spPr>
        <p:txBody>
          <a:bodyPr wrap="square" lIns="0" rIns="0" tIns="0" bIns="0" anchor="t">
            <a:spAutoFit/>
          </a:bodyPr>
          <a:lstStyle/>
          <a:p>
            <a:pPr algn="r">
              <a:lnSpc>
                <a:spcPct val="100000"/>
              </a:lnSpc>
              <a:spcAft>
                <a:spcPts val="0"/>
              </a:spcAft>
            </a:pPr>
            <a:r>
              <a:rPr sz="1100" b="1">
                <a:solidFill>
                  <a:srgbClr val="0B1F3A"/>
                </a:solidFill>
                <a:latin typeface="Arial"/>
              </a:rPr>
              <a:t>Tulva</a:t>
            </a:r>
            <a:r>
              <a:rPr sz="1100" b="0">
                <a:solidFill>
                  <a:srgbClr val="6B7280"/>
                </a:solidFill>
                <a:latin typeface="Arial"/>
              </a:rPr>
              <a:t>   4</a:t>
            </a:r>
          </a:p>
        </p:txBody>
      </p:sp>
      <p:sp>
        <p:nvSpPr>
          <p:cNvPr id="5" name="Rounded Rectangle 4"/>
          <p:cNvSpPr/>
          <p:nvPr/>
        </p:nvSpPr>
        <p:spPr>
          <a:xfrm>
            <a:off x="548640" y="1463040"/>
            <a:ext cx="11094415" cy="1188720"/>
          </a:xfrm>
          <a:prstGeom prst="roundRect">
            <a:avLst>
              <a:gd name="adj" fmla="val 8000"/>
            </a:avLst>
          </a:prstGeom>
          <a:solidFill>
            <a:srgbClr val="0B1F3A"/>
          </a:solidFill>
          <a:ln>
            <a:noFill/>
          </a:ln>
          <a:effectLst/>
        </p:spPr>
        <p:txBody>
          <a:bodyPr rtlCol="0" anchor="ctr"/>
          <a:lstStyle/>
          <a:p>
            <a:pPr algn="ctr"/>
          </a:p>
        </p:txBody>
      </p:sp>
      <p:sp>
        <p:nvSpPr>
          <p:cNvPr id="6" name="TextBox 5"/>
          <p:cNvSpPr txBox="1"/>
          <p:nvPr/>
        </p:nvSpPr>
        <p:spPr>
          <a:xfrm>
            <a:off x="914400" y="1572768"/>
            <a:ext cx="10515600" cy="274320"/>
          </a:xfrm>
          <a:prstGeom prst="rect">
            <a:avLst/>
          </a:prstGeom>
          <a:noFill/>
        </p:spPr>
        <p:txBody>
          <a:bodyPr wrap="square" lIns="0" rIns="0" tIns="0" bIns="0" anchor="t">
            <a:spAutoFit/>
          </a:bodyPr>
          <a:lstStyle/>
          <a:p>
            <a:pPr algn="l">
              <a:lnSpc>
                <a:spcPct val="100000"/>
              </a:lnSpc>
              <a:spcAft>
                <a:spcPts val="0"/>
              </a:spcAft>
            </a:pPr>
            <a:r>
              <a:rPr sz="1100" b="1">
                <a:solidFill>
                  <a:srgbClr val="A9C8F5"/>
                </a:solidFill>
                <a:latin typeface="Arial"/>
              </a:rPr>
              <a:t>TULVA INDEX · NORTH CLUSTER</a:t>
            </a:r>
          </a:p>
        </p:txBody>
      </p:sp>
      <p:sp>
        <p:nvSpPr>
          <p:cNvPr id="7" name="TextBox 6"/>
          <p:cNvSpPr txBox="1"/>
          <p:nvPr/>
        </p:nvSpPr>
        <p:spPr>
          <a:xfrm>
            <a:off x="914400" y="1847088"/>
            <a:ext cx="10607040" cy="640080"/>
          </a:xfrm>
          <a:prstGeom prst="rect">
            <a:avLst/>
          </a:prstGeom>
          <a:noFill/>
        </p:spPr>
        <p:txBody>
          <a:bodyPr wrap="square" lIns="0" rIns="0" tIns="0" bIns="0" anchor="t">
            <a:spAutoFit/>
          </a:bodyPr>
          <a:lstStyle/>
          <a:p>
            <a:pPr algn="l">
              <a:lnSpc>
                <a:spcPct val="100000"/>
              </a:lnSpc>
              <a:spcAft>
                <a:spcPts val="0"/>
              </a:spcAft>
            </a:pPr>
            <a:r>
              <a:rPr sz="2600" b="1">
                <a:solidFill>
                  <a:srgbClr val="FFFFFF"/>
                </a:solidFill>
                <a:latin typeface="Arial"/>
              </a:rPr>
              <a:t>Pays €10M</a:t>
            </a:r>
            <a:r>
              <a:rPr sz="2600" b="0">
                <a:solidFill>
                  <a:srgbClr val="FFFFFF"/>
                </a:solidFill>
                <a:latin typeface="Arial"/>
              </a:rPr>
              <a:t> if ≥2 of 5 northern gauges pass their 1-in-50 level this spring</a:t>
            </a:r>
          </a:p>
        </p:txBody>
      </p:sp>
      <p:sp>
        <p:nvSpPr>
          <p:cNvPr id="8" name="Rectangle 7"/>
          <p:cNvSpPr/>
          <p:nvPr/>
        </p:nvSpPr>
        <p:spPr>
          <a:xfrm>
            <a:off x="548640" y="2880360"/>
            <a:ext cx="3520440" cy="1325880"/>
          </a:xfrm>
          <a:prstGeom prst="rect">
            <a:avLst/>
          </a:prstGeom>
          <a:solidFill>
            <a:srgbClr val="F3F6FA"/>
          </a:solidFill>
          <a:ln>
            <a:noFill/>
          </a:ln>
          <a:effectLst/>
        </p:spPr>
        <p:txBody>
          <a:bodyPr rtlCol="0" anchor="ctr"/>
          <a:lstStyle/>
          <a:p>
            <a:pPr algn="ctr"/>
          </a:p>
        </p:txBody>
      </p:sp>
      <p:sp>
        <p:nvSpPr>
          <p:cNvPr id="9" name="Rectangle 8"/>
          <p:cNvSpPr/>
          <p:nvPr/>
        </p:nvSpPr>
        <p:spPr>
          <a:xfrm>
            <a:off x="548640" y="2880360"/>
            <a:ext cx="64008" cy="1325880"/>
          </a:xfrm>
          <a:prstGeom prst="rect">
            <a:avLst/>
          </a:prstGeom>
          <a:solidFill>
            <a:srgbClr val="D13B2F"/>
          </a:solidFill>
          <a:ln>
            <a:noFill/>
          </a:ln>
          <a:effectLst/>
        </p:spPr>
        <p:txBody>
          <a:bodyPr rtlCol="0" anchor="ctr"/>
          <a:lstStyle/>
          <a:p>
            <a:pPr algn="ctr"/>
          </a:p>
        </p:txBody>
      </p:sp>
      <p:sp>
        <p:nvSpPr>
          <p:cNvPr id="10" name="TextBox 9"/>
          <p:cNvSpPr txBox="1"/>
          <p:nvPr/>
        </p:nvSpPr>
        <p:spPr>
          <a:xfrm>
            <a:off x="822959" y="2999232"/>
            <a:ext cx="3154680" cy="274320"/>
          </a:xfrm>
          <a:prstGeom prst="rect">
            <a:avLst/>
          </a:prstGeom>
          <a:noFill/>
        </p:spPr>
        <p:txBody>
          <a:bodyPr wrap="square" lIns="0" rIns="0" tIns="0" bIns="0" anchor="t">
            <a:spAutoFit/>
          </a:bodyPr>
          <a:lstStyle/>
          <a:p>
            <a:pPr algn="l">
              <a:lnSpc>
                <a:spcPct val="100000"/>
              </a:lnSpc>
              <a:spcAft>
                <a:spcPts val="0"/>
              </a:spcAft>
            </a:pPr>
            <a:r>
              <a:rPr sz="1300" b="0">
                <a:solidFill>
                  <a:srgbClr val="6B7280"/>
                </a:solidFill>
                <a:latin typeface="Arial"/>
              </a:rPr>
              <a:t>Independence</a:t>
            </a:r>
          </a:p>
        </p:txBody>
      </p:sp>
      <p:sp>
        <p:nvSpPr>
          <p:cNvPr id="11" name="TextBox 10"/>
          <p:cNvSpPr txBox="1"/>
          <p:nvPr/>
        </p:nvSpPr>
        <p:spPr>
          <a:xfrm>
            <a:off x="822959" y="3291840"/>
            <a:ext cx="3154680" cy="548640"/>
          </a:xfrm>
          <a:prstGeom prst="rect">
            <a:avLst/>
          </a:prstGeom>
          <a:noFill/>
        </p:spPr>
        <p:txBody>
          <a:bodyPr wrap="square" lIns="0" rIns="0" tIns="0" bIns="0" anchor="t">
            <a:spAutoFit/>
          </a:bodyPr>
          <a:lstStyle/>
          <a:p>
            <a:pPr algn="l">
              <a:lnSpc>
                <a:spcPct val="100000"/>
              </a:lnSpc>
              <a:spcAft>
                <a:spcPts val="0"/>
              </a:spcAft>
            </a:pPr>
            <a:r>
              <a:rPr sz="3200" b="1">
                <a:solidFill>
                  <a:srgbClr val="D13B2F"/>
                </a:solidFill>
                <a:latin typeface="Arial"/>
              </a:rPr>
              <a:t>€96k–134k</a:t>
            </a:r>
          </a:p>
        </p:txBody>
      </p:sp>
      <p:sp>
        <p:nvSpPr>
          <p:cNvPr id="12" name="TextBox 11"/>
          <p:cNvSpPr txBox="1"/>
          <p:nvPr/>
        </p:nvSpPr>
        <p:spPr>
          <a:xfrm>
            <a:off x="822959" y="3840480"/>
            <a:ext cx="3154680" cy="274320"/>
          </a:xfrm>
          <a:prstGeom prst="rect">
            <a:avLst/>
          </a:prstGeom>
          <a:noFill/>
        </p:spPr>
        <p:txBody>
          <a:bodyPr wrap="square" lIns="0" rIns="0" tIns="0" bIns="0" anchor="t">
            <a:spAutoFit/>
          </a:bodyPr>
          <a:lstStyle/>
          <a:p>
            <a:pPr algn="l">
              <a:lnSpc>
                <a:spcPct val="100000"/>
              </a:lnSpc>
              <a:spcAft>
                <a:spcPts val="0"/>
              </a:spcAft>
            </a:pPr>
            <a:r>
              <a:rPr sz="1100" b="0">
                <a:solidFill>
                  <a:srgbClr val="6B7280"/>
                </a:solidFill>
                <a:latin typeface="Arial"/>
              </a:rPr>
              <a:t>market price per year</a:t>
            </a:r>
          </a:p>
        </p:txBody>
      </p:sp>
      <p:sp>
        <p:nvSpPr>
          <p:cNvPr id="13" name="Rectangle 12"/>
          <p:cNvSpPr/>
          <p:nvPr/>
        </p:nvSpPr>
        <p:spPr>
          <a:xfrm>
            <a:off x="4274820" y="2880360"/>
            <a:ext cx="3520440" cy="1325880"/>
          </a:xfrm>
          <a:prstGeom prst="rect">
            <a:avLst/>
          </a:prstGeom>
          <a:solidFill>
            <a:srgbClr val="F3F6FA"/>
          </a:solidFill>
          <a:ln>
            <a:noFill/>
          </a:ln>
          <a:effectLst/>
        </p:spPr>
        <p:txBody>
          <a:bodyPr rtlCol="0" anchor="ctr"/>
          <a:lstStyle/>
          <a:p>
            <a:pPr algn="ctr"/>
          </a:p>
        </p:txBody>
      </p:sp>
      <p:sp>
        <p:nvSpPr>
          <p:cNvPr id="14" name="Rectangle 13"/>
          <p:cNvSpPr/>
          <p:nvPr/>
        </p:nvSpPr>
        <p:spPr>
          <a:xfrm>
            <a:off x="4274820" y="2880360"/>
            <a:ext cx="64008" cy="1325880"/>
          </a:xfrm>
          <a:prstGeom prst="rect">
            <a:avLst/>
          </a:prstGeom>
          <a:solidFill>
            <a:srgbClr val="1F6FEB"/>
          </a:solidFill>
          <a:ln>
            <a:noFill/>
          </a:ln>
          <a:effectLst/>
        </p:spPr>
        <p:txBody>
          <a:bodyPr rtlCol="0" anchor="ctr"/>
          <a:lstStyle/>
          <a:p>
            <a:pPr algn="ctr"/>
          </a:p>
        </p:txBody>
      </p:sp>
      <p:sp>
        <p:nvSpPr>
          <p:cNvPr id="15" name="TextBox 14"/>
          <p:cNvSpPr txBox="1"/>
          <p:nvPr/>
        </p:nvSpPr>
        <p:spPr>
          <a:xfrm>
            <a:off x="4549140" y="2999232"/>
            <a:ext cx="3154680" cy="274320"/>
          </a:xfrm>
          <a:prstGeom prst="rect">
            <a:avLst/>
          </a:prstGeom>
          <a:noFill/>
        </p:spPr>
        <p:txBody>
          <a:bodyPr wrap="square" lIns="0" rIns="0" tIns="0" bIns="0" anchor="t">
            <a:spAutoFit/>
          </a:bodyPr>
          <a:lstStyle/>
          <a:p>
            <a:pPr algn="l">
              <a:lnSpc>
                <a:spcPct val="100000"/>
              </a:lnSpc>
              <a:spcAft>
                <a:spcPts val="0"/>
              </a:spcAft>
            </a:pPr>
            <a:r>
              <a:rPr sz="1300" b="0">
                <a:solidFill>
                  <a:srgbClr val="6B7280"/>
                </a:solidFill>
                <a:latin typeface="Arial"/>
              </a:rPr>
              <a:t>Tulva</a:t>
            </a:r>
          </a:p>
        </p:txBody>
      </p:sp>
      <p:sp>
        <p:nvSpPr>
          <p:cNvPr id="16" name="TextBox 15"/>
          <p:cNvSpPr txBox="1"/>
          <p:nvPr/>
        </p:nvSpPr>
        <p:spPr>
          <a:xfrm>
            <a:off x="4549140" y="3291840"/>
            <a:ext cx="3154680" cy="548640"/>
          </a:xfrm>
          <a:prstGeom prst="rect">
            <a:avLst/>
          </a:prstGeom>
          <a:noFill/>
        </p:spPr>
        <p:txBody>
          <a:bodyPr wrap="square" lIns="0" rIns="0" tIns="0" bIns="0" anchor="t">
            <a:spAutoFit/>
          </a:bodyPr>
          <a:lstStyle/>
          <a:p>
            <a:pPr algn="l">
              <a:lnSpc>
                <a:spcPct val="100000"/>
              </a:lnSpc>
              <a:spcAft>
                <a:spcPts val="0"/>
              </a:spcAft>
            </a:pPr>
            <a:r>
              <a:rPr sz="3200" b="1">
                <a:solidFill>
                  <a:srgbClr val="1F6FEB"/>
                </a:solidFill>
                <a:latin typeface="Arial"/>
              </a:rPr>
              <a:t>€491k–687k</a:t>
            </a:r>
          </a:p>
        </p:txBody>
      </p:sp>
      <p:sp>
        <p:nvSpPr>
          <p:cNvPr id="17" name="TextBox 16"/>
          <p:cNvSpPr txBox="1"/>
          <p:nvPr/>
        </p:nvSpPr>
        <p:spPr>
          <a:xfrm>
            <a:off x="4549140" y="3840480"/>
            <a:ext cx="3154680" cy="274320"/>
          </a:xfrm>
          <a:prstGeom prst="rect">
            <a:avLst/>
          </a:prstGeom>
          <a:noFill/>
        </p:spPr>
        <p:txBody>
          <a:bodyPr wrap="square" lIns="0" rIns="0" tIns="0" bIns="0" anchor="t">
            <a:spAutoFit/>
          </a:bodyPr>
          <a:lstStyle/>
          <a:p>
            <a:pPr algn="l">
              <a:lnSpc>
                <a:spcPct val="100000"/>
              </a:lnSpc>
              <a:spcAft>
                <a:spcPts val="0"/>
              </a:spcAft>
            </a:pPr>
            <a:r>
              <a:rPr sz="1100" b="0">
                <a:solidFill>
                  <a:srgbClr val="6B7280"/>
                </a:solidFill>
                <a:latin typeface="Arial"/>
              </a:rPr>
              <a:t>market price per year</a:t>
            </a:r>
          </a:p>
        </p:txBody>
      </p:sp>
      <p:sp>
        <p:nvSpPr>
          <p:cNvPr id="18" name="Rectangle 17"/>
          <p:cNvSpPr/>
          <p:nvPr/>
        </p:nvSpPr>
        <p:spPr>
          <a:xfrm>
            <a:off x="8001000" y="2880360"/>
            <a:ext cx="3520440" cy="1325880"/>
          </a:xfrm>
          <a:prstGeom prst="rect">
            <a:avLst/>
          </a:prstGeom>
          <a:solidFill>
            <a:srgbClr val="F3F6FA"/>
          </a:solidFill>
          <a:ln>
            <a:noFill/>
          </a:ln>
          <a:effectLst/>
        </p:spPr>
        <p:txBody>
          <a:bodyPr rtlCol="0" anchor="ctr"/>
          <a:lstStyle/>
          <a:p>
            <a:pPr algn="ctr"/>
          </a:p>
        </p:txBody>
      </p:sp>
      <p:sp>
        <p:nvSpPr>
          <p:cNvPr id="19" name="Rectangle 18"/>
          <p:cNvSpPr/>
          <p:nvPr/>
        </p:nvSpPr>
        <p:spPr>
          <a:xfrm>
            <a:off x="8001000" y="2880360"/>
            <a:ext cx="64008" cy="1325880"/>
          </a:xfrm>
          <a:prstGeom prst="rect">
            <a:avLst/>
          </a:prstGeom>
          <a:solidFill>
            <a:srgbClr val="0B1F3A"/>
          </a:solidFill>
          <a:ln>
            <a:noFill/>
          </a:ln>
          <a:effectLst/>
        </p:spPr>
        <p:txBody>
          <a:bodyPr rtlCol="0" anchor="ctr"/>
          <a:lstStyle/>
          <a:p>
            <a:pPr algn="ctr"/>
          </a:p>
        </p:txBody>
      </p:sp>
      <p:sp>
        <p:nvSpPr>
          <p:cNvPr id="20" name="TextBox 19"/>
          <p:cNvSpPr txBox="1"/>
          <p:nvPr/>
        </p:nvSpPr>
        <p:spPr>
          <a:xfrm>
            <a:off x="8275320" y="2999232"/>
            <a:ext cx="3154680" cy="274320"/>
          </a:xfrm>
          <a:prstGeom prst="rect">
            <a:avLst/>
          </a:prstGeom>
          <a:noFill/>
        </p:spPr>
        <p:txBody>
          <a:bodyPr wrap="square" lIns="0" rIns="0" tIns="0" bIns="0" anchor="t">
            <a:spAutoFit/>
          </a:bodyPr>
          <a:lstStyle/>
          <a:p>
            <a:pPr algn="l">
              <a:lnSpc>
                <a:spcPct val="100000"/>
              </a:lnSpc>
              <a:spcAft>
                <a:spcPts val="0"/>
              </a:spcAft>
            </a:pPr>
            <a:r>
              <a:rPr sz="1300" b="0">
                <a:solidFill>
                  <a:srgbClr val="6B7280"/>
                </a:solidFill>
                <a:latin typeface="Arial"/>
              </a:rPr>
              <a:t>After a snowy March</a:t>
            </a:r>
          </a:p>
        </p:txBody>
      </p:sp>
      <p:sp>
        <p:nvSpPr>
          <p:cNvPr id="21" name="TextBox 20"/>
          <p:cNvSpPr txBox="1"/>
          <p:nvPr/>
        </p:nvSpPr>
        <p:spPr>
          <a:xfrm>
            <a:off x="8275320" y="3291840"/>
            <a:ext cx="3154680" cy="548640"/>
          </a:xfrm>
          <a:prstGeom prst="rect">
            <a:avLst/>
          </a:prstGeom>
          <a:noFill/>
        </p:spPr>
        <p:txBody>
          <a:bodyPr wrap="square" lIns="0" rIns="0" tIns="0" bIns="0" anchor="t">
            <a:spAutoFit/>
          </a:bodyPr>
          <a:lstStyle/>
          <a:p>
            <a:pPr algn="l">
              <a:lnSpc>
                <a:spcPct val="100000"/>
              </a:lnSpc>
              <a:spcAft>
                <a:spcPts val="0"/>
              </a:spcAft>
            </a:pPr>
            <a:r>
              <a:rPr sz="3200" b="1">
                <a:solidFill>
                  <a:srgbClr val="0B1F3A"/>
                </a:solidFill>
                <a:latin typeface="Arial"/>
              </a:rPr>
              <a:t>€1.61M–2.26M</a:t>
            </a:r>
          </a:p>
        </p:txBody>
      </p:sp>
      <p:sp>
        <p:nvSpPr>
          <p:cNvPr id="22" name="TextBox 21"/>
          <p:cNvSpPr txBox="1"/>
          <p:nvPr/>
        </p:nvSpPr>
        <p:spPr>
          <a:xfrm>
            <a:off x="8275320" y="3840480"/>
            <a:ext cx="3154680" cy="274320"/>
          </a:xfrm>
          <a:prstGeom prst="rect">
            <a:avLst/>
          </a:prstGeom>
          <a:noFill/>
        </p:spPr>
        <p:txBody>
          <a:bodyPr wrap="square" lIns="0" rIns="0" tIns="0" bIns="0" anchor="t">
            <a:spAutoFit/>
          </a:bodyPr>
          <a:lstStyle/>
          <a:p>
            <a:pPr algn="l">
              <a:lnSpc>
                <a:spcPct val="100000"/>
              </a:lnSpc>
              <a:spcAft>
                <a:spcPts val="0"/>
              </a:spcAft>
            </a:pPr>
            <a:r>
              <a:rPr sz="1100" b="0">
                <a:solidFill>
                  <a:srgbClr val="6B7280"/>
                </a:solidFill>
                <a:latin typeface="Arial"/>
              </a:rPr>
              <a:t>market price per year</a:t>
            </a:r>
          </a:p>
        </p:txBody>
      </p:sp>
      <p:sp>
        <p:nvSpPr>
          <p:cNvPr id="23" name="TextBox 22"/>
          <p:cNvSpPr txBox="1"/>
          <p:nvPr/>
        </p:nvSpPr>
        <p:spPr>
          <a:xfrm>
            <a:off x="548640" y="4434840"/>
            <a:ext cx="3520440" cy="685800"/>
          </a:xfrm>
          <a:prstGeom prst="rect">
            <a:avLst/>
          </a:prstGeom>
          <a:noFill/>
        </p:spPr>
        <p:txBody>
          <a:bodyPr wrap="square" lIns="0" rIns="0" tIns="0" bIns="0" anchor="t">
            <a:spAutoFit/>
          </a:bodyPr>
          <a:lstStyle/>
          <a:p>
            <a:pPr algn="l">
              <a:lnSpc>
                <a:spcPct val="100000"/>
              </a:lnSpc>
              <a:spcAft>
                <a:spcPts val="0"/>
              </a:spcAft>
            </a:pPr>
            <a:r>
              <a:rPr sz="1600" b="1">
                <a:solidFill>
                  <a:srgbClr val="0B1F3A"/>
                </a:solidFill>
                <a:latin typeface="Arial"/>
              </a:rPr>
              <a:t>Bought in winter</a:t>
            </a:r>
          </a:p>
          <a:p>
            <a:pPr algn="l">
              <a:lnSpc>
                <a:spcPct val="100000"/>
              </a:lnSpc>
              <a:spcAft>
                <a:spcPts val="0"/>
              </a:spcAft>
            </a:pPr>
            <a:r>
              <a:rPr sz="1300" b="0">
                <a:solidFill>
                  <a:srgbClr val="6B7280"/>
                </a:solidFill>
                <a:latin typeface="Arial"/>
              </a:rPr>
              <a:t>before the snow signal exists</a:t>
            </a:r>
          </a:p>
        </p:txBody>
      </p:sp>
      <p:sp>
        <p:nvSpPr>
          <p:cNvPr id="24" name="TextBox 23"/>
          <p:cNvSpPr txBox="1"/>
          <p:nvPr/>
        </p:nvSpPr>
        <p:spPr>
          <a:xfrm>
            <a:off x="4274820" y="4434840"/>
            <a:ext cx="3520440" cy="685800"/>
          </a:xfrm>
          <a:prstGeom prst="rect">
            <a:avLst/>
          </a:prstGeom>
          <a:noFill/>
        </p:spPr>
        <p:txBody>
          <a:bodyPr wrap="square" lIns="0" rIns="0" tIns="0" bIns="0" anchor="t">
            <a:spAutoFit/>
          </a:bodyPr>
          <a:lstStyle/>
          <a:p>
            <a:pPr algn="l">
              <a:lnSpc>
                <a:spcPct val="100000"/>
              </a:lnSpc>
              <a:spcAft>
                <a:spcPts val="0"/>
              </a:spcAft>
            </a:pPr>
            <a:r>
              <a:rPr sz="1600" b="1">
                <a:solidFill>
                  <a:srgbClr val="0B1F3A"/>
                </a:solidFill>
                <a:latin typeface="Arial"/>
              </a:rPr>
              <a:t>Staged option</a:t>
            </a:r>
          </a:p>
          <a:p>
            <a:pPr algn="l">
              <a:lnSpc>
                <a:spcPct val="100000"/>
              </a:lnSpc>
              <a:spcAft>
                <a:spcPts val="0"/>
              </a:spcAft>
            </a:pPr>
            <a:r>
              <a:rPr sz="1300" b="0">
                <a:solidFill>
                  <a:srgbClr val="6B7280"/>
                </a:solidFill>
                <a:latin typeface="Arial"/>
              </a:rPr>
              <a:t>50 % paid at 2 gauges, 100 % at 3</a:t>
            </a:r>
          </a:p>
        </p:txBody>
      </p:sp>
      <p:sp>
        <p:nvSpPr>
          <p:cNvPr id="25" name="TextBox 24"/>
          <p:cNvSpPr txBox="1"/>
          <p:nvPr/>
        </p:nvSpPr>
        <p:spPr>
          <a:xfrm>
            <a:off x="8001000" y="4434840"/>
            <a:ext cx="3520440" cy="685800"/>
          </a:xfrm>
          <a:prstGeom prst="rect">
            <a:avLst/>
          </a:prstGeom>
          <a:noFill/>
        </p:spPr>
        <p:txBody>
          <a:bodyPr wrap="square" lIns="0" rIns="0" tIns="0" bIns="0" anchor="t">
            <a:spAutoFit/>
          </a:bodyPr>
          <a:lstStyle/>
          <a:p>
            <a:pPr algn="l">
              <a:lnSpc>
                <a:spcPct val="100000"/>
              </a:lnSpc>
              <a:spcAft>
                <a:spcPts val="0"/>
              </a:spcAft>
            </a:pPr>
            <a:r>
              <a:rPr sz="1600" b="1">
                <a:solidFill>
                  <a:srgbClr val="0B1F3A"/>
                </a:solidFill>
                <a:latin typeface="Arial"/>
              </a:rPr>
              <a:t>Explainable trigger</a:t>
            </a:r>
          </a:p>
          <a:p>
            <a:pPr algn="l">
              <a:lnSpc>
                <a:spcPct val="100000"/>
              </a:lnSpc>
              <a:spcAft>
                <a:spcPts val="0"/>
              </a:spcAft>
            </a:pPr>
            <a:r>
              <a:rPr sz="1300" b="0">
                <a:solidFill>
                  <a:srgbClr val="6B7280"/>
                </a:solidFill>
                <a:latin typeface="Arial"/>
              </a:rPr>
              <a:t>public SYKE gauges anyone can check</a:t>
            </a:r>
          </a:p>
        </p:txBody>
      </p:sp>
      <p:sp>
        <p:nvSpPr>
          <p:cNvPr id="26" name="Rectangle 25"/>
          <p:cNvSpPr/>
          <p:nvPr/>
        </p:nvSpPr>
        <p:spPr>
          <a:xfrm>
            <a:off x="548640" y="5257800"/>
            <a:ext cx="11094415" cy="18288"/>
          </a:xfrm>
          <a:prstGeom prst="rect">
            <a:avLst/>
          </a:prstGeom>
          <a:solidFill>
            <a:srgbClr val="DDE3EA"/>
          </a:solidFill>
          <a:ln>
            <a:noFill/>
          </a:ln>
          <a:effectLst/>
        </p:spPr>
        <p:txBody>
          <a:bodyPr rtlCol="0" anchor="ctr"/>
          <a:lstStyle/>
          <a:p>
            <a:pPr algn="ctr"/>
          </a:p>
        </p:txBody>
      </p:sp>
      <p:sp>
        <p:nvSpPr>
          <p:cNvPr id="27" name="TextBox 26"/>
          <p:cNvSpPr txBox="1"/>
          <p:nvPr/>
        </p:nvSpPr>
        <p:spPr>
          <a:xfrm>
            <a:off x="548640" y="5413248"/>
            <a:ext cx="11094415" cy="548640"/>
          </a:xfrm>
          <a:prstGeom prst="rect">
            <a:avLst/>
          </a:prstGeom>
          <a:noFill/>
        </p:spPr>
        <p:txBody>
          <a:bodyPr wrap="square" lIns="0" rIns="0" tIns="0" bIns="0" anchor="ctr">
            <a:spAutoFit/>
          </a:bodyPr>
          <a:lstStyle/>
          <a:p>
            <a:pPr algn="l">
              <a:lnSpc>
                <a:spcPct val="100000"/>
              </a:lnSpc>
              <a:spcAft>
                <a:spcPts val="0"/>
              </a:spcAft>
            </a:pPr>
            <a:r>
              <a:rPr sz="2600" b="1">
                <a:solidFill>
                  <a:srgbClr val="1F6FEB"/>
                </a:solidFill>
                <a:latin typeface="Arial"/>
              </a:rPr>
              <a:t>11 of 19</a:t>
            </a:r>
            <a:r>
              <a:rPr sz="1600" b="0">
                <a:solidFill>
                  <a:srgbClr val="0B1F3A"/>
                </a:solidFill>
                <a:latin typeface="Arial"/>
              </a:rPr>
              <a:t>   payout years flagged in advance by the 1 March snow, 2005 included</a:t>
            </a:r>
          </a:p>
        </p:txBody>
      </p:sp>
      <p:sp>
        <p:nvSpPr>
          <p:cNvPr id="28" name="TextBox 27"/>
          <p:cNvSpPr txBox="1"/>
          <p:nvPr/>
        </p:nvSpPr>
        <p:spPr>
          <a:xfrm>
            <a:off x="548640" y="6473952"/>
            <a:ext cx="9082735" cy="274320"/>
          </a:xfrm>
          <a:prstGeom prst="rect">
            <a:avLst/>
          </a:prstGeom>
          <a:noFill/>
        </p:spPr>
        <p:txBody>
          <a:bodyPr wrap="square" lIns="0" rIns="0" tIns="0" bIns="0" anchor="t">
            <a:spAutoFit/>
          </a:bodyPr>
          <a:lstStyle/>
          <a:p>
            <a:pPr algn="l">
              <a:lnSpc>
                <a:spcPct val="100000"/>
              </a:lnSpc>
              <a:spcAft>
                <a:spcPts val="0"/>
              </a:spcAft>
            </a:pPr>
            <a:r>
              <a:rPr sz="1000" b="0">
                <a:solidFill>
                  <a:srgbClr val="6B7280"/>
                </a:solidFill>
                <a:latin typeface="Arial"/>
              </a:rPr>
              <a:t>Source: Tulva model, exact; market 2.5–3.5× expected payout. Back-test 1961–2025, all clusters, ≥2 gauges over 1-in-10, in-sample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txBody>
          <a:bodyPr rtlCol="0" anchor="ctr"/>
          <a:lstStyle/>
          <a:p>
            <a:pPr algn="ctr"/>
          </a:p>
        </p:txBody>
      </p:sp>
      <p:sp>
        <p:nvSpPr>
          <p:cNvPr id="3" name="Rectangle 2"/>
          <p:cNvSpPr/>
          <p:nvPr/>
        </p:nvSpPr>
        <p:spPr>
          <a:xfrm>
            <a:off x="914400" y="502920"/>
            <a:ext cx="10362895" cy="5349240"/>
          </a:xfrm>
          <a:prstGeom prst="rect">
            <a:avLst/>
          </a:prstGeom>
          <a:solidFill>
            <a:srgbClr val="142B4D"/>
          </a:solidFill>
          <a:ln w="12700">
            <a:solidFill>
              <a:srgbClr val="A9C8F5"/>
            </a:solidFill>
          </a:ln>
          <a:effectLst/>
        </p:spPr>
        <p:txBody>
          <a:bodyPr rtlCol="0" anchor="ctr"/>
          <a:lstStyle/>
          <a:p>
            <a:pPr algn="ctr"/>
          </a:p>
        </p:txBody>
      </p:sp>
      <p:pic>
        <p:nvPicPr>
          <p:cNvPr id="4" name="Picture 3" descr="app_product.png"/>
          <p:cNvPicPr>
            <a:picLocks noChangeAspect="1"/>
          </p:cNvPicPr>
          <p:nvPr/>
        </p:nvPicPr>
        <p:blipFill>
          <a:blip r:embed="rId2"/>
          <a:stretch>
            <a:fillRect/>
          </a:stretch>
        </p:blipFill>
        <p:spPr>
          <a:xfrm>
            <a:off x="1051560" y="881519"/>
            <a:ext cx="10088575" cy="4592041"/>
          </a:xfrm>
          <a:prstGeom prst="rect">
            <a:avLst/>
          </a:prstGeom>
        </p:spPr>
      </p:pic>
      <p:sp>
        <p:nvSpPr>
          <p:cNvPr id="5" name="Rounded Rectangle 4"/>
          <p:cNvSpPr/>
          <p:nvPr/>
        </p:nvSpPr>
        <p:spPr>
          <a:xfrm>
            <a:off x="2804007" y="2766059"/>
            <a:ext cx="6583680" cy="822960"/>
          </a:xfrm>
          <a:prstGeom prst="roundRect">
            <a:avLst>
              <a:gd name="adj" fmla="val 20000"/>
            </a:avLst>
          </a:prstGeom>
          <a:solidFill>
            <a:srgbClr val="1F6FEB"/>
          </a:solidFill>
          <a:ln>
            <a:noFill/>
          </a:ln>
          <a:effectLst/>
        </p:spPr>
        <p:txBody>
          <a:bodyPr rtlCol="0" anchor="ctr"/>
          <a:lstStyle/>
          <a:p>
            <a:pPr algn="ctr"/>
          </a:p>
        </p:txBody>
      </p:sp>
      <p:sp>
        <p:nvSpPr>
          <p:cNvPr id="6" name="TextBox 5"/>
          <p:cNvSpPr txBox="1"/>
          <p:nvPr/>
        </p:nvSpPr>
        <p:spPr>
          <a:xfrm>
            <a:off x="2804007" y="2766059"/>
            <a:ext cx="6583680" cy="822960"/>
          </a:xfrm>
          <a:prstGeom prst="rect">
            <a:avLst/>
          </a:prstGeom>
          <a:noFill/>
        </p:spPr>
        <p:txBody>
          <a:bodyPr wrap="square" lIns="0" rIns="0" tIns="0" bIns="0" anchor="ctr">
            <a:spAutoFit/>
          </a:bodyPr>
          <a:lstStyle/>
          <a:p>
            <a:pPr algn="ctr">
              <a:lnSpc>
                <a:spcPct val="100000"/>
              </a:lnSpc>
              <a:spcAft>
                <a:spcPts val="0"/>
              </a:spcAft>
            </a:pPr>
            <a:r>
              <a:rPr sz="2200" b="1">
                <a:solidFill>
                  <a:srgbClr val="FFFFFF"/>
                </a:solidFill>
                <a:latin typeface="Arial"/>
              </a:rPr>
              <a:t>DEMO VIDEO (≈60 s) — insert recording here</a:t>
            </a:r>
          </a:p>
        </p:txBody>
      </p:sp>
      <p:sp>
        <p:nvSpPr>
          <p:cNvPr id="7" name="TextBox 6"/>
          <p:cNvSpPr txBox="1"/>
          <p:nvPr/>
        </p:nvSpPr>
        <p:spPr>
          <a:xfrm>
            <a:off x="914400" y="5989320"/>
            <a:ext cx="10362895" cy="365760"/>
          </a:xfrm>
          <a:prstGeom prst="rect">
            <a:avLst/>
          </a:prstGeom>
          <a:noFill/>
        </p:spPr>
        <p:txBody>
          <a:bodyPr wrap="square" lIns="0" rIns="0" tIns="0" bIns="0" anchor="t">
            <a:spAutoFit/>
          </a:bodyPr>
          <a:lstStyle/>
          <a:p>
            <a:pPr algn="ctr">
              <a:lnSpc>
                <a:spcPct val="100000"/>
              </a:lnSpc>
              <a:spcAft>
                <a:spcPts val="0"/>
              </a:spcAft>
            </a:pPr>
            <a:r>
              <a:rPr sz="1400" b="0">
                <a:solidFill>
                  <a:srgbClr val="FFFFFF"/>
                </a:solidFill>
                <a:latin typeface="Arial"/>
              </a:rPr>
              <a:t>Live app: the joint-flood map → March snow outlook → index price → real quantum runs → 2005 replay</a:t>
            </a:r>
          </a:p>
        </p:txBody>
      </p:sp>
      <p:sp>
        <p:nvSpPr>
          <p:cNvPr id="8" name="TextBox 7"/>
          <p:cNvSpPr txBox="1"/>
          <p:nvPr/>
        </p:nvSpPr>
        <p:spPr>
          <a:xfrm>
            <a:off x="9814255" y="6473952"/>
            <a:ext cx="1828800" cy="228600"/>
          </a:xfrm>
          <a:prstGeom prst="rect">
            <a:avLst/>
          </a:prstGeom>
          <a:noFill/>
        </p:spPr>
        <p:txBody>
          <a:bodyPr wrap="square" lIns="0" rIns="0" tIns="0" bIns="0" anchor="t">
            <a:spAutoFit/>
          </a:bodyPr>
          <a:lstStyle/>
          <a:p>
            <a:pPr algn="r">
              <a:lnSpc>
                <a:spcPct val="100000"/>
              </a:lnSpc>
              <a:spcAft>
                <a:spcPts val="0"/>
              </a:spcAft>
            </a:pPr>
            <a:r>
              <a:rPr sz="1100" b="1">
                <a:solidFill>
                  <a:srgbClr val="FFFFFF"/>
                </a:solidFill>
                <a:latin typeface="Arial"/>
              </a:rPr>
              <a:t>Tulva</a:t>
            </a:r>
            <a:r>
              <a:rPr sz="1100" b="0">
                <a:solidFill>
                  <a:srgbClr val="A9C8F5"/>
                </a:solidFill>
                <a:latin typeface="Arial"/>
              </a:rPr>
              <a:t>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lnSpc>
                <a:spcPct val="100000"/>
              </a:lnSpc>
              <a:spcAft>
                <a:spcPts val="0"/>
              </a:spcAft>
            </a:pPr>
            <a:r>
              <a:rPr sz="1200" b="1">
                <a:solidFill>
                  <a:srgbClr val="1F6FEB"/>
                </a:solidFill>
                <a:latin typeface="Arial"/>
              </a:rPr>
              <a:t>QUANTUM, IN PRACTICE</a:t>
            </a:r>
          </a:p>
        </p:txBody>
      </p:sp>
      <p:sp>
        <p:nvSpPr>
          <p:cNvPr id="3" name="TextBox 2"/>
          <p:cNvSpPr txBox="1"/>
          <p:nvPr/>
        </p:nvSpPr>
        <p:spPr>
          <a:xfrm>
            <a:off x="548640" y="658368"/>
            <a:ext cx="11094415" cy="685800"/>
          </a:xfrm>
          <a:prstGeom prst="rect">
            <a:avLst/>
          </a:prstGeom>
          <a:noFill/>
        </p:spPr>
        <p:txBody>
          <a:bodyPr wrap="square" lIns="0" rIns="0" tIns="0" bIns="0" anchor="t">
            <a:spAutoFit/>
          </a:bodyPr>
          <a:lstStyle/>
          <a:p>
            <a:pPr algn="l">
              <a:lnSpc>
                <a:spcPct val="100000"/>
              </a:lnSpc>
              <a:spcAft>
                <a:spcPts val="0"/>
              </a:spcAft>
            </a:pPr>
            <a:r>
              <a:rPr sz="2700" b="1">
                <a:solidFill>
                  <a:srgbClr val="0B1F3A"/>
                </a:solidFill>
                <a:latin typeface="Arial"/>
              </a:rPr>
              <a:t>Pricing = a joint-flood probability → quantum amplitude estimation</a:t>
            </a:r>
          </a:p>
        </p:txBody>
      </p:sp>
      <p:sp>
        <p:nvSpPr>
          <p:cNvPr id="4" name="TextBox 3"/>
          <p:cNvSpPr txBox="1"/>
          <p:nvPr/>
        </p:nvSpPr>
        <p:spPr>
          <a:xfrm>
            <a:off x="9814255" y="6473952"/>
            <a:ext cx="1828800" cy="228600"/>
          </a:xfrm>
          <a:prstGeom prst="rect">
            <a:avLst/>
          </a:prstGeom>
          <a:noFill/>
        </p:spPr>
        <p:txBody>
          <a:bodyPr wrap="square" lIns="0" rIns="0" tIns="0" bIns="0" anchor="t">
            <a:spAutoFit/>
          </a:bodyPr>
          <a:lstStyle/>
          <a:p>
            <a:pPr algn="r">
              <a:lnSpc>
                <a:spcPct val="100000"/>
              </a:lnSpc>
              <a:spcAft>
                <a:spcPts val="0"/>
              </a:spcAft>
            </a:pPr>
            <a:r>
              <a:rPr sz="1100" b="1">
                <a:solidFill>
                  <a:srgbClr val="0B1F3A"/>
                </a:solidFill>
                <a:latin typeface="Arial"/>
              </a:rPr>
              <a:t>Tulva</a:t>
            </a:r>
            <a:r>
              <a:rPr sz="1100" b="0">
                <a:solidFill>
                  <a:srgbClr val="6B7280"/>
                </a:solidFill>
                <a:latin typeface="Arial"/>
              </a:rPr>
              <a:t>   6</a:t>
            </a:r>
          </a:p>
        </p:txBody>
      </p:sp>
      <p:pic>
        <p:nvPicPr>
          <p:cNvPr id="5" name="Picture 4" descr="loader_emerald.png"/>
          <p:cNvPicPr>
            <a:picLocks noChangeAspect="1"/>
          </p:cNvPicPr>
          <p:nvPr/>
        </p:nvPicPr>
        <p:blipFill>
          <a:blip r:embed="rId2"/>
          <a:stretch>
            <a:fillRect/>
          </a:stretch>
        </p:blipFill>
        <p:spPr>
          <a:xfrm>
            <a:off x="548640" y="1508760"/>
            <a:ext cx="6949440" cy="3891686"/>
          </a:xfrm>
          <a:prstGeom prst="rect">
            <a:avLst/>
          </a:prstGeom>
        </p:spPr>
      </p:pic>
      <p:sp>
        <p:nvSpPr>
          <p:cNvPr id="6" name="TextBox 5"/>
          <p:cNvSpPr txBox="1"/>
          <p:nvPr/>
        </p:nvSpPr>
        <p:spPr>
          <a:xfrm>
            <a:off x="548640" y="5532120"/>
            <a:ext cx="6949440" cy="365760"/>
          </a:xfrm>
          <a:prstGeom prst="rect">
            <a:avLst/>
          </a:prstGeom>
          <a:noFill/>
        </p:spPr>
        <p:txBody>
          <a:bodyPr wrap="square" lIns="0" rIns="0" tIns="0" bIns="0" anchor="t">
            <a:spAutoFit/>
          </a:bodyPr>
          <a:lstStyle/>
          <a:p>
            <a:pPr algn="l">
              <a:lnSpc>
                <a:spcPct val="100000"/>
              </a:lnSpc>
              <a:spcAft>
                <a:spcPts val="0"/>
              </a:spcAft>
            </a:pPr>
            <a:r>
              <a:rPr sz="1400" b="0">
                <a:solidFill>
                  <a:srgbClr val="0B1F3A"/>
                </a:solidFill>
                <a:latin typeface="Arial"/>
              </a:rPr>
              <a:t>The chip reproduces the joint tail that independence misses.</a:t>
            </a:r>
          </a:p>
        </p:txBody>
      </p:sp>
      <p:sp>
        <p:nvSpPr>
          <p:cNvPr id="7" name="TextBox 6"/>
          <p:cNvSpPr txBox="1"/>
          <p:nvPr/>
        </p:nvSpPr>
        <p:spPr>
          <a:xfrm>
            <a:off x="7863840" y="1508760"/>
            <a:ext cx="3794760" cy="274320"/>
          </a:xfrm>
          <a:prstGeom prst="rect">
            <a:avLst/>
          </a:prstGeom>
          <a:noFill/>
        </p:spPr>
        <p:txBody>
          <a:bodyPr wrap="square" lIns="0" rIns="0" tIns="0" bIns="0" anchor="t">
            <a:spAutoFit/>
          </a:bodyPr>
          <a:lstStyle/>
          <a:p>
            <a:pPr algn="l">
              <a:lnSpc>
                <a:spcPct val="100000"/>
              </a:lnSpc>
              <a:spcAft>
                <a:spcPts val="0"/>
              </a:spcAft>
            </a:pPr>
            <a:r>
              <a:rPr sz="1100" b="1">
                <a:solidFill>
                  <a:srgbClr val="1F6FEB"/>
                </a:solidFill>
                <a:latin typeface="Arial"/>
              </a:rPr>
              <a:t>ALL 14 AREAS ON IQM EMERALD</a:t>
            </a:r>
          </a:p>
        </p:txBody>
      </p:sp>
      <p:sp>
        <p:nvSpPr>
          <p:cNvPr id="8" name="TextBox 7"/>
          <p:cNvSpPr txBox="1"/>
          <p:nvPr/>
        </p:nvSpPr>
        <p:spPr>
          <a:xfrm>
            <a:off x="7863840" y="1783080"/>
            <a:ext cx="1828800" cy="685800"/>
          </a:xfrm>
          <a:prstGeom prst="rect">
            <a:avLst/>
          </a:prstGeom>
          <a:noFill/>
        </p:spPr>
        <p:txBody>
          <a:bodyPr wrap="square" lIns="0" rIns="0" tIns="0" bIns="0" anchor="t">
            <a:spAutoFit/>
          </a:bodyPr>
          <a:lstStyle/>
          <a:p>
            <a:pPr algn="l">
              <a:lnSpc>
                <a:spcPct val="100000"/>
              </a:lnSpc>
              <a:spcAft>
                <a:spcPts val="0"/>
              </a:spcAft>
            </a:pPr>
            <a:r>
              <a:rPr sz="4000" b="1">
                <a:solidFill>
                  <a:srgbClr val="0B1F3A"/>
                </a:solidFill>
                <a:latin typeface="Arial"/>
              </a:rPr>
              <a:t>18</a:t>
            </a:r>
          </a:p>
        </p:txBody>
      </p:sp>
      <p:sp>
        <p:nvSpPr>
          <p:cNvPr id="9" name="TextBox 8"/>
          <p:cNvSpPr txBox="1"/>
          <p:nvPr/>
        </p:nvSpPr>
        <p:spPr>
          <a:xfrm>
            <a:off x="7863840" y="2382520"/>
            <a:ext cx="1828800" cy="274320"/>
          </a:xfrm>
          <a:prstGeom prst="rect">
            <a:avLst/>
          </a:prstGeom>
          <a:noFill/>
        </p:spPr>
        <p:txBody>
          <a:bodyPr wrap="square" lIns="0" rIns="0" tIns="0" bIns="0" anchor="t">
            <a:spAutoFit/>
          </a:bodyPr>
          <a:lstStyle/>
          <a:p>
            <a:pPr algn="l">
              <a:lnSpc>
                <a:spcPct val="100000"/>
              </a:lnSpc>
              <a:spcAft>
                <a:spcPts val="0"/>
              </a:spcAft>
            </a:pPr>
            <a:r>
              <a:rPr sz="1300" b="0">
                <a:solidFill>
                  <a:srgbClr val="6B7280"/>
                </a:solidFill>
                <a:latin typeface="Arial"/>
              </a:rPr>
              <a:t>qubits</a:t>
            </a:r>
          </a:p>
        </p:txBody>
      </p:sp>
      <p:sp>
        <p:nvSpPr>
          <p:cNvPr id="10" name="TextBox 9"/>
          <p:cNvSpPr txBox="1"/>
          <p:nvPr/>
        </p:nvSpPr>
        <p:spPr>
          <a:xfrm>
            <a:off x="9784080" y="1783080"/>
            <a:ext cx="1828800" cy="685800"/>
          </a:xfrm>
          <a:prstGeom prst="rect">
            <a:avLst/>
          </a:prstGeom>
          <a:noFill/>
        </p:spPr>
        <p:txBody>
          <a:bodyPr wrap="square" lIns="0" rIns="0" tIns="0" bIns="0" anchor="t">
            <a:spAutoFit/>
          </a:bodyPr>
          <a:lstStyle/>
          <a:p>
            <a:pPr algn="l">
              <a:lnSpc>
                <a:spcPct val="100000"/>
              </a:lnSpc>
              <a:spcAft>
                <a:spcPts val="0"/>
              </a:spcAft>
            </a:pPr>
            <a:r>
              <a:rPr sz="4000" b="1">
                <a:solidFill>
                  <a:srgbClr val="0B1F3A"/>
                </a:solidFill>
                <a:latin typeface="Arial"/>
              </a:rPr>
              <a:t>44</a:t>
            </a:r>
          </a:p>
        </p:txBody>
      </p:sp>
      <p:sp>
        <p:nvSpPr>
          <p:cNvPr id="11" name="TextBox 10"/>
          <p:cNvSpPr txBox="1"/>
          <p:nvPr/>
        </p:nvSpPr>
        <p:spPr>
          <a:xfrm>
            <a:off x="9784080" y="2382520"/>
            <a:ext cx="1828800" cy="274320"/>
          </a:xfrm>
          <a:prstGeom prst="rect">
            <a:avLst/>
          </a:prstGeom>
          <a:noFill/>
        </p:spPr>
        <p:txBody>
          <a:bodyPr wrap="square" lIns="0" rIns="0" tIns="0" bIns="0" anchor="t">
            <a:spAutoFit/>
          </a:bodyPr>
          <a:lstStyle/>
          <a:p>
            <a:pPr algn="l">
              <a:lnSpc>
                <a:spcPct val="100000"/>
              </a:lnSpc>
              <a:spcAft>
                <a:spcPts val="0"/>
              </a:spcAft>
            </a:pPr>
            <a:r>
              <a:rPr sz="1300" b="0">
                <a:solidFill>
                  <a:srgbClr val="6B7280"/>
                </a:solidFill>
                <a:latin typeface="Arial"/>
              </a:rPr>
              <a:t>two-qubit gates</a:t>
            </a:r>
          </a:p>
        </p:txBody>
      </p:sp>
      <p:sp>
        <p:nvSpPr>
          <p:cNvPr id="12" name="Rectangle 11"/>
          <p:cNvSpPr/>
          <p:nvPr/>
        </p:nvSpPr>
        <p:spPr>
          <a:xfrm>
            <a:off x="7863840" y="2926080"/>
            <a:ext cx="3794760" cy="13716"/>
          </a:xfrm>
          <a:prstGeom prst="rect">
            <a:avLst/>
          </a:prstGeom>
          <a:solidFill>
            <a:srgbClr val="DDE3EA"/>
          </a:solidFill>
          <a:ln>
            <a:noFill/>
          </a:ln>
          <a:effectLst/>
        </p:spPr>
        <p:txBody>
          <a:bodyPr rtlCol="0" anchor="ctr"/>
          <a:lstStyle/>
          <a:p>
            <a:pPr algn="ctr"/>
          </a:p>
        </p:txBody>
      </p:sp>
      <p:sp>
        <p:nvSpPr>
          <p:cNvPr id="13" name="TextBox 12"/>
          <p:cNvSpPr txBox="1"/>
          <p:nvPr/>
        </p:nvSpPr>
        <p:spPr>
          <a:xfrm>
            <a:off x="7863840" y="3108960"/>
            <a:ext cx="3794760" cy="274320"/>
          </a:xfrm>
          <a:prstGeom prst="rect">
            <a:avLst/>
          </a:prstGeom>
          <a:noFill/>
        </p:spPr>
        <p:txBody>
          <a:bodyPr wrap="square" lIns="0" rIns="0" tIns="0" bIns="0" anchor="t">
            <a:spAutoFit/>
          </a:bodyPr>
          <a:lstStyle/>
          <a:p>
            <a:pPr algn="l">
              <a:lnSpc>
                <a:spcPct val="100000"/>
              </a:lnSpc>
              <a:spcAft>
                <a:spcPts val="0"/>
              </a:spcAft>
            </a:pPr>
            <a:r>
              <a:rPr sz="1100" b="1">
                <a:solidFill>
                  <a:srgbClr val="1F6FEB"/>
                </a:solidFill>
                <a:latin typeface="Arial"/>
              </a:rPr>
              <a:t>AMPLITUDE ESTIMATION, IBM &amp; IQM</a:t>
            </a:r>
          </a:p>
        </p:txBody>
      </p:sp>
      <p:sp>
        <p:nvSpPr>
          <p:cNvPr id="14" name="TextBox 13"/>
          <p:cNvSpPr txBox="1"/>
          <p:nvPr/>
        </p:nvSpPr>
        <p:spPr>
          <a:xfrm>
            <a:off x="7863840" y="3364992"/>
            <a:ext cx="3794760" cy="274320"/>
          </a:xfrm>
          <a:prstGeom prst="rect">
            <a:avLst/>
          </a:prstGeom>
          <a:noFill/>
        </p:spPr>
        <p:txBody>
          <a:bodyPr wrap="square" lIns="0" rIns="0" tIns="0" bIns="0" anchor="t">
            <a:spAutoFit/>
          </a:bodyPr>
          <a:lstStyle/>
          <a:p>
            <a:pPr algn="l">
              <a:lnSpc>
                <a:spcPct val="100000"/>
              </a:lnSpc>
              <a:spcAft>
                <a:spcPts val="0"/>
              </a:spcAft>
            </a:pPr>
            <a:r>
              <a:rPr sz="1300" b="0">
                <a:solidFill>
                  <a:srgbClr val="6B7280"/>
                </a:solidFill>
                <a:latin typeface="Arial"/>
              </a:rPr>
              <a:t>P(Kittilä and Ivalo both pass 1-in-50)</a:t>
            </a:r>
          </a:p>
        </p:txBody>
      </p:sp>
      <p:sp>
        <p:nvSpPr>
          <p:cNvPr id="15" name="TextBox 14"/>
          <p:cNvSpPr txBox="1"/>
          <p:nvPr/>
        </p:nvSpPr>
        <p:spPr>
          <a:xfrm>
            <a:off x="7863840" y="3712463"/>
            <a:ext cx="1737360" cy="365760"/>
          </a:xfrm>
          <a:prstGeom prst="rect">
            <a:avLst/>
          </a:prstGeom>
          <a:noFill/>
        </p:spPr>
        <p:txBody>
          <a:bodyPr wrap="square" lIns="0" rIns="0" tIns="0" bIns="0" anchor="t">
            <a:spAutoFit/>
          </a:bodyPr>
          <a:lstStyle/>
          <a:p>
            <a:pPr algn="l">
              <a:lnSpc>
                <a:spcPct val="100000"/>
              </a:lnSpc>
              <a:spcAft>
                <a:spcPts val="0"/>
              </a:spcAft>
            </a:pPr>
            <a:r>
              <a:rPr sz="1500" b="1">
                <a:solidFill>
                  <a:srgbClr val="0B1F3A"/>
                </a:solidFill>
                <a:latin typeface="Arial"/>
              </a:rPr>
              <a:t>Exact</a:t>
            </a:r>
          </a:p>
        </p:txBody>
      </p:sp>
      <p:sp>
        <p:nvSpPr>
          <p:cNvPr id="16" name="TextBox 15"/>
          <p:cNvSpPr txBox="1"/>
          <p:nvPr/>
        </p:nvSpPr>
        <p:spPr>
          <a:xfrm>
            <a:off x="9555480" y="3730752"/>
            <a:ext cx="960120" cy="365760"/>
          </a:xfrm>
          <a:prstGeom prst="rect">
            <a:avLst/>
          </a:prstGeom>
          <a:noFill/>
        </p:spPr>
        <p:txBody>
          <a:bodyPr wrap="square" lIns="0" rIns="0" tIns="0" bIns="0" anchor="t">
            <a:spAutoFit/>
          </a:bodyPr>
          <a:lstStyle/>
          <a:p>
            <a:pPr algn="r">
              <a:lnSpc>
                <a:spcPct val="100000"/>
              </a:lnSpc>
              <a:spcAft>
                <a:spcPts val="0"/>
              </a:spcAft>
            </a:pPr>
            <a:r>
              <a:rPr sz="1300" b="0">
                <a:solidFill>
                  <a:srgbClr val="6B7280"/>
                </a:solidFill>
                <a:latin typeface="Arial"/>
              </a:rPr>
              <a:t/>
            </a:r>
          </a:p>
        </p:txBody>
      </p:sp>
      <p:sp>
        <p:nvSpPr>
          <p:cNvPr id="17" name="TextBox 16"/>
          <p:cNvSpPr txBox="1"/>
          <p:nvPr/>
        </p:nvSpPr>
        <p:spPr>
          <a:xfrm>
            <a:off x="10515600" y="3639312"/>
            <a:ext cx="1143000" cy="457200"/>
          </a:xfrm>
          <a:prstGeom prst="rect">
            <a:avLst/>
          </a:prstGeom>
          <a:noFill/>
        </p:spPr>
        <p:txBody>
          <a:bodyPr wrap="square" lIns="0" rIns="0" tIns="0" bIns="0" anchor="t">
            <a:spAutoFit/>
          </a:bodyPr>
          <a:lstStyle/>
          <a:p>
            <a:pPr algn="r">
              <a:lnSpc>
                <a:spcPct val="100000"/>
              </a:lnSpc>
              <a:spcAft>
                <a:spcPts val="0"/>
              </a:spcAft>
            </a:pPr>
            <a:r>
              <a:rPr sz="2200" b="1">
                <a:solidFill>
                  <a:srgbClr val="0B1F3A"/>
                </a:solidFill>
                <a:latin typeface="Arial"/>
              </a:rPr>
              <a:t>0.125 %</a:t>
            </a:r>
          </a:p>
        </p:txBody>
      </p:sp>
      <p:sp>
        <p:nvSpPr>
          <p:cNvPr id="18" name="Rectangle 17"/>
          <p:cNvSpPr/>
          <p:nvPr/>
        </p:nvSpPr>
        <p:spPr>
          <a:xfrm>
            <a:off x="7863840" y="4123944"/>
            <a:ext cx="3794760" cy="10972"/>
          </a:xfrm>
          <a:prstGeom prst="rect">
            <a:avLst/>
          </a:prstGeom>
          <a:solidFill>
            <a:srgbClr val="DDE3EA"/>
          </a:solidFill>
          <a:ln>
            <a:noFill/>
          </a:ln>
          <a:effectLst/>
        </p:spPr>
        <p:txBody>
          <a:bodyPr rtlCol="0" anchor="ctr"/>
          <a:lstStyle/>
          <a:p>
            <a:pPr algn="ctr"/>
          </a:p>
        </p:txBody>
      </p:sp>
      <p:sp>
        <p:nvSpPr>
          <p:cNvPr id="19" name="TextBox 18"/>
          <p:cNvSpPr txBox="1"/>
          <p:nvPr/>
        </p:nvSpPr>
        <p:spPr>
          <a:xfrm>
            <a:off x="7863840" y="4224528"/>
            <a:ext cx="1737360" cy="365760"/>
          </a:xfrm>
          <a:prstGeom prst="rect">
            <a:avLst/>
          </a:prstGeom>
          <a:noFill/>
        </p:spPr>
        <p:txBody>
          <a:bodyPr wrap="square" lIns="0" rIns="0" tIns="0" bIns="0" anchor="t">
            <a:spAutoFit/>
          </a:bodyPr>
          <a:lstStyle/>
          <a:p>
            <a:pPr algn="l">
              <a:lnSpc>
                <a:spcPct val="100000"/>
              </a:lnSpc>
              <a:spcAft>
                <a:spcPts val="0"/>
              </a:spcAft>
            </a:pPr>
            <a:r>
              <a:rPr sz="1500" b="1">
                <a:solidFill>
                  <a:srgbClr val="0B1F3A"/>
                </a:solidFill>
                <a:latin typeface="Arial"/>
              </a:rPr>
              <a:t>IBM Marrakesh</a:t>
            </a:r>
          </a:p>
        </p:txBody>
      </p:sp>
      <p:sp>
        <p:nvSpPr>
          <p:cNvPr id="20" name="TextBox 19"/>
          <p:cNvSpPr txBox="1"/>
          <p:nvPr/>
        </p:nvSpPr>
        <p:spPr>
          <a:xfrm>
            <a:off x="9555480" y="4242816"/>
            <a:ext cx="960120" cy="365760"/>
          </a:xfrm>
          <a:prstGeom prst="rect">
            <a:avLst/>
          </a:prstGeom>
          <a:noFill/>
        </p:spPr>
        <p:txBody>
          <a:bodyPr wrap="square" lIns="0" rIns="0" tIns="0" bIns="0" anchor="t">
            <a:spAutoFit/>
          </a:bodyPr>
          <a:lstStyle/>
          <a:p>
            <a:pPr algn="r">
              <a:lnSpc>
                <a:spcPct val="100000"/>
              </a:lnSpc>
              <a:spcAft>
                <a:spcPts val="0"/>
              </a:spcAft>
            </a:pPr>
            <a:r>
              <a:rPr sz="1300" b="0">
                <a:solidFill>
                  <a:srgbClr val="6B7280"/>
                </a:solidFill>
                <a:latin typeface="Arial"/>
              </a:rPr>
              <a:t>0.262 →</a:t>
            </a:r>
          </a:p>
        </p:txBody>
      </p:sp>
      <p:sp>
        <p:nvSpPr>
          <p:cNvPr id="21" name="TextBox 20"/>
          <p:cNvSpPr txBox="1"/>
          <p:nvPr/>
        </p:nvSpPr>
        <p:spPr>
          <a:xfrm>
            <a:off x="10515600" y="4151376"/>
            <a:ext cx="1143000" cy="457200"/>
          </a:xfrm>
          <a:prstGeom prst="rect">
            <a:avLst/>
          </a:prstGeom>
          <a:noFill/>
        </p:spPr>
        <p:txBody>
          <a:bodyPr wrap="square" lIns="0" rIns="0" tIns="0" bIns="0" anchor="t">
            <a:spAutoFit/>
          </a:bodyPr>
          <a:lstStyle/>
          <a:p>
            <a:pPr algn="r">
              <a:lnSpc>
                <a:spcPct val="100000"/>
              </a:lnSpc>
              <a:spcAft>
                <a:spcPts val="0"/>
              </a:spcAft>
            </a:pPr>
            <a:r>
              <a:rPr sz="2200" b="1">
                <a:solidFill>
                  <a:srgbClr val="1F6FEB"/>
                </a:solidFill>
                <a:latin typeface="Arial"/>
              </a:rPr>
              <a:t>0.148 %</a:t>
            </a:r>
          </a:p>
        </p:txBody>
      </p:sp>
      <p:sp>
        <p:nvSpPr>
          <p:cNvPr id="22" name="Rectangle 21"/>
          <p:cNvSpPr/>
          <p:nvPr/>
        </p:nvSpPr>
        <p:spPr>
          <a:xfrm>
            <a:off x="7863840" y="4636008"/>
            <a:ext cx="3794760" cy="10972"/>
          </a:xfrm>
          <a:prstGeom prst="rect">
            <a:avLst/>
          </a:prstGeom>
          <a:solidFill>
            <a:srgbClr val="DDE3EA"/>
          </a:solidFill>
          <a:ln>
            <a:noFill/>
          </a:ln>
          <a:effectLst/>
        </p:spPr>
        <p:txBody>
          <a:bodyPr rtlCol="0" anchor="ctr"/>
          <a:lstStyle/>
          <a:p>
            <a:pPr algn="ctr"/>
          </a:p>
        </p:txBody>
      </p:sp>
      <p:sp>
        <p:nvSpPr>
          <p:cNvPr id="23" name="TextBox 22"/>
          <p:cNvSpPr txBox="1"/>
          <p:nvPr/>
        </p:nvSpPr>
        <p:spPr>
          <a:xfrm>
            <a:off x="7863840" y="4736592"/>
            <a:ext cx="1737360" cy="365760"/>
          </a:xfrm>
          <a:prstGeom prst="rect">
            <a:avLst/>
          </a:prstGeom>
          <a:noFill/>
        </p:spPr>
        <p:txBody>
          <a:bodyPr wrap="square" lIns="0" rIns="0" tIns="0" bIns="0" anchor="t">
            <a:spAutoFit/>
          </a:bodyPr>
          <a:lstStyle/>
          <a:p>
            <a:pPr algn="l">
              <a:lnSpc>
                <a:spcPct val="100000"/>
              </a:lnSpc>
              <a:spcAft>
                <a:spcPts val="0"/>
              </a:spcAft>
            </a:pPr>
            <a:r>
              <a:rPr sz="1500" b="1">
                <a:solidFill>
                  <a:srgbClr val="0B1F3A"/>
                </a:solidFill>
                <a:latin typeface="Arial"/>
              </a:rPr>
              <a:t>IQM Garnet</a:t>
            </a:r>
          </a:p>
        </p:txBody>
      </p:sp>
      <p:sp>
        <p:nvSpPr>
          <p:cNvPr id="24" name="TextBox 23"/>
          <p:cNvSpPr txBox="1"/>
          <p:nvPr/>
        </p:nvSpPr>
        <p:spPr>
          <a:xfrm>
            <a:off x="9555480" y="4754879"/>
            <a:ext cx="960120" cy="365760"/>
          </a:xfrm>
          <a:prstGeom prst="rect">
            <a:avLst/>
          </a:prstGeom>
          <a:noFill/>
        </p:spPr>
        <p:txBody>
          <a:bodyPr wrap="square" lIns="0" rIns="0" tIns="0" bIns="0" anchor="t">
            <a:spAutoFit/>
          </a:bodyPr>
          <a:lstStyle/>
          <a:p>
            <a:pPr algn="r">
              <a:lnSpc>
                <a:spcPct val="100000"/>
              </a:lnSpc>
              <a:spcAft>
                <a:spcPts val="0"/>
              </a:spcAft>
            </a:pPr>
            <a:r>
              <a:rPr sz="1300" b="0">
                <a:solidFill>
                  <a:srgbClr val="6B7280"/>
                </a:solidFill>
                <a:latin typeface="Arial"/>
              </a:rPr>
              <a:t>0.368 →</a:t>
            </a:r>
          </a:p>
        </p:txBody>
      </p:sp>
      <p:sp>
        <p:nvSpPr>
          <p:cNvPr id="25" name="TextBox 24"/>
          <p:cNvSpPr txBox="1"/>
          <p:nvPr/>
        </p:nvSpPr>
        <p:spPr>
          <a:xfrm>
            <a:off x="10515600" y="4663440"/>
            <a:ext cx="1143000" cy="457200"/>
          </a:xfrm>
          <a:prstGeom prst="rect">
            <a:avLst/>
          </a:prstGeom>
          <a:noFill/>
        </p:spPr>
        <p:txBody>
          <a:bodyPr wrap="square" lIns="0" rIns="0" tIns="0" bIns="0" anchor="t">
            <a:spAutoFit/>
          </a:bodyPr>
          <a:lstStyle/>
          <a:p>
            <a:pPr algn="r">
              <a:lnSpc>
                <a:spcPct val="100000"/>
              </a:lnSpc>
              <a:spcAft>
                <a:spcPts val="0"/>
              </a:spcAft>
            </a:pPr>
            <a:r>
              <a:rPr sz="2200" b="1">
                <a:solidFill>
                  <a:srgbClr val="1F6FEB"/>
                </a:solidFill>
                <a:latin typeface="Arial"/>
              </a:rPr>
              <a:t>0.163 %</a:t>
            </a:r>
          </a:p>
        </p:txBody>
      </p:sp>
      <p:sp>
        <p:nvSpPr>
          <p:cNvPr id="26" name="Rectangle 25"/>
          <p:cNvSpPr/>
          <p:nvPr/>
        </p:nvSpPr>
        <p:spPr>
          <a:xfrm>
            <a:off x="7863840" y="5148072"/>
            <a:ext cx="3794760" cy="10972"/>
          </a:xfrm>
          <a:prstGeom prst="rect">
            <a:avLst/>
          </a:prstGeom>
          <a:solidFill>
            <a:srgbClr val="DDE3EA"/>
          </a:solidFill>
          <a:ln>
            <a:noFill/>
          </a:ln>
          <a:effectLst/>
        </p:spPr>
        <p:txBody>
          <a:bodyPr rtlCol="0" anchor="ctr"/>
          <a:lstStyle/>
          <a:p>
            <a:pPr algn="ctr"/>
          </a:p>
        </p:txBody>
      </p:sp>
      <p:sp>
        <p:nvSpPr>
          <p:cNvPr id="27" name="TextBox 26"/>
          <p:cNvSpPr txBox="1"/>
          <p:nvPr/>
        </p:nvSpPr>
        <p:spPr>
          <a:xfrm>
            <a:off x="7863840" y="5221224"/>
            <a:ext cx="3794760" cy="274320"/>
          </a:xfrm>
          <a:prstGeom prst="rect">
            <a:avLst/>
          </a:prstGeom>
          <a:noFill/>
        </p:spPr>
        <p:txBody>
          <a:bodyPr wrap="square" lIns="0" rIns="0" tIns="0" bIns="0" anchor="t">
            <a:spAutoFit/>
          </a:bodyPr>
          <a:lstStyle/>
          <a:p>
            <a:pPr algn="r">
              <a:lnSpc>
                <a:spcPct val="100000"/>
              </a:lnSpc>
              <a:spcAft>
                <a:spcPts val="0"/>
              </a:spcAft>
            </a:pPr>
            <a:r>
              <a:rPr sz="1100" b="0">
                <a:solidFill>
                  <a:srgbClr val="6B7280"/>
                </a:solidFill>
                <a:latin typeface="Arial"/>
              </a:rPr>
              <a:t>raw → calibrated</a:t>
            </a:r>
          </a:p>
        </p:txBody>
      </p:sp>
      <p:sp>
        <p:nvSpPr>
          <p:cNvPr id="28" name="TextBox 27"/>
          <p:cNvSpPr txBox="1"/>
          <p:nvPr/>
        </p:nvSpPr>
        <p:spPr>
          <a:xfrm>
            <a:off x="7863840" y="5577840"/>
            <a:ext cx="3794760" cy="365760"/>
          </a:xfrm>
          <a:prstGeom prst="rect">
            <a:avLst/>
          </a:prstGeom>
          <a:noFill/>
        </p:spPr>
        <p:txBody>
          <a:bodyPr wrap="square" lIns="0" rIns="0" tIns="0" bIns="0" anchor="t">
            <a:spAutoFit/>
          </a:bodyPr>
          <a:lstStyle/>
          <a:p>
            <a:pPr algn="l">
              <a:lnSpc>
                <a:spcPct val="100000"/>
              </a:lnSpc>
              <a:spcAft>
                <a:spcPts val="0"/>
              </a:spcAft>
            </a:pPr>
            <a:r>
              <a:rPr sz="1200" b="0">
                <a:solidFill>
                  <a:srgbClr val="0B1F3A"/>
                </a:solidFill>
                <a:latin typeface="Arial"/>
              </a:rPr>
              <a:t>Also native Qrisp on IQM Garnet; 20–25 side-by-side copies on IBM.</a:t>
            </a:r>
          </a:p>
        </p:txBody>
      </p:sp>
      <p:sp>
        <p:nvSpPr>
          <p:cNvPr id="29" name="TextBox 28"/>
          <p:cNvSpPr txBox="1"/>
          <p:nvPr/>
        </p:nvSpPr>
        <p:spPr>
          <a:xfrm>
            <a:off x="548640" y="6473952"/>
            <a:ext cx="9082735" cy="274320"/>
          </a:xfrm>
          <a:prstGeom prst="rect">
            <a:avLst/>
          </a:prstGeom>
          <a:noFill/>
        </p:spPr>
        <p:txBody>
          <a:bodyPr wrap="square" lIns="0" rIns="0" tIns="0" bIns="0" anchor="t">
            <a:spAutoFit/>
          </a:bodyPr>
          <a:lstStyle/>
          <a:p>
            <a:pPr algn="l">
              <a:lnSpc>
                <a:spcPct val="100000"/>
              </a:lnSpc>
              <a:spcAft>
                <a:spcPts val="0"/>
              </a:spcAft>
            </a:pPr>
            <a:r>
              <a:rPr sz="1000" b="0">
                <a:solidFill>
                  <a:srgbClr val="6B7280"/>
                </a:solidFill>
                <a:latin typeface="Arial"/>
              </a:rPr>
              <a:t>IQM Emerald job 01a11cd4…, 8,000 shots; IBM ibm_marrakesh (best-qubit run, 20 copies); IQM Garnet 4 copies, 120k shots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lnSpc>
                <a:spcPct val="100000"/>
              </a:lnSpc>
              <a:spcAft>
                <a:spcPts val="0"/>
              </a:spcAft>
            </a:pPr>
            <a:r>
              <a:rPr sz="1200" b="1">
                <a:solidFill>
                  <a:srgbClr val="1F6FEB"/>
                </a:solidFill>
                <a:latin typeface="Arial"/>
              </a:rPr>
              <a:t>QUANTUM, HONESTLY</a:t>
            </a:r>
          </a:p>
        </p:txBody>
      </p:sp>
      <p:sp>
        <p:nvSpPr>
          <p:cNvPr id="3" name="TextBox 2"/>
          <p:cNvSpPr txBox="1"/>
          <p:nvPr/>
        </p:nvSpPr>
        <p:spPr>
          <a:xfrm>
            <a:off x="548640" y="658368"/>
            <a:ext cx="11094415" cy="685800"/>
          </a:xfrm>
          <a:prstGeom prst="rect">
            <a:avLst/>
          </a:prstGeom>
          <a:noFill/>
        </p:spPr>
        <p:txBody>
          <a:bodyPr wrap="square" lIns="0" rIns="0" tIns="0" bIns="0" anchor="t">
            <a:spAutoFit/>
          </a:bodyPr>
          <a:lstStyle/>
          <a:p>
            <a:pPr algn="l">
              <a:lnSpc>
                <a:spcPct val="100000"/>
              </a:lnSpc>
              <a:spcAft>
                <a:spcPts val="0"/>
              </a:spcAft>
            </a:pPr>
            <a:r>
              <a:rPr sz="3000" b="1">
                <a:solidFill>
                  <a:srgbClr val="0B1F3A"/>
                </a:solidFill>
                <a:latin typeface="Arial"/>
              </a:rPr>
              <a:t>Classical Monte Carlo still wins today</a:t>
            </a:r>
          </a:p>
        </p:txBody>
      </p:sp>
      <p:sp>
        <p:nvSpPr>
          <p:cNvPr id="4" name="TextBox 3"/>
          <p:cNvSpPr txBox="1"/>
          <p:nvPr/>
        </p:nvSpPr>
        <p:spPr>
          <a:xfrm>
            <a:off x="9814255" y="6473952"/>
            <a:ext cx="1828800" cy="228600"/>
          </a:xfrm>
          <a:prstGeom prst="rect">
            <a:avLst/>
          </a:prstGeom>
          <a:noFill/>
        </p:spPr>
        <p:txBody>
          <a:bodyPr wrap="square" lIns="0" rIns="0" tIns="0" bIns="0" anchor="t">
            <a:spAutoFit/>
          </a:bodyPr>
          <a:lstStyle/>
          <a:p>
            <a:pPr algn="r">
              <a:lnSpc>
                <a:spcPct val="100000"/>
              </a:lnSpc>
              <a:spcAft>
                <a:spcPts val="0"/>
              </a:spcAft>
            </a:pPr>
            <a:r>
              <a:rPr sz="1100" b="1">
                <a:solidFill>
                  <a:srgbClr val="0B1F3A"/>
                </a:solidFill>
                <a:latin typeface="Arial"/>
              </a:rPr>
              <a:t>Tulva</a:t>
            </a:r>
            <a:r>
              <a:rPr sz="1100" b="0">
                <a:solidFill>
                  <a:srgbClr val="6B7280"/>
                </a:solidFill>
                <a:latin typeface="Arial"/>
              </a:rPr>
              <a:t>   7</a:t>
            </a:r>
          </a:p>
        </p:txBody>
      </p:sp>
      <p:pic>
        <p:nvPicPr>
          <p:cNvPr id="5" name="Picture 4" descr="qae_scaling.png"/>
          <p:cNvPicPr>
            <a:picLocks noChangeAspect="1"/>
          </p:cNvPicPr>
          <p:nvPr/>
        </p:nvPicPr>
        <p:blipFill>
          <a:blip r:embed="rId2"/>
          <a:stretch>
            <a:fillRect/>
          </a:stretch>
        </p:blipFill>
        <p:spPr>
          <a:xfrm>
            <a:off x="548640" y="1508760"/>
            <a:ext cx="6949440" cy="4169663"/>
          </a:xfrm>
          <a:prstGeom prst="rect">
            <a:avLst/>
          </a:prstGeom>
        </p:spPr>
      </p:pic>
      <p:sp>
        <p:nvSpPr>
          <p:cNvPr id="6" name="TextBox 5"/>
          <p:cNvSpPr txBox="1"/>
          <p:nvPr/>
        </p:nvSpPr>
        <p:spPr>
          <a:xfrm>
            <a:off x="8001000" y="1600200"/>
            <a:ext cx="3657600" cy="365760"/>
          </a:xfrm>
          <a:prstGeom prst="rect">
            <a:avLst/>
          </a:prstGeom>
          <a:noFill/>
        </p:spPr>
        <p:txBody>
          <a:bodyPr wrap="square" lIns="0" rIns="0" tIns="0" bIns="0" anchor="t">
            <a:spAutoFit/>
          </a:bodyPr>
          <a:lstStyle/>
          <a:p>
            <a:pPr algn="l">
              <a:lnSpc>
                <a:spcPct val="100000"/>
              </a:lnSpc>
              <a:spcAft>
                <a:spcPts val="0"/>
              </a:spcAft>
            </a:pPr>
            <a:r>
              <a:rPr sz="1600" b="1">
                <a:solidFill>
                  <a:srgbClr val="1F6FEB"/>
                </a:solidFill>
                <a:latin typeface="Arial"/>
              </a:rPr>
              <a:t>Quantum wins at scale, with:</a:t>
            </a:r>
          </a:p>
        </p:txBody>
      </p:sp>
      <p:sp>
        <p:nvSpPr>
          <p:cNvPr id="7" name="Rectangle 6"/>
          <p:cNvSpPr/>
          <p:nvPr/>
        </p:nvSpPr>
        <p:spPr>
          <a:xfrm>
            <a:off x="8001000" y="2221992"/>
            <a:ext cx="73152" cy="685800"/>
          </a:xfrm>
          <a:prstGeom prst="rect">
            <a:avLst/>
          </a:prstGeom>
          <a:solidFill>
            <a:srgbClr val="1F6FEB"/>
          </a:solidFill>
          <a:ln>
            <a:noFill/>
          </a:ln>
          <a:effectLst/>
        </p:spPr>
        <p:txBody>
          <a:bodyPr rtlCol="0" anchor="ctr"/>
          <a:lstStyle/>
          <a:p>
            <a:pPr algn="ctr"/>
          </a:p>
        </p:txBody>
      </p:sp>
      <p:sp>
        <p:nvSpPr>
          <p:cNvPr id="8" name="TextBox 7"/>
          <p:cNvSpPr txBox="1"/>
          <p:nvPr/>
        </p:nvSpPr>
        <p:spPr>
          <a:xfrm>
            <a:off x="8275320" y="2148840"/>
            <a:ext cx="3383280" cy="914400"/>
          </a:xfrm>
          <a:prstGeom prst="rect">
            <a:avLst/>
          </a:prstGeom>
          <a:noFill/>
        </p:spPr>
        <p:txBody>
          <a:bodyPr wrap="square" lIns="0" rIns="0" tIns="0" bIns="0" anchor="t">
            <a:spAutoFit/>
          </a:bodyPr>
          <a:lstStyle/>
          <a:p>
            <a:pPr algn="l">
              <a:lnSpc>
                <a:spcPct val="100000"/>
              </a:lnSpc>
              <a:spcAft>
                <a:spcPts val="0"/>
              </a:spcAft>
            </a:pPr>
            <a:r>
              <a:rPr sz="1600" b="1">
                <a:solidFill>
                  <a:srgbClr val="0B1F3A"/>
                </a:solidFill>
                <a:latin typeface="Arial"/>
              </a:rPr>
              <a:t>Fault-tolerant hardware</a:t>
            </a:r>
          </a:p>
          <a:p>
            <a:pPr algn="l">
              <a:lnSpc>
                <a:spcPct val="100000"/>
              </a:lnSpc>
              <a:spcAft>
                <a:spcPts val="0"/>
              </a:spcAft>
            </a:pPr>
            <a:r>
              <a:rPr sz="1300" b="0">
                <a:solidFill>
                  <a:srgbClr val="6B7280"/>
                </a:solidFill>
                <a:latin typeface="Arial"/>
              </a:rPr>
              <a:t>~8k logical qubits for comparable pricing (Chakrabarti et al. 2021)</a:t>
            </a:r>
          </a:p>
        </p:txBody>
      </p:sp>
      <p:sp>
        <p:nvSpPr>
          <p:cNvPr id="9" name="Rectangle 8"/>
          <p:cNvSpPr/>
          <p:nvPr/>
        </p:nvSpPr>
        <p:spPr>
          <a:xfrm>
            <a:off x="8001000" y="3273552"/>
            <a:ext cx="73152" cy="457200"/>
          </a:xfrm>
          <a:prstGeom prst="rect">
            <a:avLst/>
          </a:prstGeom>
          <a:solidFill>
            <a:srgbClr val="1F6FEB"/>
          </a:solidFill>
          <a:ln>
            <a:noFill/>
          </a:ln>
          <a:effectLst/>
        </p:spPr>
        <p:txBody>
          <a:bodyPr rtlCol="0" anchor="ctr"/>
          <a:lstStyle/>
          <a:p>
            <a:pPr algn="ctr"/>
          </a:p>
        </p:txBody>
      </p:sp>
      <p:sp>
        <p:nvSpPr>
          <p:cNvPr id="10" name="TextBox 9"/>
          <p:cNvSpPr txBox="1"/>
          <p:nvPr/>
        </p:nvSpPr>
        <p:spPr>
          <a:xfrm>
            <a:off x="8275320" y="3200400"/>
            <a:ext cx="3383280" cy="914400"/>
          </a:xfrm>
          <a:prstGeom prst="rect">
            <a:avLst/>
          </a:prstGeom>
          <a:noFill/>
        </p:spPr>
        <p:txBody>
          <a:bodyPr wrap="square" lIns="0" rIns="0" tIns="0" bIns="0" anchor="t">
            <a:spAutoFit/>
          </a:bodyPr>
          <a:lstStyle/>
          <a:p>
            <a:pPr algn="l">
              <a:lnSpc>
                <a:spcPct val="100000"/>
              </a:lnSpc>
              <a:spcAft>
                <a:spcPts val="0"/>
              </a:spcAft>
            </a:pPr>
            <a:r>
              <a:rPr sz="1600" b="1">
                <a:solidFill>
                  <a:srgbClr val="0B1F3A"/>
                </a:solidFill>
                <a:latin typeface="Arial"/>
              </a:rPr>
              <a:t>Expensive models</a:t>
            </a:r>
          </a:p>
          <a:p>
            <a:pPr algn="l">
              <a:lnSpc>
                <a:spcPct val="100000"/>
              </a:lnSpc>
              <a:spcAft>
                <a:spcPts val="0"/>
              </a:spcAft>
            </a:pPr>
            <a:r>
              <a:rPr sz="1300" b="0">
                <a:solidFill>
                  <a:srgbClr val="6B7280"/>
                </a:solidFill>
                <a:latin typeface="Arial"/>
              </a:rPr>
              <a:t>full hydrological simulation per scenario</a:t>
            </a:r>
          </a:p>
        </p:txBody>
      </p:sp>
      <p:sp>
        <p:nvSpPr>
          <p:cNvPr id="11" name="Rectangle 10"/>
          <p:cNvSpPr/>
          <p:nvPr/>
        </p:nvSpPr>
        <p:spPr>
          <a:xfrm>
            <a:off x="8001000" y="4325112"/>
            <a:ext cx="73152" cy="457200"/>
          </a:xfrm>
          <a:prstGeom prst="rect">
            <a:avLst/>
          </a:prstGeom>
          <a:solidFill>
            <a:srgbClr val="1F6FEB"/>
          </a:solidFill>
          <a:ln>
            <a:noFill/>
          </a:ln>
          <a:effectLst/>
        </p:spPr>
        <p:txBody>
          <a:bodyPr rtlCol="0" anchor="ctr"/>
          <a:lstStyle/>
          <a:p>
            <a:pPr algn="ctr"/>
          </a:p>
        </p:txBody>
      </p:sp>
      <p:sp>
        <p:nvSpPr>
          <p:cNvPr id="12" name="TextBox 11"/>
          <p:cNvSpPr txBox="1"/>
          <p:nvPr/>
        </p:nvSpPr>
        <p:spPr>
          <a:xfrm>
            <a:off x="8275320" y="4251960"/>
            <a:ext cx="3383280" cy="914400"/>
          </a:xfrm>
          <a:prstGeom prst="rect">
            <a:avLst/>
          </a:prstGeom>
          <a:noFill/>
        </p:spPr>
        <p:txBody>
          <a:bodyPr wrap="square" lIns="0" rIns="0" tIns="0" bIns="0" anchor="t">
            <a:spAutoFit/>
          </a:bodyPr>
          <a:lstStyle/>
          <a:p>
            <a:pPr algn="l">
              <a:lnSpc>
                <a:spcPct val="100000"/>
              </a:lnSpc>
              <a:spcAft>
                <a:spcPts val="0"/>
              </a:spcAft>
            </a:pPr>
            <a:r>
              <a:rPr sz="1600" b="1">
                <a:solidFill>
                  <a:srgbClr val="0B1F3A"/>
                </a:solidFill>
                <a:latin typeface="Arial"/>
              </a:rPr>
              <a:t>More work per price</a:t>
            </a:r>
          </a:p>
          <a:p>
            <a:pPr algn="l">
              <a:lnSpc>
                <a:spcPct val="100000"/>
              </a:lnSpc>
              <a:spcAft>
                <a:spcPts val="0"/>
              </a:spcAft>
            </a:pPr>
            <a:r>
              <a:rPr sz="1300" b="0">
                <a:solidFill>
                  <a:srgbClr val="6B7280"/>
                </a:solidFill>
                <a:latin typeface="Arial"/>
              </a:rPr>
              <a:t>multi-peril, daily repricing</a:t>
            </a:r>
          </a:p>
        </p:txBody>
      </p:sp>
      <p:sp>
        <p:nvSpPr>
          <p:cNvPr id="13" name="Rectangle 12"/>
          <p:cNvSpPr/>
          <p:nvPr/>
        </p:nvSpPr>
        <p:spPr>
          <a:xfrm>
            <a:off x="8001000" y="5349240"/>
            <a:ext cx="3657600" cy="18288"/>
          </a:xfrm>
          <a:prstGeom prst="rect">
            <a:avLst/>
          </a:prstGeom>
          <a:solidFill>
            <a:srgbClr val="DDE3EA"/>
          </a:solidFill>
          <a:ln>
            <a:noFill/>
          </a:ln>
          <a:effectLst/>
        </p:spPr>
        <p:txBody>
          <a:bodyPr rtlCol="0" anchor="ctr"/>
          <a:lstStyle/>
          <a:p>
            <a:pPr algn="ctr"/>
          </a:p>
        </p:txBody>
      </p:sp>
      <p:sp>
        <p:nvSpPr>
          <p:cNvPr id="14" name="TextBox 13"/>
          <p:cNvSpPr txBox="1"/>
          <p:nvPr/>
        </p:nvSpPr>
        <p:spPr>
          <a:xfrm>
            <a:off x="8001000" y="5440680"/>
            <a:ext cx="3657600" cy="640080"/>
          </a:xfrm>
          <a:prstGeom prst="rect">
            <a:avLst/>
          </a:prstGeom>
          <a:noFill/>
        </p:spPr>
        <p:txBody>
          <a:bodyPr wrap="square" lIns="0" rIns="0" tIns="0" bIns="0" anchor="t">
            <a:spAutoFit/>
          </a:bodyPr>
          <a:lstStyle/>
          <a:p>
            <a:pPr algn="l">
              <a:lnSpc>
                <a:spcPct val="100000"/>
              </a:lnSpc>
              <a:spcAft>
                <a:spcPts val="0"/>
              </a:spcAft>
            </a:pPr>
            <a:r>
              <a:rPr sz="1300" b="0">
                <a:solidFill>
                  <a:srgbClr val="0B1F3A"/>
                </a:solidFill>
                <a:latin typeface="Arial"/>
              </a:rPr>
              <a:t>Ideal QAE error falls like 1/N, Monte Carlo like 1/√N.</a:t>
            </a:r>
          </a:p>
        </p:txBody>
      </p:sp>
      <p:sp>
        <p:nvSpPr>
          <p:cNvPr id="15" name="TextBox 14"/>
          <p:cNvSpPr txBox="1"/>
          <p:nvPr/>
        </p:nvSpPr>
        <p:spPr>
          <a:xfrm>
            <a:off x="548640" y="6473952"/>
            <a:ext cx="9082735" cy="274320"/>
          </a:xfrm>
          <a:prstGeom prst="rect">
            <a:avLst/>
          </a:prstGeom>
          <a:noFill/>
        </p:spPr>
        <p:txBody>
          <a:bodyPr wrap="square" lIns="0" rIns="0" tIns="0" bIns="0" anchor="t">
            <a:spAutoFit/>
          </a:bodyPr>
          <a:lstStyle/>
          <a:p>
            <a:pPr algn="l">
              <a:lnSpc>
                <a:spcPct val="100000"/>
              </a:lnSpc>
              <a:spcAft>
                <a:spcPts val="0"/>
              </a:spcAft>
            </a:pPr>
            <a:r>
              <a:rPr sz="1000" b="0">
                <a:solidFill>
                  <a:srgbClr val="6B7280"/>
                </a:solidFill>
                <a:latin typeface="Arial"/>
              </a:rPr>
              <a:t>Source: Tulva simulations (qae-sim) + IBM Marrakesh / IQM Garnet runs; Chakrabarti et al., Quantum 5, 463 (2021)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lnSpc>
                <a:spcPct val="100000"/>
              </a:lnSpc>
              <a:spcAft>
                <a:spcPts val="0"/>
              </a:spcAft>
            </a:pPr>
            <a:r>
              <a:rPr sz="1200" b="1">
                <a:solidFill>
                  <a:srgbClr val="1F6FEB"/>
                </a:solidFill>
                <a:latin typeface="Arial"/>
              </a:rPr>
              <a:t>BUSINESS</a:t>
            </a:r>
          </a:p>
        </p:txBody>
      </p:sp>
      <p:sp>
        <p:nvSpPr>
          <p:cNvPr id="3" name="TextBox 2"/>
          <p:cNvSpPr txBox="1"/>
          <p:nvPr/>
        </p:nvSpPr>
        <p:spPr>
          <a:xfrm>
            <a:off x="548640" y="658368"/>
            <a:ext cx="11094415" cy="685800"/>
          </a:xfrm>
          <a:prstGeom prst="rect">
            <a:avLst/>
          </a:prstGeom>
          <a:noFill/>
        </p:spPr>
        <p:txBody>
          <a:bodyPr wrap="square" lIns="0" rIns="0" tIns="0" bIns="0" anchor="t">
            <a:spAutoFit/>
          </a:bodyPr>
          <a:lstStyle/>
          <a:p>
            <a:pPr algn="l">
              <a:lnSpc>
                <a:spcPct val="100000"/>
              </a:lnSpc>
              <a:spcAft>
                <a:spcPts val="0"/>
              </a:spcAft>
            </a:pPr>
            <a:r>
              <a:rPr sz="3000" b="1">
                <a:solidFill>
                  <a:srgbClr val="0B1F3A"/>
                </a:solidFill>
                <a:latin typeface="Arial"/>
              </a:rPr>
              <a:t>Who buys, why, and why now</a:t>
            </a:r>
          </a:p>
        </p:txBody>
      </p:sp>
      <p:sp>
        <p:nvSpPr>
          <p:cNvPr id="4" name="TextBox 3"/>
          <p:cNvSpPr txBox="1"/>
          <p:nvPr/>
        </p:nvSpPr>
        <p:spPr>
          <a:xfrm>
            <a:off x="9814255" y="6473952"/>
            <a:ext cx="1828800" cy="228600"/>
          </a:xfrm>
          <a:prstGeom prst="rect">
            <a:avLst/>
          </a:prstGeom>
          <a:noFill/>
        </p:spPr>
        <p:txBody>
          <a:bodyPr wrap="square" lIns="0" rIns="0" tIns="0" bIns="0" anchor="t">
            <a:spAutoFit/>
          </a:bodyPr>
          <a:lstStyle/>
          <a:p>
            <a:pPr algn="r">
              <a:lnSpc>
                <a:spcPct val="100000"/>
              </a:lnSpc>
              <a:spcAft>
                <a:spcPts val="0"/>
              </a:spcAft>
            </a:pPr>
            <a:r>
              <a:rPr sz="1100" b="1">
                <a:solidFill>
                  <a:srgbClr val="0B1F3A"/>
                </a:solidFill>
                <a:latin typeface="Arial"/>
              </a:rPr>
              <a:t>Tulva</a:t>
            </a:r>
            <a:r>
              <a:rPr sz="1100" b="0">
                <a:solidFill>
                  <a:srgbClr val="6B7280"/>
                </a:solidFill>
                <a:latin typeface="Arial"/>
              </a:rPr>
              <a:t>   8</a:t>
            </a:r>
          </a:p>
        </p:txBody>
      </p:sp>
      <p:sp>
        <p:nvSpPr>
          <p:cNvPr id="5" name="Rectangle 4"/>
          <p:cNvSpPr/>
          <p:nvPr/>
        </p:nvSpPr>
        <p:spPr>
          <a:xfrm>
            <a:off x="548640" y="1508760"/>
            <a:ext cx="2606040" cy="3886200"/>
          </a:xfrm>
          <a:prstGeom prst="rect">
            <a:avLst/>
          </a:prstGeom>
          <a:solidFill>
            <a:srgbClr val="F3F6FA"/>
          </a:solidFill>
          <a:ln>
            <a:noFill/>
          </a:ln>
          <a:effectLst/>
        </p:spPr>
        <p:txBody>
          <a:bodyPr rtlCol="0" anchor="ctr"/>
          <a:lstStyle/>
          <a:p>
            <a:pPr algn="ctr"/>
          </a:p>
        </p:txBody>
      </p:sp>
      <p:sp>
        <p:nvSpPr>
          <p:cNvPr id="6" name="Rectangle 5"/>
          <p:cNvSpPr/>
          <p:nvPr/>
        </p:nvSpPr>
        <p:spPr>
          <a:xfrm>
            <a:off x="548640" y="1508760"/>
            <a:ext cx="2606040" cy="64008"/>
          </a:xfrm>
          <a:prstGeom prst="rect">
            <a:avLst/>
          </a:prstGeom>
          <a:solidFill>
            <a:srgbClr val="1F6FEB"/>
          </a:solidFill>
          <a:ln>
            <a:noFill/>
          </a:ln>
          <a:effectLst/>
        </p:spPr>
        <p:txBody>
          <a:bodyPr rtlCol="0" anchor="ctr"/>
          <a:lstStyle/>
          <a:p>
            <a:pPr algn="ctr"/>
          </a:p>
        </p:txBody>
      </p:sp>
      <p:sp>
        <p:nvSpPr>
          <p:cNvPr id="7" name="TextBox 6"/>
          <p:cNvSpPr txBox="1"/>
          <p:nvPr/>
        </p:nvSpPr>
        <p:spPr>
          <a:xfrm>
            <a:off x="777240" y="1755648"/>
            <a:ext cx="2148840" cy="274320"/>
          </a:xfrm>
          <a:prstGeom prst="rect">
            <a:avLst/>
          </a:prstGeom>
          <a:noFill/>
        </p:spPr>
        <p:txBody>
          <a:bodyPr wrap="square" lIns="0" rIns="0" tIns="0" bIns="0" anchor="t">
            <a:spAutoFit/>
          </a:bodyPr>
          <a:lstStyle/>
          <a:p>
            <a:pPr algn="l">
              <a:lnSpc>
                <a:spcPct val="100000"/>
              </a:lnSpc>
              <a:spcAft>
                <a:spcPts val="0"/>
              </a:spcAft>
            </a:pPr>
            <a:r>
              <a:rPr sz="1100" b="1">
                <a:solidFill>
                  <a:srgbClr val="1F6FEB"/>
                </a:solidFill>
                <a:latin typeface="Arial"/>
              </a:rPr>
              <a:t>WHO BUYS</a:t>
            </a:r>
          </a:p>
        </p:txBody>
      </p:sp>
      <p:sp>
        <p:nvSpPr>
          <p:cNvPr id="8" name="TextBox 7"/>
          <p:cNvSpPr txBox="1"/>
          <p:nvPr/>
        </p:nvSpPr>
        <p:spPr>
          <a:xfrm>
            <a:off x="777240" y="2075688"/>
            <a:ext cx="2148840" cy="1005840"/>
          </a:xfrm>
          <a:prstGeom prst="rect">
            <a:avLst/>
          </a:prstGeom>
          <a:noFill/>
        </p:spPr>
        <p:txBody>
          <a:bodyPr wrap="square" lIns="0" rIns="0" tIns="0" bIns="0" anchor="t">
            <a:spAutoFit/>
          </a:bodyPr>
          <a:lstStyle/>
          <a:p>
            <a:pPr algn="l">
              <a:lnSpc>
                <a:spcPct val="95000"/>
              </a:lnSpc>
              <a:spcAft>
                <a:spcPts val="0"/>
              </a:spcAft>
            </a:pPr>
            <a:r>
              <a:rPr sz="2200" b="1">
                <a:solidFill>
                  <a:srgbClr val="0B1F3A"/>
                </a:solidFill>
                <a:latin typeface="Arial"/>
              </a:rPr>
              <a:t>Finnish non-life insurers</a:t>
            </a:r>
          </a:p>
        </p:txBody>
      </p:sp>
      <p:sp>
        <p:nvSpPr>
          <p:cNvPr id="9" name="TextBox 8"/>
          <p:cNvSpPr txBox="1"/>
          <p:nvPr/>
        </p:nvSpPr>
        <p:spPr>
          <a:xfrm>
            <a:off x="777240" y="3200400"/>
            <a:ext cx="2148840" cy="2103120"/>
          </a:xfrm>
          <a:prstGeom prst="rect">
            <a:avLst/>
          </a:prstGeom>
          <a:noFill/>
        </p:spPr>
        <p:txBody>
          <a:bodyPr wrap="square" lIns="0" rIns="0" tIns="0" bIns="0" anchor="t">
            <a:spAutoFit/>
          </a:bodyPr>
          <a:lstStyle/>
          <a:p>
            <a:pPr algn="l">
              <a:lnSpc>
                <a:spcPct val="110000"/>
              </a:lnSpc>
              <a:spcAft>
                <a:spcPts val="0"/>
              </a:spcAft>
            </a:pPr>
            <a:r>
              <a:rPr sz="1500" b="0">
                <a:solidFill>
                  <a:srgbClr val="0B1F3A"/>
                </a:solidFill>
                <a:latin typeface="Arial"/>
              </a:rPr>
              <a:t>For the flood they keep under reinsurance. Four groups write 91 % of the market. Then reinsurers and ILS investors.</a:t>
            </a:r>
          </a:p>
        </p:txBody>
      </p:sp>
      <p:sp>
        <p:nvSpPr>
          <p:cNvPr id="10" name="Rectangle 9"/>
          <p:cNvSpPr/>
          <p:nvPr/>
        </p:nvSpPr>
        <p:spPr>
          <a:xfrm>
            <a:off x="3331159" y="1508760"/>
            <a:ext cx="2606040" cy="3886200"/>
          </a:xfrm>
          <a:prstGeom prst="rect">
            <a:avLst/>
          </a:prstGeom>
          <a:solidFill>
            <a:srgbClr val="F3F6FA"/>
          </a:solidFill>
          <a:ln>
            <a:noFill/>
          </a:ln>
          <a:effectLst/>
        </p:spPr>
        <p:txBody>
          <a:bodyPr rtlCol="0" anchor="ctr"/>
          <a:lstStyle/>
          <a:p>
            <a:pPr algn="ctr"/>
          </a:p>
        </p:txBody>
      </p:sp>
      <p:sp>
        <p:nvSpPr>
          <p:cNvPr id="11" name="Rectangle 10"/>
          <p:cNvSpPr/>
          <p:nvPr/>
        </p:nvSpPr>
        <p:spPr>
          <a:xfrm>
            <a:off x="3331159" y="1508760"/>
            <a:ext cx="2606040" cy="64008"/>
          </a:xfrm>
          <a:prstGeom prst="rect">
            <a:avLst/>
          </a:prstGeom>
          <a:solidFill>
            <a:srgbClr val="1F6FEB"/>
          </a:solidFill>
          <a:ln>
            <a:noFill/>
          </a:ln>
          <a:effectLst/>
        </p:spPr>
        <p:txBody>
          <a:bodyPr rtlCol="0" anchor="ctr"/>
          <a:lstStyle/>
          <a:p>
            <a:pPr algn="ctr"/>
          </a:p>
        </p:txBody>
      </p:sp>
      <p:sp>
        <p:nvSpPr>
          <p:cNvPr id="12" name="TextBox 11"/>
          <p:cNvSpPr txBox="1"/>
          <p:nvPr/>
        </p:nvSpPr>
        <p:spPr>
          <a:xfrm>
            <a:off x="3559759" y="1755648"/>
            <a:ext cx="2148840" cy="274320"/>
          </a:xfrm>
          <a:prstGeom prst="rect">
            <a:avLst/>
          </a:prstGeom>
          <a:noFill/>
        </p:spPr>
        <p:txBody>
          <a:bodyPr wrap="square" lIns="0" rIns="0" tIns="0" bIns="0" anchor="t">
            <a:spAutoFit/>
          </a:bodyPr>
          <a:lstStyle/>
          <a:p>
            <a:pPr algn="l">
              <a:lnSpc>
                <a:spcPct val="100000"/>
              </a:lnSpc>
              <a:spcAft>
                <a:spcPts val="0"/>
              </a:spcAft>
            </a:pPr>
            <a:r>
              <a:rPr sz="1100" b="1">
                <a:solidFill>
                  <a:srgbClr val="1F6FEB"/>
                </a:solidFill>
                <a:latin typeface="Arial"/>
              </a:rPr>
              <a:t>HOW WE EARN</a:t>
            </a:r>
          </a:p>
        </p:txBody>
      </p:sp>
      <p:sp>
        <p:nvSpPr>
          <p:cNvPr id="13" name="TextBox 12"/>
          <p:cNvSpPr txBox="1"/>
          <p:nvPr/>
        </p:nvSpPr>
        <p:spPr>
          <a:xfrm>
            <a:off x="3559759" y="2075688"/>
            <a:ext cx="2148840" cy="1005840"/>
          </a:xfrm>
          <a:prstGeom prst="rect">
            <a:avLst/>
          </a:prstGeom>
          <a:noFill/>
        </p:spPr>
        <p:txBody>
          <a:bodyPr wrap="square" lIns="0" rIns="0" tIns="0" bIns="0" anchor="t">
            <a:spAutoFit/>
          </a:bodyPr>
          <a:lstStyle/>
          <a:p>
            <a:pPr algn="l">
              <a:lnSpc>
                <a:spcPct val="95000"/>
              </a:lnSpc>
              <a:spcAft>
                <a:spcPts val="0"/>
              </a:spcAft>
            </a:pPr>
            <a:r>
              <a:rPr sz="2200" b="1">
                <a:solidFill>
                  <a:srgbClr val="0B1F3A"/>
                </a:solidFill>
                <a:latin typeface="Arial"/>
              </a:rPr>
              <a:t>Engine licence</a:t>
            </a:r>
          </a:p>
        </p:txBody>
      </p:sp>
      <p:sp>
        <p:nvSpPr>
          <p:cNvPr id="14" name="TextBox 13"/>
          <p:cNvSpPr txBox="1"/>
          <p:nvPr/>
        </p:nvSpPr>
        <p:spPr>
          <a:xfrm>
            <a:off x="3559759" y="3200400"/>
            <a:ext cx="2148840" cy="2103120"/>
          </a:xfrm>
          <a:prstGeom prst="rect">
            <a:avLst/>
          </a:prstGeom>
          <a:noFill/>
        </p:spPr>
        <p:txBody>
          <a:bodyPr wrap="square" lIns="0" rIns="0" tIns="0" bIns="0" anchor="t">
            <a:spAutoFit/>
          </a:bodyPr>
          <a:lstStyle/>
          <a:p>
            <a:pPr algn="l">
              <a:lnSpc>
                <a:spcPct val="110000"/>
              </a:lnSpc>
              <a:spcAft>
                <a:spcPts val="0"/>
              </a:spcAft>
            </a:pPr>
            <a:r>
              <a:rPr sz="1500" b="0">
                <a:solidFill>
                  <a:srgbClr val="0B1F3A"/>
                </a:solidFill>
                <a:latin typeface="Arial"/>
              </a:rPr>
              <a:t>Pricing and trigger engine, licensed per insurer or reinsurer. Structuring fee on placed covers.</a:t>
            </a:r>
          </a:p>
        </p:txBody>
      </p:sp>
      <p:sp>
        <p:nvSpPr>
          <p:cNvPr id="15" name="Rectangle 14"/>
          <p:cNvSpPr/>
          <p:nvPr/>
        </p:nvSpPr>
        <p:spPr>
          <a:xfrm>
            <a:off x="6113678" y="1508760"/>
            <a:ext cx="2606040" cy="3886200"/>
          </a:xfrm>
          <a:prstGeom prst="rect">
            <a:avLst/>
          </a:prstGeom>
          <a:solidFill>
            <a:srgbClr val="F3F6FA"/>
          </a:solidFill>
          <a:ln>
            <a:noFill/>
          </a:ln>
          <a:effectLst/>
        </p:spPr>
        <p:txBody>
          <a:bodyPr rtlCol="0" anchor="ctr"/>
          <a:lstStyle/>
          <a:p>
            <a:pPr algn="ctr"/>
          </a:p>
        </p:txBody>
      </p:sp>
      <p:sp>
        <p:nvSpPr>
          <p:cNvPr id="16" name="Rectangle 15"/>
          <p:cNvSpPr/>
          <p:nvPr/>
        </p:nvSpPr>
        <p:spPr>
          <a:xfrm>
            <a:off x="6113678" y="1508760"/>
            <a:ext cx="2606040" cy="64008"/>
          </a:xfrm>
          <a:prstGeom prst="rect">
            <a:avLst/>
          </a:prstGeom>
          <a:solidFill>
            <a:srgbClr val="D13B2F"/>
          </a:solidFill>
          <a:ln>
            <a:noFill/>
          </a:ln>
          <a:effectLst/>
        </p:spPr>
        <p:txBody>
          <a:bodyPr rtlCol="0" anchor="ctr"/>
          <a:lstStyle/>
          <a:p>
            <a:pPr algn="ctr"/>
          </a:p>
        </p:txBody>
      </p:sp>
      <p:sp>
        <p:nvSpPr>
          <p:cNvPr id="17" name="TextBox 16"/>
          <p:cNvSpPr txBox="1"/>
          <p:nvPr/>
        </p:nvSpPr>
        <p:spPr>
          <a:xfrm>
            <a:off x="6342278" y="1755648"/>
            <a:ext cx="2148840" cy="274320"/>
          </a:xfrm>
          <a:prstGeom prst="rect">
            <a:avLst/>
          </a:prstGeom>
          <a:noFill/>
        </p:spPr>
        <p:txBody>
          <a:bodyPr wrap="square" lIns="0" rIns="0" tIns="0" bIns="0" anchor="t">
            <a:spAutoFit/>
          </a:bodyPr>
          <a:lstStyle/>
          <a:p>
            <a:pPr algn="l">
              <a:lnSpc>
                <a:spcPct val="100000"/>
              </a:lnSpc>
              <a:spcAft>
                <a:spcPts val="0"/>
              </a:spcAft>
            </a:pPr>
            <a:r>
              <a:rPr sz="1100" b="1">
                <a:solidFill>
                  <a:srgbClr val="D13B2F"/>
                </a:solidFill>
                <a:latin typeface="Arial"/>
              </a:rPr>
              <a:t>WHY NOW</a:t>
            </a:r>
          </a:p>
        </p:txBody>
      </p:sp>
      <p:sp>
        <p:nvSpPr>
          <p:cNvPr id="18" name="TextBox 17"/>
          <p:cNvSpPr txBox="1"/>
          <p:nvPr/>
        </p:nvSpPr>
        <p:spPr>
          <a:xfrm>
            <a:off x="6342278" y="2075688"/>
            <a:ext cx="2148840" cy="1005840"/>
          </a:xfrm>
          <a:prstGeom prst="rect">
            <a:avLst/>
          </a:prstGeom>
          <a:noFill/>
        </p:spPr>
        <p:txBody>
          <a:bodyPr wrap="square" lIns="0" rIns="0" tIns="0" bIns="0" anchor="t">
            <a:spAutoFit/>
          </a:bodyPr>
          <a:lstStyle/>
          <a:p>
            <a:pPr algn="l">
              <a:lnSpc>
                <a:spcPct val="95000"/>
              </a:lnSpc>
              <a:spcAft>
                <a:spcPts val="0"/>
              </a:spcAft>
            </a:pPr>
            <a:r>
              <a:rPr sz="2200" b="1">
                <a:solidFill>
                  <a:srgbClr val="0B1F3A"/>
                </a:solidFill>
                <a:latin typeface="Arial"/>
              </a:rPr>
              <a:t>30 Jan 2027</a:t>
            </a:r>
          </a:p>
        </p:txBody>
      </p:sp>
      <p:sp>
        <p:nvSpPr>
          <p:cNvPr id="19" name="TextBox 18"/>
          <p:cNvSpPr txBox="1"/>
          <p:nvPr/>
        </p:nvSpPr>
        <p:spPr>
          <a:xfrm>
            <a:off x="6342278" y="3200400"/>
            <a:ext cx="2148840" cy="2103120"/>
          </a:xfrm>
          <a:prstGeom prst="rect">
            <a:avLst/>
          </a:prstGeom>
          <a:noFill/>
        </p:spPr>
        <p:txBody>
          <a:bodyPr wrap="square" lIns="0" rIns="0" tIns="0" bIns="0" anchor="t">
            <a:spAutoFit/>
          </a:bodyPr>
          <a:lstStyle/>
          <a:p>
            <a:pPr algn="l">
              <a:lnSpc>
                <a:spcPct val="110000"/>
              </a:lnSpc>
              <a:spcAft>
                <a:spcPts val="0"/>
              </a:spcAft>
            </a:pPr>
            <a:r>
              <a:rPr sz="1500" b="0">
                <a:solidFill>
                  <a:srgbClr val="0B1F3A"/>
                </a:solidFill>
                <a:latin typeface="Arial"/>
              </a:rPr>
              <a:t>Solvency II flood factor for Finland: 0 % correlation with SE/NO/DK (25 % for snowmelt rejected). ORSA needs climate scenarios.</a:t>
            </a:r>
          </a:p>
        </p:txBody>
      </p:sp>
      <p:sp>
        <p:nvSpPr>
          <p:cNvPr id="20" name="Rectangle 19"/>
          <p:cNvSpPr/>
          <p:nvPr/>
        </p:nvSpPr>
        <p:spPr>
          <a:xfrm>
            <a:off x="8896197" y="1508760"/>
            <a:ext cx="2606040" cy="3886200"/>
          </a:xfrm>
          <a:prstGeom prst="rect">
            <a:avLst/>
          </a:prstGeom>
          <a:solidFill>
            <a:srgbClr val="F3F6FA"/>
          </a:solidFill>
          <a:ln>
            <a:noFill/>
          </a:ln>
          <a:effectLst/>
        </p:spPr>
        <p:txBody>
          <a:bodyPr rtlCol="0" anchor="ctr"/>
          <a:lstStyle/>
          <a:p>
            <a:pPr algn="ctr"/>
          </a:p>
        </p:txBody>
      </p:sp>
      <p:sp>
        <p:nvSpPr>
          <p:cNvPr id="21" name="Rectangle 20"/>
          <p:cNvSpPr/>
          <p:nvPr/>
        </p:nvSpPr>
        <p:spPr>
          <a:xfrm>
            <a:off x="8896197" y="1508760"/>
            <a:ext cx="2606040" cy="64008"/>
          </a:xfrm>
          <a:prstGeom prst="rect">
            <a:avLst/>
          </a:prstGeom>
          <a:solidFill>
            <a:srgbClr val="1F6FEB"/>
          </a:solidFill>
          <a:ln>
            <a:noFill/>
          </a:ln>
          <a:effectLst/>
        </p:spPr>
        <p:txBody>
          <a:bodyPr rtlCol="0" anchor="ctr"/>
          <a:lstStyle/>
          <a:p>
            <a:pPr algn="ctr"/>
          </a:p>
        </p:txBody>
      </p:sp>
      <p:sp>
        <p:nvSpPr>
          <p:cNvPr id="22" name="TextBox 21"/>
          <p:cNvSpPr txBox="1"/>
          <p:nvPr/>
        </p:nvSpPr>
        <p:spPr>
          <a:xfrm>
            <a:off x="9124797" y="1755648"/>
            <a:ext cx="2148840" cy="274320"/>
          </a:xfrm>
          <a:prstGeom prst="rect">
            <a:avLst/>
          </a:prstGeom>
          <a:noFill/>
        </p:spPr>
        <p:txBody>
          <a:bodyPr wrap="square" lIns="0" rIns="0" tIns="0" bIns="0" anchor="t">
            <a:spAutoFit/>
          </a:bodyPr>
          <a:lstStyle/>
          <a:p>
            <a:pPr algn="l">
              <a:lnSpc>
                <a:spcPct val="100000"/>
              </a:lnSpc>
              <a:spcAft>
                <a:spcPts val="0"/>
              </a:spcAft>
            </a:pPr>
            <a:r>
              <a:rPr sz="1100" b="1">
                <a:solidFill>
                  <a:srgbClr val="1F6FEB"/>
                </a:solidFill>
                <a:latin typeface="Arial"/>
              </a:rPr>
              <a:t>SCALE</a:t>
            </a:r>
          </a:p>
        </p:txBody>
      </p:sp>
      <p:sp>
        <p:nvSpPr>
          <p:cNvPr id="23" name="TextBox 22"/>
          <p:cNvSpPr txBox="1"/>
          <p:nvPr/>
        </p:nvSpPr>
        <p:spPr>
          <a:xfrm>
            <a:off x="9124797" y="2075688"/>
            <a:ext cx="2148840" cy="1005840"/>
          </a:xfrm>
          <a:prstGeom prst="rect">
            <a:avLst/>
          </a:prstGeom>
          <a:noFill/>
        </p:spPr>
        <p:txBody>
          <a:bodyPr wrap="square" lIns="0" rIns="0" tIns="0" bIns="0" anchor="t">
            <a:spAutoFit/>
          </a:bodyPr>
          <a:lstStyle/>
          <a:p>
            <a:pPr algn="l">
              <a:lnSpc>
                <a:spcPct val="95000"/>
              </a:lnSpc>
              <a:spcAft>
                <a:spcPts val="0"/>
              </a:spcAft>
            </a:pPr>
            <a:r>
              <a:rPr sz="2200" b="1">
                <a:solidFill>
                  <a:srgbClr val="0B1F3A"/>
                </a:solidFill>
                <a:latin typeface="Arial"/>
              </a:rPr>
              <a:t>Finland → Nordics → Central Europe</a:t>
            </a:r>
          </a:p>
        </p:txBody>
      </p:sp>
      <p:sp>
        <p:nvSpPr>
          <p:cNvPr id="24" name="TextBox 23"/>
          <p:cNvSpPr txBox="1"/>
          <p:nvPr/>
        </p:nvSpPr>
        <p:spPr>
          <a:xfrm>
            <a:off x="9124797" y="3200400"/>
            <a:ext cx="2148840" cy="2103120"/>
          </a:xfrm>
          <a:prstGeom prst="rect">
            <a:avLst/>
          </a:prstGeom>
          <a:noFill/>
        </p:spPr>
        <p:txBody>
          <a:bodyPr wrap="square" lIns="0" rIns="0" tIns="0" bIns="0" anchor="t">
            <a:spAutoFit/>
          </a:bodyPr>
          <a:lstStyle/>
          <a:p>
            <a:pPr algn="l">
              <a:lnSpc>
                <a:spcPct val="110000"/>
              </a:lnSpc>
              <a:spcAft>
                <a:spcPts val="0"/>
              </a:spcAft>
            </a:pPr>
            <a:r>
              <a:rPr sz="1500" b="0">
                <a:solidFill>
                  <a:srgbClr val="0B1F3A"/>
                </a:solidFill>
                <a:latin typeface="Arial"/>
              </a:rPr>
              <a:t>Same engine, any snowmelt or river region. Gävle 2021: SEK 1.9bn claims. Storm Boris 2024: €2.15bn insured.</a:t>
            </a:r>
          </a:p>
        </p:txBody>
      </p:sp>
      <p:sp>
        <p:nvSpPr>
          <p:cNvPr id="25" name="Rectangle 24"/>
          <p:cNvSpPr/>
          <p:nvPr/>
        </p:nvSpPr>
        <p:spPr>
          <a:xfrm>
            <a:off x="548640" y="5577840"/>
            <a:ext cx="73152" cy="411480"/>
          </a:xfrm>
          <a:prstGeom prst="rect">
            <a:avLst/>
          </a:prstGeom>
          <a:solidFill>
            <a:srgbClr val="1F6FEB"/>
          </a:solidFill>
          <a:ln>
            <a:noFill/>
          </a:ln>
          <a:effectLst/>
        </p:spPr>
        <p:txBody>
          <a:bodyPr rtlCol="0" anchor="ctr"/>
          <a:lstStyle/>
          <a:p>
            <a:pPr algn="ctr"/>
          </a:p>
        </p:txBody>
      </p:sp>
      <p:sp>
        <p:nvSpPr>
          <p:cNvPr id="26" name="TextBox 25"/>
          <p:cNvSpPr txBox="1"/>
          <p:nvPr/>
        </p:nvSpPr>
        <p:spPr>
          <a:xfrm>
            <a:off x="777240" y="5577840"/>
            <a:ext cx="11094415" cy="411480"/>
          </a:xfrm>
          <a:prstGeom prst="rect">
            <a:avLst/>
          </a:prstGeom>
          <a:noFill/>
        </p:spPr>
        <p:txBody>
          <a:bodyPr wrap="square" lIns="0" rIns="0" tIns="0" bIns="0" anchor="ctr">
            <a:spAutoFit/>
          </a:bodyPr>
          <a:lstStyle/>
          <a:p>
            <a:pPr algn="l">
              <a:lnSpc>
                <a:spcPct val="100000"/>
              </a:lnSpc>
              <a:spcAft>
                <a:spcPts val="0"/>
              </a:spcAft>
            </a:pPr>
            <a:r>
              <a:rPr sz="1500" b="1">
                <a:solidFill>
                  <a:srgbClr val="0B1F3A"/>
                </a:solidFill>
                <a:latin typeface="Arial"/>
              </a:rPr>
              <a:t>First step: a paid pilot with one insurer in autumn, ahead of the 1 January renewals.</a:t>
            </a:r>
          </a:p>
        </p:txBody>
      </p:sp>
      <p:sp>
        <p:nvSpPr>
          <p:cNvPr id="27" name="TextBox 26"/>
          <p:cNvSpPr txBox="1"/>
          <p:nvPr/>
        </p:nvSpPr>
        <p:spPr>
          <a:xfrm>
            <a:off x="548640" y="6473952"/>
            <a:ext cx="9082735" cy="274320"/>
          </a:xfrm>
          <a:prstGeom prst="rect">
            <a:avLst/>
          </a:prstGeom>
          <a:noFill/>
        </p:spPr>
        <p:txBody>
          <a:bodyPr wrap="square" lIns="0" rIns="0" tIns="0" bIns="0" anchor="t">
            <a:spAutoFit/>
          </a:bodyPr>
          <a:lstStyle/>
          <a:p>
            <a:pPr algn="l">
              <a:lnSpc>
                <a:spcPct val="100000"/>
              </a:lnSpc>
              <a:spcAft>
                <a:spcPts val="0"/>
              </a:spcAft>
            </a:pPr>
            <a:r>
              <a:rPr sz="1000" b="0">
                <a:solidFill>
                  <a:srgbClr val="6B7280"/>
                </a:solidFill>
                <a:latin typeface="Arial"/>
              </a:rPr>
              <a:t>Sources: Finance Finland 2024; Del. Reg. (EU) 2026/269; EIOPA-BoS-24/462 §4.70; Finansinspektionen 2023 (Gävle); PERILS 2025 (Boris)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txBody>
          <a:bodyPr rtlCol="0" anchor="ctr"/>
          <a:lstStyle/>
          <a:p>
            <a:pPr algn="ctr"/>
          </a:p>
        </p:txBody>
      </p:sp>
      <p:sp>
        <p:nvSpPr>
          <p:cNvPr id="3" name="TextBox 2"/>
          <p:cNvSpPr txBox="1"/>
          <p:nvPr/>
        </p:nvSpPr>
        <p:spPr>
          <a:xfrm>
            <a:off x="731520" y="640080"/>
            <a:ext cx="5486400" cy="548640"/>
          </a:xfrm>
          <a:prstGeom prst="rect">
            <a:avLst/>
          </a:prstGeom>
          <a:noFill/>
        </p:spPr>
        <p:txBody>
          <a:bodyPr wrap="square" lIns="0" rIns="0" tIns="0" bIns="0" anchor="t">
            <a:spAutoFit/>
          </a:bodyPr>
          <a:lstStyle/>
          <a:p>
            <a:pPr algn="l">
              <a:lnSpc>
                <a:spcPct val="100000"/>
              </a:lnSpc>
              <a:spcAft>
                <a:spcPts val="0"/>
              </a:spcAft>
            </a:pPr>
            <a:r>
              <a:rPr sz="2800" b="1">
                <a:solidFill>
                  <a:srgbClr val="FFFFFF"/>
                </a:solidFill>
                <a:latin typeface="Arial"/>
              </a:rPr>
              <a:t>Tulva</a:t>
            </a:r>
          </a:p>
        </p:txBody>
      </p:sp>
      <p:sp>
        <p:nvSpPr>
          <p:cNvPr id="4" name="TextBox 3"/>
          <p:cNvSpPr txBox="1"/>
          <p:nvPr/>
        </p:nvSpPr>
        <p:spPr>
          <a:xfrm>
            <a:off x="731520" y="1600200"/>
            <a:ext cx="10515600" cy="1828800"/>
          </a:xfrm>
          <a:prstGeom prst="rect">
            <a:avLst/>
          </a:prstGeom>
          <a:noFill/>
        </p:spPr>
        <p:txBody>
          <a:bodyPr wrap="square" lIns="0" rIns="0" tIns="0" bIns="0" anchor="t">
            <a:spAutoFit/>
          </a:bodyPr>
          <a:lstStyle/>
          <a:p>
            <a:pPr algn="l">
              <a:lnSpc>
                <a:spcPct val="105000"/>
              </a:lnSpc>
              <a:spcAft>
                <a:spcPts val="0"/>
              </a:spcAft>
            </a:pPr>
            <a:r>
              <a:rPr sz="3800" b="1">
                <a:solidFill>
                  <a:srgbClr val="FFFFFF"/>
                </a:solidFill>
                <a:latin typeface="Arial"/>
              </a:rPr>
              <a:t>Tulva prices Finland's spring floods as a </a:t>
            </a:r>
            <a:r>
              <a:rPr sz="3800" b="1">
                <a:solidFill>
                  <a:srgbClr val="A9C8F5"/>
                </a:solidFill>
                <a:latin typeface="Arial"/>
              </a:rPr>
              <a:t>joint risk</a:t>
            </a:r>
            <a:r>
              <a:rPr sz="3800" b="1">
                <a:solidFill>
                  <a:srgbClr val="FFFFFF"/>
                </a:solidFill>
                <a:latin typeface="Arial"/>
              </a:rPr>
              <a:t>, and runs it on real quantum hardware.</a:t>
            </a:r>
          </a:p>
        </p:txBody>
      </p:sp>
      <p:sp>
        <p:nvSpPr>
          <p:cNvPr id="5" name="TextBox 4"/>
          <p:cNvSpPr txBox="1"/>
          <p:nvPr/>
        </p:nvSpPr>
        <p:spPr>
          <a:xfrm>
            <a:off x="731520" y="3794760"/>
            <a:ext cx="10058400" cy="320040"/>
          </a:xfrm>
          <a:prstGeom prst="rect">
            <a:avLst/>
          </a:prstGeom>
          <a:noFill/>
        </p:spPr>
        <p:txBody>
          <a:bodyPr wrap="square" lIns="0" rIns="0" tIns="0" bIns="0" anchor="t">
            <a:spAutoFit/>
          </a:bodyPr>
          <a:lstStyle/>
          <a:p>
            <a:pPr algn="l">
              <a:lnSpc>
                <a:spcPct val="100000"/>
              </a:lnSpc>
              <a:spcAft>
                <a:spcPts val="0"/>
              </a:spcAft>
            </a:pPr>
            <a:r>
              <a:rPr sz="1200" b="1">
                <a:solidFill>
                  <a:srgbClr val="A9C8F5"/>
                </a:solidFill>
                <a:latin typeface="Arial"/>
              </a:rPr>
              <a:t>BUILT THIS WEEKEND</a:t>
            </a:r>
          </a:p>
        </p:txBody>
      </p:sp>
      <p:sp>
        <p:nvSpPr>
          <p:cNvPr id="6" name="Rounded Rectangle 5"/>
          <p:cNvSpPr/>
          <p:nvPr/>
        </p:nvSpPr>
        <p:spPr>
          <a:xfrm>
            <a:off x="731520" y="4160520"/>
            <a:ext cx="2234793" cy="502920"/>
          </a:xfrm>
          <a:prstGeom prst="roundRect">
            <a:avLst>
              <a:gd name="adj" fmla="val 50000"/>
            </a:avLst>
          </a:prstGeom>
          <a:solidFill>
            <a:srgbClr val="1A365F"/>
          </a:solidFill>
          <a:ln>
            <a:noFill/>
          </a:ln>
          <a:effectLst/>
        </p:spPr>
        <p:txBody>
          <a:bodyPr rtlCol="0" anchor="ctr"/>
          <a:lstStyle/>
          <a:p>
            <a:pPr algn="ctr"/>
          </a:p>
        </p:txBody>
      </p:sp>
      <p:sp>
        <p:nvSpPr>
          <p:cNvPr id="7" name="TextBox 6"/>
          <p:cNvSpPr txBox="1"/>
          <p:nvPr/>
        </p:nvSpPr>
        <p:spPr>
          <a:xfrm>
            <a:off x="731520" y="4160520"/>
            <a:ext cx="2234793" cy="502920"/>
          </a:xfrm>
          <a:prstGeom prst="rect">
            <a:avLst/>
          </a:prstGeom>
          <a:noFill/>
        </p:spPr>
        <p:txBody>
          <a:bodyPr wrap="square" lIns="0" rIns="0" tIns="0" bIns="0" anchor="ctr">
            <a:spAutoFit/>
          </a:bodyPr>
          <a:lstStyle/>
          <a:p>
            <a:pPr algn="ctr">
              <a:lnSpc>
                <a:spcPct val="100000"/>
              </a:lnSpc>
              <a:spcAft>
                <a:spcPts val="0"/>
              </a:spcAft>
            </a:pPr>
            <a:r>
              <a:rPr sz="1500" b="0">
                <a:solidFill>
                  <a:srgbClr val="FFFFFF"/>
                </a:solidFill>
                <a:latin typeface="Arial"/>
              </a:rPr>
              <a:t>SYKE data pipeline</a:t>
            </a:r>
          </a:p>
        </p:txBody>
      </p:sp>
      <p:sp>
        <p:nvSpPr>
          <p:cNvPr id="8" name="Rounded Rectangle 7"/>
          <p:cNvSpPr/>
          <p:nvPr/>
        </p:nvSpPr>
        <p:spPr>
          <a:xfrm>
            <a:off x="3149193" y="4160520"/>
            <a:ext cx="2126894" cy="502920"/>
          </a:xfrm>
          <a:prstGeom prst="roundRect">
            <a:avLst>
              <a:gd name="adj" fmla="val 50000"/>
            </a:avLst>
          </a:prstGeom>
          <a:solidFill>
            <a:srgbClr val="1A365F"/>
          </a:solidFill>
          <a:ln>
            <a:noFill/>
          </a:ln>
          <a:effectLst/>
        </p:spPr>
        <p:txBody>
          <a:bodyPr rtlCol="0" anchor="ctr"/>
          <a:lstStyle/>
          <a:p>
            <a:pPr algn="ctr"/>
          </a:p>
        </p:txBody>
      </p:sp>
      <p:sp>
        <p:nvSpPr>
          <p:cNvPr id="9" name="TextBox 8"/>
          <p:cNvSpPr txBox="1"/>
          <p:nvPr/>
        </p:nvSpPr>
        <p:spPr>
          <a:xfrm>
            <a:off x="3149193" y="4160520"/>
            <a:ext cx="2126894" cy="502920"/>
          </a:xfrm>
          <a:prstGeom prst="rect">
            <a:avLst/>
          </a:prstGeom>
          <a:noFill/>
        </p:spPr>
        <p:txBody>
          <a:bodyPr wrap="square" lIns="0" rIns="0" tIns="0" bIns="0" anchor="ctr">
            <a:spAutoFit/>
          </a:bodyPr>
          <a:lstStyle/>
          <a:p>
            <a:pPr algn="ctr">
              <a:lnSpc>
                <a:spcPct val="100000"/>
              </a:lnSpc>
              <a:spcAft>
                <a:spcPts val="0"/>
              </a:spcAft>
            </a:pPr>
            <a:r>
              <a:rPr sz="1500" b="0">
                <a:solidFill>
                  <a:srgbClr val="FFFFFF"/>
                </a:solidFill>
                <a:latin typeface="Arial"/>
              </a:rPr>
              <a:t>Joint flood model</a:t>
            </a:r>
          </a:p>
        </p:txBody>
      </p:sp>
      <p:sp>
        <p:nvSpPr>
          <p:cNvPr id="10" name="Rounded Rectangle 9"/>
          <p:cNvSpPr/>
          <p:nvPr/>
        </p:nvSpPr>
        <p:spPr>
          <a:xfrm>
            <a:off x="5458968" y="4160520"/>
            <a:ext cx="1695297" cy="502920"/>
          </a:xfrm>
          <a:prstGeom prst="roundRect">
            <a:avLst>
              <a:gd name="adj" fmla="val 50000"/>
            </a:avLst>
          </a:prstGeom>
          <a:solidFill>
            <a:srgbClr val="1A365F"/>
          </a:solidFill>
          <a:ln>
            <a:noFill/>
          </a:ln>
          <a:effectLst/>
        </p:spPr>
        <p:txBody>
          <a:bodyPr rtlCol="0" anchor="ctr"/>
          <a:lstStyle/>
          <a:p>
            <a:pPr algn="ctr"/>
          </a:p>
        </p:txBody>
      </p:sp>
      <p:sp>
        <p:nvSpPr>
          <p:cNvPr id="11" name="TextBox 10"/>
          <p:cNvSpPr txBox="1"/>
          <p:nvPr/>
        </p:nvSpPr>
        <p:spPr>
          <a:xfrm>
            <a:off x="5458968" y="4160520"/>
            <a:ext cx="1695297" cy="502920"/>
          </a:xfrm>
          <a:prstGeom prst="rect">
            <a:avLst/>
          </a:prstGeom>
          <a:noFill/>
        </p:spPr>
        <p:txBody>
          <a:bodyPr wrap="square" lIns="0" rIns="0" tIns="0" bIns="0" anchor="ctr">
            <a:spAutoFit/>
          </a:bodyPr>
          <a:lstStyle/>
          <a:p>
            <a:pPr algn="ctr">
              <a:lnSpc>
                <a:spcPct val="100000"/>
              </a:lnSpc>
              <a:spcAft>
                <a:spcPts val="0"/>
              </a:spcAft>
            </a:pPr>
            <a:r>
              <a:rPr sz="1500" b="0">
                <a:solidFill>
                  <a:srgbClr val="FFFFFF"/>
                </a:solidFill>
                <a:latin typeface="Arial"/>
              </a:rPr>
              <a:t>Index pricing</a:t>
            </a:r>
          </a:p>
        </p:txBody>
      </p:sp>
      <p:sp>
        <p:nvSpPr>
          <p:cNvPr id="12" name="Rounded Rectangle 11"/>
          <p:cNvSpPr/>
          <p:nvPr/>
        </p:nvSpPr>
        <p:spPr>
          <a:xfrm>
            <a:off x="7337145" y="4160520"/>
            <a:ext cx="2018995" cy="502920"/>
          </a:xfrm>
          <a:prstGeom prst="roundRect">
            <a:avLst>
              <a:gd name="adj" fmla="val 50000"/>
            </a:avLst>
          </a:prstGeom>
          <a:solidFill>
            <a:srgbClr val="1A365F"/>
          </a:solidFill>
          <a:ln>
            <a:noFill/>
          </a:ln>
          <a:effectLst/>
        </p:spPr>
        <p:txBody>
          <a:bodyPr rtlCol="0" anchor="ctr"/>
          <a:lstStyle/>
          <a:p>
            <a:pPr algn="ctr"/>
          </a:p>
        </p:txBody>
      </p:sp>
      <p:sp>
        <p:nvSpPr>
          <p:cNvPr id="13" name="TextBox 12"/>
          <p:cNvSpPr txBox="1"/>
          <p:nvPr/>
        </p:nvSpPr>
        <p:spPr>
          <a:xfrm>
            <a:off x="7337145" y="4160520"/>
            <a:ext cx="2018995" cy="502920"/>
          </a:xfrm>
          <a:prstGeom prst="rect">
            <a:avLst/>
          </a:prstGeom>
          <a:noFill/>
        </p:spPr>
        <p:txBody>
          <a:bodyPr wrap="square" lIns="0" rIns="0" tIns="0" bIns="0" anchor="ctr">
            <a:spAutoFit/>
          </a:bodyPr>
          <a:lstStyle/>
          <a:p>
            <a:pPr algn="ctr">
              <a:lnSpc>
                <a:spcPct val="100000"/>
              </a:lnSpc>
              <a:spcAft>
                <a:spcPts val="0"/>
              </a:spcAft>
            </a:pPr>
            <a:r>
              <a:rPr sz="1500" b="0">
                <a:solidFill>
                  <a:srgbClr val="FFFFFF"/>
                </a:solidFill>
                <a:latin typeface="Arial"/>
              </a:rPr>
              <a:t>QAE on IBM &amp; IQM</a:t>
            </a:r>
          </a:p>
        </p:txBody>
      </p:sp>
      <p:sp>
        <p:nvSpPr>
          <p:cNvPr id="14" name="TextBox 13"/>
          <p:cNvSpPr txBox="1"/>
          <p:nvPr/>
        </p:nvSpPr>
        <p:spPr>
          <a:xfrm>
            <a:off x="731520" y="5257800"/>
            <a:ext cx="10058400" cy="731520"/>
          </a:xfrm>
          <a:prstGeom prst="rect">
            <a:avLst/>
          </a:prstGeom>
          <a:noFill/>
        </p:spPr>
        <p:txBody>
          <a:bodyPr wrap="square" lIns="0" rIns="0" tIns="0" bIns="0" anchor="t">
            <a:spAutoFit/>
          </a:bodyPr>
          <a:lstStyle/>
          <a:p>
            <a:pPr algn="l">
              <a:lnSpc>
                <a:spcPct val="100000"/>
              </a:lnSpc>
              <a:spcAft>
                <a:spcPts val="400"/>
              </a:spcAft>
            </a:pPr>
            <a:r>
              <a:rPr sz="2000" b="1">
                <a:solidFill>
                  <a:srgbClr val="FFFFFF"/>
                </a:solidFill>
                <a:latin typeface="Arial"/>
              </a:rPr>
              <a:t>Toivo Kallio</a:t>
            </a:r>
            <a:r>
              <a:rPr sz="2000" b="0">
                <a:solidFill>
                  <a:srgbClr val="A9C8F5"/>
                </a:solidFill>
                <a:latin typeface="Arial"/>
              </a:rPr>
              <a:t>  ·  </a:t>
            </a:r>
            <a:r>
              <a:rPr sz="2000" b="1">
                <a:solidFill>
                  <a:srgbClr val="FFFFFF"/>
                </a:solidFill>
                <a:latin typeface="Arial"/>
              </a:rPr>
              <a:t>Vaishnav Rane</a:t>
            </a:r>
          </a:p>
          <a:p>
            <a:pPr algn="l">
              <a:lnSpc>
                <a:spcPct val="100000"/>
              </a:lnSpc>
              <a:spcAft>
                <a:spcPts val="400"/>
              </a:spcAft>
            </a:pPr>
            <a:r>
              <a:rPr sz="1400" b="0">
                <a:solidFill>
                  <a:srgbClr val="A9C8F5"/>
                </a:solidFill>
                <a:latin typeface="Arial"/>
              </a:rPr>
              <a:t>Team 21 STUHI  ·  Quantum x Finance 2026, Hanken × Ultrahack</a:t>
            </a:r>
          </a:p>
        </p:txBody>
      </p:sp>
      <p:sp>
        <p:nvSpPr>
          <p:cNvPr id="15" name="TextBox 14"/>
          <p:cNvSpPr txBox="1"/>
          <p:nvPr/>
        </p:nvSpPr>
        <p:spPr>
          <a:xfrm>
            <a:off x="9814255" y="6473952"/>
            <a:ext cx="1828800" cy="228600"/>
          </a:xfrm>
          <a:prstGeom prst="rect">
            <a:avLst/>
          </a:prstGeom>
          <a:noFill/>
        </p:spPr>
        <p:txBody>
          <a:bodyPr wrap="square" lIns="0" rIns="0" tIns="0" bIns="0" anchor="t">
            <a:spAutoFit/>
          </a:bodyPr>
          <a:lstStyle/>
          <a:p>
            <a:pPr algn="r">
              <a:lnSpc>
                <a:spcPct val="100000"/>
              </a:lnSpc>
              <a:spcAft>
                <a:spcPts val="0"/>
              </a:spcAft>
            </a:pPr>
            <a:r>
              <a:rPr sz="1100" b="1">
                <a:solidFill>
                  <a:srgbClr val="FFFFFF"/>
                </a:solidFill>
                <a:latin typeface="Arial"/>
              </a:rPr>
              <a:t>Tulva</a:t>
            </a:r>
            <a:r>
              <a:rPr sz="1100" b="0">
                <a:solidFill>
                  <a:srgbClr val="A9C8F5"/>
                </a:solidFill>
                <a:latin typeface="Arial"/>
              </a:rPr>
              <a:t>   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