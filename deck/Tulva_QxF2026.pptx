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(0:00–0:09)]</a:t>
            </a:r>
          </a:p>
          <a:p>
            <a:r>
              <a:t>In May 2005, Kittilä and Ivalo flooded together. The snow had warned us two months earlier. Nobody priced that warning. Tulva does.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(0:09–0:27)]</a:t>
            </a:r>
          </a:p>
          <a:p>
            <a:r>
              <a:t>Finnish rivers share one snowpack, so they flood together. In 65 years, four or more of fourteen river areas flooded in the same spring 15 percent of the time. Independence says 3.9. And reinsurance renews in January, before the snow arrives.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(0:27–0:52)]</a:t>
            </a:r>
          </a:p>
          <a:p>
            <a:r>
              <a:t>The Tulva Index pays ten million euros if two of five northern gauges pass their 1-in-50 level this spring. Priced as independent: about 100 thousand a year; jointly, 500 to 700 thousand. Today's cat models assume how areas flood together; Tulva measures it from 65 years of river data, tied to this winter's snow, and prices it as a cover.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(0:52–1:52)]</a:t>
            </a:r>
          </a:p>
          <a:p>
            <a:r>
              <a:t>This is Tulva, built this weekend on 65 years of SYKE river data. The map shows Finland's fourteen river flood-risk areas in three clusters; lines join areas whose spring peaks move together. Now set the March snow outlook to high snow. In the North, the chance that two gauges pass their 1-in-50 level jumps, and the market price of the cover follows: from about half a million to about two million euros a year. The product card shows the same cover three ways: independence, Tulva, and Tulva after a snowy March. Under the hood, the same joint model runs on real quantum chips, IBM Marrakesh and IQM Garnet and Emerald, next to the exact answer and classical Monte Carlo. Finally, replay 2005: the Lapland cluster lights up, Kittilä and Ivalo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(1:52–2:09)]</a:t>
            </a:r>
          </a:p>
          <a:p>
            <a:r>
              <a:t>All fourteen areas load onto IQM Emerald, 18 qubits, and reproduce the joint tail. Amplitude estimation on Kittilä and Ivalo, on IBM and IQM, lands within 0.04 points of exact, and the snow warning survives: 3.1 times versus 2.7.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(2:09–2:16)]</a:t>
            </a:r>
          </a:p>
          <a:p>
            <a:r>
              <a:t>Honestly: classical Monte Carlo still wins today. Quantum could pay off with fault-tolerant hardware and expensive models.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(2:16–2:36)]</a:t>
            </a:r>
          </a:p>
          <a:p>
            <a:r>
              <a:t>We license the pricing engine to Finnish insurers and reinsurers. Why now? Finland gets a Solvency II flood capital factor from 30 January 2027, so insurers need a joint-flood view now, and the same engine is quantum-ready as hardware matures. First step: a paid pilot this autumn.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(2:36–2:48)]</a:t>
            </a:r>
          </a:p>
          <a:p>
            <a:r>
              <a:t>Everything you saw was built this weekend: data pipeline, joint model, pricing, and runs on three quantum chips. Tulva prices Finland's spring floods as a joint risk.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6400800" cy="4572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Tulva</a:t>
            </a:r>
            <a:r>
              <a:rPr sz="1800" b="0">
                <a:solidFill>
                  <a:srgbClr val="6B7280"/>
                </a:solidFill>
                <a:latin typeface="Arial"/>
              </a:rPr>
              <a:t>   spring-flood risk, priced jointly</a:t>
            </a:r>
          </a:p>
        </p:txBody>
      </p:sp>
      <p:sp>
        <p:nvSpPr>
          <p:cNvPr id="3" name="TextBox 2"/>
          <p:cNvSpPr txBox="1"/>
          <p:nvPr/>
        </p:nvSpPr>
        <p:spPr>
          <a:xfrm>
            <a:off x="548640" y="1691640"/>
            <a:ext cx="6217920" cy="2926080"/>
          </a:xfrm>
          <a:prstGeom prst="rect">
            <a:avLst/>
          </a:prstGeom>
          <a:noFill/>
        </p:spPr>
        <p:txBody>
          <a:bodyPr wrap="square" lIns="0" rIns="0" tIns="0" bIns="0" anchor="t">
            <a:spAutoFit/>
          </a:bodyPr>
          <a:lstStyle/>
          <a:p>
            <a:pPr algn="l">
              <a:lnSpc>
                <a:spcPct val="105000"/>
              </a:lnSpc>
              <a:spcAft>
                <a:spcPts val="1800"/>
              </a:spcAft>
            </a:pPr>
            <a:r>
              <a:rPr sz="4200" b="1">
                <a:solidFill>
                  <a:srgbClr val="0B1F3A"/>
                </a:solidFill>
                <a:latin typeface="Arial"/>
              </a:rPr>
              <a:t>In May 2005, Kittilä and Ivalo flooded </a:t>
            </a:r>
            <a:r>
              <a:rPr sz="4200" b="1">
                <a:solidFill>
                  <a:srgbClr val="1F6FEB"/>
                </a:solidFill>
                <a:latin typeface="Arial"/>
              </a:rPr>
              <a:t>together.</a:t>
            </a:r>
          </a:p>
          <a:p>
            <a:pPr algn="l">
              <a:lnSpc>
                <a:spcPct val="105000"/>
              </a:lnSpc>
              <a:spcAft>
                <a:spcPts val="1800"/>
              </a:spcAft>
            </a:pPr>
            <a:r>
              <a:rPr sz="2400" b="0">
                <a:solidFill>
                  <a:srgbClr val="6B7280"/>
                </a:solidFill>
                <a:latin typeface="Arial"/>
              </a:rPr>
              <a:t>The snow had warned us two months earlier.</a:t>
            </a:r>
          </a:p>
        </p:txBody>
      </p:sp>
      <p:sp>
        <p:nvSpPr>
          <p:cNvPr id="4" name="TextBox 3"/>
          <p:cNvSpPr txBox="1"/>
          <p:nvPr/>
        </p:nvSpPr>
        <p:spPr>
          <a:xfrm>
            <a:off x="548640" y="4206240"/>
            <a:ext cx="5852160" cy="822960"/>
          </a:xfrm>
          <a:prstGeom prst="rect">
            <a:avLst/>
          </a:prstGeom>
          <a:noFill/>
        </p:spPr>
        <p:txBody>
          <a:bodyPr wrap="square" lIns="0" rIns="0" tIns="0" bIns="0" anchor="t">
            <a:spAutoFit/>
          </a:bodyPr>
          <a:lstStyle/>
          <a:p>
            <a:pPr algn="l">
              <a:lnSpc>
                <a:spcPct val="100000"/>
              </a:lnSpc>
              <a:spcAft>
                <a:spcPts val="0"/>
              </a:spcAft>
            </a:pPr>
            <a:r>
              <a:rPr sz="1800" b="0">
                <a:solidFill>
                  <a:srgbClr val="0B1F3A"/>
                </a:solidFill>
                <a:latin typeface="Arial"/>
              </a:rPr>
              <a:t>The 1 March snow flagged 2005 in advance. Then both rivers flooded in the same spring.</a:t>
            </a:r>
          </a:p>
        </p:txBody>
      </p:sp>
      <p:pic>
        <p:nvPicPr>
          <p:cNvPr id="5" name="Picture 4" descr="map_2005.png"/>
          <p:cNvPicPr>
            <a:picLocks noChangeAspect="1"/>
          </p:cNvPicPr>
          <p:nvPr/>
        </p:nvPicPr>
        <p:blipFill>
          <a:blip r:embed="rId2"/>
          <a:stretch>
            <a:fillRect/>
          </a:stretch>
        </p:blipFill>
        <p:spPr>
          <a:xfrm>
            <a:off x="6949440" y="868680"/>
            <a:ext cx="4663440" cy="3828197"/>
          </a:xfrm>
          <a:prstGeom prst="rect">
            <a:avLst/>
          </a:prstGeom>
          <a:ln>
            <a:solidFill>
              <a:srgbClr val="DDE3EA"/>
            </a:solidFill>
          </a:ln>
        </p:spPr>
      </p:pic>
      <p:sp>
        <p:nvSpPr>
          <p:cNvPr id="6" name="Rectangle 5"/>
          <p:cNvSpPr/>
          <p:nvPr/>
        </p:nvSpPr>
        <p:spPr>
          <a:xfrm>
            <a:off x="9692640" y="1737360"/>
            <a:ext cx="717804" cy="310896"/>
          </a:xfrm>
          <a:prstGeom prst="rect">
            <a:avLst/>
          </a:prstGeom>
          <a:solidFill>
            <a:srgbClr val="F3F6FA"/>
          </a:solidFill>
          <a:ln>
            <a:noFill/>
          </a:ln>
          <a:effectLst/>
        </p:spPr>
        <p:txBody>
          <a:bodyPr rtlCol="0" anchor="ctr"/>
          <a:lstStyle/>
          <a:p>
            <a:pPr algn="ctr"/>
          </a:p>
        </p:txBody>
      </p:sp>
      <p:sp>
        <p:nvSpPr>
          <p:cNvPr id="7" name="TextBox 6"/>
          <p:cNvSpPr txBox="1"/>
          <p:nvPr/>
        </p:nvSpPr>
        <p:spPr>
          <a:xfrm>
            <a:off x="9692640" y="1737360"/>
            <a:ext cx="717804"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Ivalo</a:t>
            </a:r>
          </a:p>
        </p:txBody>
      </p:sp>
      <p:sp>
        <p:nvSpPr>
          <p:cNvPr id="8" name="Rectangle 7"/>
          <p:cNvSpPr/>
          <p:nvPr/>
        </p:nvSpPr>
        <p:spPr>
          <a:xfrm>
            <a:off x="7886700" y="2350008"/>
            <a:ext cx="946403" cy="310896"/>
          </a:xfrm>
          <a:prstGeom prst="rect">
            <a:avLst/>
          </a:prstGeom>
          <a:solidFill>
            <a:srgbClr val="F3F6FA"/>
          </a:solidFill>
          <a:ln>
            <a:noFill/>
          </a:ln>
          <a:effectLst/>
        </p:spPr>
        <p:txBody>
          <a:bodyPr rtlCol="0" anchor="ctr"/>
          <a:lstStyle/>
          <a:p>
            <a:pPr algn="ctr"/>
          </a:p>
        </p:txBody>
      </p:sp>
      <p:sp>
        <p:nvSpPr>
          <p:cNvPr id="9" name="TextBox 8"/>
          <p:cNvSpPr txBox="1"/>
          <p:nvPr/>
        </p:nvSpPr>
        <p:spPr>
          <a:xfrm>
            <a:off x="7886700" y="2350008"/>
            <a:ext cx="946403"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Kittilä</a:t>
            </a:r>
          </a:p>
        </p:txBody>
      </p:sp>
      <p:sp>
        <p:nvSpPr>
          <p:cNvPr id="10" name="Rectangle 9"/>
          <p:cNvSpPr/>
          <p:nvPr/>
        </p:nvSpPr>
        <p:spPr>
          <a:xfrm>
            <a:off x="9281160" y="3017520"/>
            <a:ext cx="1175004" cy="310896"/>
          </a:xfrm>
          <a:prstGeom prst="rect">
            <a:avLst/>
          </a:prstGeom>
          <a:solidFill>
            <a:srgbClr val="F3F6FA"/>
          </a:solidFill>
          <a:ln>
            <a:noFill/>
          </a:ln>
          <a:effectLst/>
        </p:spPr>
        <p:txBody>
          <a:bodyPr rtlCol="0" anchor="ctr"/>
          <a:lstStyle/>
          <a:p>
            <a:pPr algn="ctr"/>
          </a:p>
        </p:txBody>
      </p:sp>
      <p:sp>
        <p:nvSpPr>
          <p:cNvPr id="11" name="TextBox 10"/>
          <p:cNvSpPr txBox="1"/>
          <p:nvPr/>
        </p:nvSpPr>
        <p:spPr>
          <a:xfrm>
            <a:off x="9281160" y="3017520"/>
            <a:ext cx="1175004"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Rovaniemi</a:t>
            </a:r>
          </a:p>
        </p:txBody>
      </p:sp>
      <p:sp>
        <p:nvSpPr>
          <p:cNvPr id="12" name="Rectangle 11"/>
          <p:cNvSpPr/>
          <p:nvPr/>
        </p:nvSpPr>
        <p:spPr>
          <a:xfrm>
            <a:off x="7827264" y="3392424"/>
            <a:ext cx="832104" cy="310896"/>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827264" y="3392424"/>
            <a:ext cx="832104"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Tornio</a:t>
            </a:r>
          </a:p>
        </p:txBody>
      </p:sp>
      <p:sp>
        <p:nvSpPr>
          <p:cNvPr id="14" name="TextBox 13"/>
          <p:cNvSpPr txBox="1"/>
          <p:nvPr/>
        </p:nvSpPr>
        <p:spPr>
          <a:xfrm>
            <a:off x="6949440" y="4788317"/>
            <a:ext cx="4663440" cy="320040"/>
          </a:xfrm>
          <a:prstGeom prst="rect">
            <a:avLst/>
          </a:prstGeom>
          <a:noFill/>
        </p:spPr>
        <p:txBody>
          <a:bodyPr wrap="square" lIns="0" rIns="0" tIns="0" bIns="0" anchor="t">
            <a:spAutoFit/>
          </a:bodyPr>
          <a:lstStyle/>
          <a:p>
            <a:pPr algn="r">
              <a:lnSpc>
                <a:spcPct val="100000"/>
              </a:lnSpc>
              <a:spcAft>
                <a:spcPts val="0"/>
              </a:spcAft>
            </a:pPr>
            <a:r>
              <a:rPr sz="1600" b="0">
                <a:solidFill>
                  <a:srgbClr val="6B7280"/>
                </a:solidFill>
                <a:latin typeface="Arial"/>
              </a:rPr>
              <a:t>Tulva app: spring 2005 replay</a:t>
            </a:r>
          </a:p>
        </p:txBody>
      </p:sp>
      <p:sp>
        <p:nvSpPr>
          <p:cNvPr id="15" name="TextBox 14"/>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discharge 1961–2025 and 1 March snow (SWE); Tulva back-test (out/backtest.json)</a:t>
            </a:r>
          </a:p>
        </p:txBody>
      </p:sp>
      <p:sp>
        <p:nvSpPr>
          <p:cNvPr id="16" name="TextBox 15"/>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THE GAP</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Finland's rivers flood together, not one at a time</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pic>
        <p:nvPicPr>
          <p:cNvPr id="5" name="Picture 4" descr="pitch_gap.png"/>
          <p:cNvPicPr>
            <a:picLocks noChangeAspect="1"/>
          </p:cNvPicPr>
          <p:nvPr/>
        </p:nvPicPr>
        <p:blipFill>
          <a:blip r:embed="rId2"/>
          <a:stretch>
            <a:fillRect/>
          </a:stretch>
        </p:blipFill>
        <p:spPr>
          <a:xfrm>
            <a:off x="548640" y="1463040"/>
            <a:ext cx="7223760" cy="4800600"/>
          </a:xfrm>
          <a:prstGeom prst="rect">
            <a:avLst/>
          </a:prstGeom>
        </p:spPr>
      </p:pic>
      <p:sp>
        <p:nvSpPr>
          <p:cNvPr id="6" name="TextBox 5"/>
          <p:cNvSpPr txBox="1"/>
          <p:nvPr/>
        </p:nvSpPr>
        <p:spPr>
          <a:xfrm>
            <a:off x="8183879" y="1508760"/>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Springs with ≥4 of 14 areas over their 1-in-10 level</a:t>
            </a:r>
          </a:p>
        </p:txBody>
      </p:sp>
      <p:sp>
        <p:nvSpPr>
          <p:cNvPr id="7" name="TextBox 6"/>
          <p:cNvSpPr txBox="1"/>
          <p:nvPr/>
        </p:nvSpPr>
        <p:spPr>
          <a:xfrm>
            <a:off x="8183879" y="21031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0B1F3A"/>
                </a:solidFill>
                <a:latin typeface="Arial"/>
              </a:rPr>
              <a:t>15.4 %</a:t>
            </a:r>
          </a:p>
        </p:txBody>
      </p:sp>
      <p:sp>
        <p:nvSpPr>
          <p:cNvPr id="8" name="TextBox 7"/>
          <p:cNvSpPr txBox="1"/>
          <p:nvPr/>
        </p:nvSpPr>
        <p:spPr>
          <a:xfrm>
            <a:off x="8183879" y="2672588"/>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observed (10 of 65 years)</a:t>
            </a:r>
          </a:p>
        </p:txBody>
      </p:sp>
      <p:sp>
        <p:nvSpPr>
          <p:cNvPr id="9" name="TextBox 8"/>
          <p:cNvSpPr txBox="1"/>
          <p:nvPr/>
        </p:nvSpPr>
        <p:spPr>
          <a:xfrm>
            <a:off x="8183879" y="30175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1F6FEB"/>
                </a:solidFill>
                <a:latin typeface="Arial"/>
              </a:rPr>
              <a:t>12.2 %</a:t>
            </a:r>
          </a:p>
        </p:txBody>
      </p:sp>
      <p:sp>
        <p:nvSpPr>
          <p:cNvPr id="10" name="TextBox 9"/>
          <p:cNvSpPr txBox="1"/>
          <p:nvPr/>
        </p:nvSpPr>
        <p:spPr>
          <a:xfrm>
            <a:off x="8183879" y="3586988"/>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Tulva joint model</a:t>
            </a:r>
          </a:p>
        </p:txBody>
      </p:sp>
      <p:sp>
        <p:nvSpPr>
          <p:cNvPr id="11" name="TextBox 10"/>
          <p:cNvSpPr txBox="1"/>
          <p:nvPr/>
        </p:nvSpPr>
        <p:spPr>
          <a:xfrm>
            <a:off x="8183879" y="39319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D13B2F"/>
                </a:solidFill>
                <a:latin typeface="Arial"/>
              </a:rPr>
              <a:t>3.9 %</a:t>
            </a:r>
          </a:p>
        </p:txBody>
      </p:sp>
      <p:sp>
        <p:nvSpPr>
          <p:cNvPr id="12" name="TextBox 11"/>
          <p:cNvSpPr txBox="1"/>
          <p:nvPr/>
        </p:nvSpPr>
        <p:spPr>
          <a:xfrm>
            <a:off x="8183879" y="4501387"/>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if areas were independent</a:t>
            </a:r>
          </a:p>
        </p:txBody>
      </p:sp>
      <p:sp>
        <p:nvSpPr>
          <p:cNvPr id="13" name="Rectangle 12"/>
          <p:cNvSpPr/>
          <p:nvPr/>
        </p:nvSpPr>
        <p:spPr>
          <a:xfrm>
            <a:off x="8183879" y="4937760"/>
            <a:ext cx="3474720" cy="18288"/>
          </a:xfrm>
          <a:prstGeom prst="rect">
            <a:avLst/>
          </a:prstGeom>
          <a:solidFill>
            <a:srgbClr val="DDE3EA"/>
          </a:solidFill>
          <a:ln>
            <a:noFill/>
          </a:ln>
          <a:effectLst/>
        </p:spPr>
        <p:txBody>
          <a:bodyPr rtlCol="0" anchor="ctr"/>
          <a:lstStyle/>
          <a:p>
            <a:pPr algn="ctr"/>
          </a:p>
        </p:txBody>
      </p:sp>
      <p:sp>
        <p:nvSpPr>
          <p:cNvPr id="14" name="TextBox 13"/>
          <p:cNvSpPr txBox="1"/>
          <p:nvPr/>
        </p:nvSpPr>
        <p:spPr>
          <a:xfrm>
            <a:off x="8183879" y="5074920"/>
            <a:ext cx="3474720" cy="109728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Reinsurance renews 1 January, before the snow signal arrives.</a:t>
            </a:r>
          </a:p>
        </p:txBody>
      </p:sp>
      <p:sp>
        <p:nvSpPr>
          <p:cNvPr id="15" name="TextBox 14"/>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1961–2025 (+ SMHI Torne), Tulva model (exact); vesi.fi / OP (1-in-50 rule)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THE PRODUCT</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Tulva Index: bought in winter, pays in spring</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5" name="Rounded Rectangle 4"/>
          <p:cNvSpPr/>
          <p:nvPr/>
        </p:nvSpPr>
        <p:spPr>
          <a:xfrm>
            <a:off x="548640" y="1417320"/>
            <a:ext cx="11094415" cy="868680"/>
          </a:xfrm>
          <a:prstGeom prst="roundRect">
            <a:avLst>
              <a:gd name="adj" fmla="val 12000"/>
            </a:avLst>
          </a:prstGeom>
          <a:solidFill>
            <a:srgbClr val="0B1F3A"/>
          </a:solidFill>
          <a:ln>
            <a:noFill/>
          </a:ln>
          <a:effectLst/>
        </p:spPr>
        <p:txBody>
          <a:bodyPr rtlCol="0" anchor="ctr"/>
          <a:lstStyle/>
          <a:p>
            <a:pPr algn="ctr"/>
          </a:p>
        </p:txBody>
      </p:sp>
      <p:sp>
        <p:nvSpPr>
          <p:cNvPr id="6" name="TextBox 5"/>
          <p:cNvSpPr txBox="1"/>
          <p:nvPr/>
        </p:nvSpPr>
        <p:spPr>
          <a:xfrm>
            <a:off x="914400" y="1417320"/>
            <a:ext cx="10362895" cy="868680"/>
          </a:xfrm>
          <a:prstGeom prst="rect">
            <a:avLst/>
          </a:prstGeom>
          <a:noFill/>
        </p:spPr>
        <p:txBody>
          <a:bodyPr wrap="square" lIns="0" rIns="0" tIns="0" bIns="0" anchor="ctr">
            <a:spAutoFit/>
          </a:bodyPr>
          <a:lstStyle/>
          <a:p>
            <a:pPr algn="l">
              <a:lnSpc>
                <a:spcPct val="100000"/>
              </a:lnSpc>
              <a:spcAft>
                <a:spcPts val="0"/>
              </a:spcAft>
            </a:pPr>
            <a:r>
              <a:rPr sz="2400" b="1">
                <a:solidFill>
                  <a:srgbClr val="FFFFFF"/>
                </a:solidFill>
                <a:latin typeface="Arial"/>
              </a:rPr>
              <a:t>Pays €10M</a:t>
            </a:r>
            <a:r>
              <a:rPr sz="2400" b="0">
                <a:solidFill>
                  <a:srgbClr val="FFFFFF"/>
                </a:solidFill>
                <a:latin typeface="Arial"/>
              </a:rPr>
              <a:t> if ≥2 of 5 northern gauges pass their 1-in-50 level this spring</a:t>
            </a:r>
          </a:p>
        </p:txBody>
      </p:sp>
      <p:sp>
        <p:nvSpPr>
          <p:cNvPr id="7" name="TextBox 6"/>
          <p:cNvSpPr txBox="1"/>
          <p:nvPr/>
        </p:nvSpPr>
        <p:spPr>
          <a:xfrm>
            <a:off x="548640" y="2395728"/>
            <a:ext cx="54864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MARKET PRICE PER YEAR</a:t>
            </a:r>
          </a:p>
        </p:txBody>
      </p:sp>
      <p:pic>
        <p:nvPicPr>
          <p:cNvPr id="8" name="Picture 7" descr="pitch_cost.png"/>
          <p:cNvPicPr>
            <a:picLocks noChangeAspect="1"/>
          </p:cNvPicPr>
          <p:nvPr/>
        </p:nvPicPr>
        <p:blipFill>
          <a:blip r:embed="rId2"/>
          <a:stretch>
            <a:fillRect/>
          </a:stretch>
        </p:blipFill>
        <p:spPr>
          <a:xfrm>
            <a:off x="563727" y="2697480"/>
            <a:ext cx="11064240" cy="2606040"/>
          </a:xfrm>
          <a:prstGeom prst="rect">
            <a:avLst/>
          </a:prstGeom>
        </p:spPr>
      </p:pic>
      <p:sp>
        <p:nvSpPr>
          <p:cNvPr id="9" name="Rectangle 8"/>
          <p:cNvSpPr/>
          <p:nvPr/>
        </p:nvSpPr>
        <p:spPr>
          <a:xfrm>
            <a:off x="548640" y="5413248"/>
            <a:ext cx="73152" cy="658368"/>
          </a:xfrm>
          <a:prstGeom prst="rect">
            <a:avLst/>
          </a:prstGeom>
          <a:solidFill>
            <a:srgbClr val="1F6FEB"/>
          </a:solidFill>
          <a:ln>
            <a:noFill/>
          </a:ln>
          <a:effectLst/>
        </p:spPr>
        <p:txBody>
          <a:bodyPr rtlCol="0" anchor="ctr"/>
          <a:lstStyle/>
          <a:p>
            <a:pPr algn="ctr"/>
          </a:p>
        </p:txBody>
      </p:sp>
      <p:sp>
        <p:nvSpPr>
          <p:cNvPr id="10" name="TextBox 9"/>
          <p:cNvSpPr txBox="1"/>
          <p:nvPr/>
        </p:nvSpPr>
        <p:spPr>
          <a:xfrm>
            <a:off x="804672" y="5376672"/>
            <a:ext cx="10820095" cy="731520"/>
          </a:xfrm>
          <a:prstGeom prst="rect">
            <a:avLst/>
          </a:prstGeom>
          <a:noFill/>
        </p:spPr>
        <p:txBody>
          <a:bodyPr wrap="square" lIns="0" rIns="0" tIns="0" bIns="0" anchor="ctr">
            <a:spAutoFit/>
          </a:bodyPr>
          <a:lstStyle/>
          <a:p>
            <a:pPr algn="l">
              <a:lnSpc>
                <a:spcPct val="100000"/>
              </a:lnSpc>
              <a:spcAft>
                <a:spcPts val="0"/>
              </a:spcAft>
            </a:pPr>
            <a:r>
              <a:rPr sz="1800" b="0">
                <a:solidFill>
                  <a:srgbClr val="6B7280"/>
                </a:solidFill>
                <a:latin typeface="Arial"/>
              </a:rPr>
              <a:t>Today's cat models assume how areas flood together. </a:t>
            </a:r>
            <a:r>
              <a:rPr sz="1800" b="1">
                <a:solidFill>
                  <a:srgbClr val="0B1F3A"/>
                </a:solidFill>
                <a:latin typeface="Arial"/>
              </a:rPr>
              <a:t>Tulva measures it from 65 years of river data, ties it to this winter's snow, and prices it as a cover.</a:t>
            </a:r>
          </a:p>
        </p:txBody>
      </p:sp>
      <p:sp>
        <p:nvSpPr>
          <p:cNvPr id="11" name="TextBox 10"/>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1961–2025, Tulva model (exact). Market price = 2.5–3.5× expected payout (AM Best, flood 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14400" y="5989320"/>
            <a:ext cx="10362895" cy="365760"/>
          </a:xfrm>
          <a:prstGeom prst="rect">
            <a:avLst/>
          </a:prstGeom>
          <a:noFill/>
        </p:spPr>
        <p:txBody>
          <a:bodyPr wrap="square" lIns="0" rIns="0" tIns="0" bIns="0" anchor="t">
            <a:spAutoFit/>
          </a:bodyPr>
          <a:lstStyle/>
          <a:p>
            <a:pPr algn="ctr">
              <a:lnSpc>
                <a:spcPct val="100000"/>
              </a:lnSpc>
              <a:spcAft>
                <a:spcPts val="0"/>
              </a:spcAft>
            </a:pPr>
            <a:r>
              <a:rPr sz="1600" b="0">
                <a:solidFill>
                  <a:srgbClr val="FFFFFF"/>
                </a:solidFill>
                <a:latin typeface="Arial"/>
              </a:rPr>
              <a:t>Live app: joint-flood map → March snow → index price → quantum runs → 2005 replay</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IN PRACTICE</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2400" b="1">
                <a:solidFill>
                  <a:srgbClr val="0B1F3A"/>
                </a:solidFill>
                <a:latin typeface="Arial"/>
              </a:rPr>
              <a:t>The full model fits on a chip today; amplitude estimation works on a 3-qubit piece of it.</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5" name="Picture 4" descr="pitch_loader.png"/>
          <p:cNvPicPr>
            <a:picLocks noChangeAspect="1"/>
          </p:cNvPicPr>
          <p:nvPr/>
        </p:nvPicPr>
        <p:blipFill>
          <a:blip r:embed="rId2"/>
          <a:stretch>
            <a:fillRect/>
          </a:stretch>
        </p:blipFill>
        <p:spPr>
          <a:xfrm>
            <a:off x="548640" y="1645920"/>
            <a:ext cx="6949439" cy="3977639"/>
          </a:xfrm>
          <a:prstGeom prst="rect">
            <a:avLst/>
          </a:prstGeom>
        </p:spPr>
      </p:pic>
      <p:sp>
        <p:nvSpPr>
          <p:cNvPr id="6" name="TextBox 5"/>
          <p:cNvSpPr txBox="1"/>
          <p:nvPr/>
        </p:nvSpPr>
        <p:spPr>
          <a:xfrm>
            <a:off x="548640" y="5715000"/>
            <a:ext cx="6949440" cy="365760"/>
          </a:xfrm>
          <a:prstGeom prst="rect">
            <a:avLst/>
          </a:prstGeom>
          <a:noFill/>
        </p:spPr>
        <p:txBody>
          <a:bodyPr wrap="square" lIns="0" rIns="0" tIns="0" bIns="0" anchor="t">
            <a:spAutoFit/>
          </a:bodyPr>
          <a:lstStyle/>
          <a:p>
            <a:pPr algn="l">
              <a:lnSpc>
                <a:spcPct val="100000"/>
              </a:lnSpc>
              <a:spcAft>
                <a:spcPts val="0"/>
              </a:spcAft>
            </a:pPr>
            <a:r>
              <a:rPr sz="1600" b="0">
                <a:solidFill>
                  <a:srgbClr val="0B1F3A"/>
                </a:solidFill>
                <a:latin typeface="Arial"/>
              </a:rPr>
              <a:t>At the 1-in-10 level the chip reproduces the joint tail.</a:t>
            </a:r>
          </a:p>
        </p:txBody>
      </p:sp>
      <p:sp>
        <p:nvSpPr>
          <p:cNvPr id="7" name="TextBox 6"/>
          <p:cNvSpPr txBox="1"/>
          <p:nvPr/>
        </p:nvSpPr>
        <p:spPr>
          <a:xfrm>
            <a:off x="7863840" y="1645920"/>
            <a:ext cx="379476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ALL 14 AREAS ON IQM EMERALD</a:t>
            </a:r>
          </a:p>
        </p:txBody>
      </p:sp>
      <p:sp>
        <p:nvSpPr>
          <p:cNvPr id="8" name="TextBox 7"/>
          <p:cNvSpPr txBox="1"/>
          <p:nvPr/>
        </p:nvSpPr>
        <p:spPr>
          <a:xfrm>
            <a:off x="7863840" y="1920240"/>
            <a:ext cx="1463040" cy="685800"/>
          </a:xfrm>
          <a:prstGeom prst="rect">
            <a:avLst/>
          </a:prstGeom>
          <a:noFill/>
        </p:spPr>
        <p:txBody>
          <a:bodyPr wrap="square" lIns="0" rIns="0" tIns="0" bIns="0" anchor="t">
            <a:spAutoFit/>
          </a:bodyPr>
          <a:lstStyle/>
          <a:p>
            <a:pPr algn="l">
              <a:lnSpc>
                <a:spcPct val="100000"/>
              </a:lnSpc>
              <a:spcAft>
                <a:spcPts val="0"/>
              </a:spcAft>
            </a:pPr>
            <a:r>
              <a:rPr sz="3600" b="1">
                <a:solidFill>
                  <a:srgbClr val="0B1F3A"/>
                </a:solidFill>
                <a:latin typeface="Arial"/>
              </a:rPr>
              <a:t>18</a:t>
            </a:r>
          </a:p>
        </p:txBody>
      </p:sp>
      <p:sp>
        <p:nvSpPr>
          <p:cNvPr id="9" name="TextBox 8"/>
          <p:cNvSpPr txBox="1"/>
          <p:nvPr/>
        </p:nvSpPr>
        <p:spPr>
          <a:xfrm>
            <a:off x="7863840" y="2459736"/>
            <a:ext cx="1463040" cy="27432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qubits</a:t>
            </a:r>
          </a:p>
        </p:txBody>
      </p:sp>
      <p:sp>
        <p:nvSpPr>
          <p:cNvPr id="10" name="TextBox 9"/>
          <p:cNvSpPr txBox="1"/>
          <p:nvPr/>
        </p:nvSpPr>
        <p:spPr>
          <a:xfrm>
            <a:off x="9418319" y="1920240"/>
            <a:ext cx="2194560" cy="685800"/>
          </a:xfrm>
          <a:prstGeom prst="rect">
            <a:avLst/>
          </a:prstGeom>
          <a:noFill/>
        </p:spPr>
        <p:txBody>
          <a:bodyPr wrap="square" lIns="0" rIns="0" tIns="0" bIns="0" anchor="t">
            <a:spAutoFit/>
          </a:bodyPr>
          <a:lstStyle/>
          <a:p>
            <a:pPr algn="l">
              <a:lnSpc>
                <a:spcPct val="100000"/>
              </a:lnSpc>
              <a:spcAft>
                <a:spcPts val="0"/>
              </a:spcAft>
            </a:pPr>
            <a:r>
              <a:rPr sz="3600" b="1">
                <a:solidFill>
                  <a:srgbClr val="0B1F3A"/>
                </a:solidFill>
                <a:latin typeface="Arial"/>
              </a:rPr>
              <a:t>44</a:t>
            </a:r>
          </a:p>
        </p:txBody>
      </p:sp>
      <p:sp>
        <p:nvSpPr>
          <p:cNvPr id="11" name="TextBox 10"/>
          <p:cNvSpPr txBox="1"/>
          <p:nvPr/>
        </p:nvSpPr>
        <p:spPr>
          <a:xfrm>
            <a:off x="9418319" y="2459736"/>
            <a:ext cx="2194560" cy="27432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two-qubit gates</a:t>
            </a:r>
          </a:p>
        </p:txBody>
      </p:sp>
      <p:sp>
        <p:nvSpPr>
          <p:cNvPr id="12" name="Rectangle 11"/>
          <p:cNvSpPr/>
          <p:nvPr/>
        </p:nvSpPr>
        <p:spPr>
          <a:xfrm>
            <a:off x="7863840" y="3017520"/>
            <a:ext cx="3794760" cy="13716"/>
          </a:xfrm>
          <a:prstGeom prst="rect">
            <a:avLst/>
          </a:prstGeom>
          <a:solidFill>
            <a:srgbClr val="DDE3EA"/>
          </a:solidFill>
          <a:ln>
            <a:noFill/>
          </a:ln>
          <a:effectLst/>
        </p:spPr>
        <p:txBody>
          <a:bodyPr rtlCol="0" anchor="ctr"/>
          <a:lstStyle/>
          <a:p>
            <a:pPr algn="ctr"/>
          </a:p>
        </p:txBody>
      </p:sp>
      <p:sp>
        <p:nvSpPr>
          <p:cNvPr id="13" name="TextBox 12"/>
          <p:cNvSpPr txBox="1"/>
          <p:nvPr/>
        </p:nvSpPr>
        <p:spPr>
          <a:xfrm>
            <a:off x="7863840" y="3127248"/>
            <a:ext cx="379476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AMPLITUDE ESTIMATION</a:t>
            </a:r>
          </a:p>
        </p:txBody>
      </p:sp>
      <p:sp>
        <p:nvSpPr>
          <p:cNvPr id="14" name="TextBox 13"/>
          <p:cNvSpPr txBox="1"/>
          <p:nvPr/>
        </p:nvSpPr>
        <p:spPr>
          <a:xfrm>
            <a:off x="7863840" y="3429000"/>
            <a:ext cx="3794760" cy="27432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Kittilä and Ivalo both pass 1-in-50</a:t>
            </a:r>
          </a:p>
        </p:txBody>
      </p:sp>
      <p:sp>
        <p:nvSpPr>
          <p:cNvPr id="15" name="TextBox 14"/>
          <p:cNvSpPr txBox="1"/>
          <p:nvPr/>
        </p:nvSpPr>
        <p:spPr>
          <a:xfrm>
            <a:off x="7863840" y="3822191"/>
            <a:ext cx="2194560" cy="36576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Exact</a:t>
            </a:r>
          </a:p>
        </p:txBody>
      </p:sp>
      <p:sp>
        <p:nvSpPr>
          <p:cNvPr id="16" name="TextBox 15"/>
          <p:cNvSpPr txBox="1"/>
          <p:nvPr/>
        </p:nvSpPr>
        <p:spPr>
          <a:xfrm>
            <a:off x="10241280" y="3749039"/>
            <a:ext cx="1417320" cy="457200"/>
          </a:xfrm>
          <a:prstGeom prst="rect">
            <a:avLst/>
          </a:prstGeom>
          <a:noFill/>
        </p:spPr>
        <p:txBody>
          <a:bodyPr wrap="square" lIns="0" rIns="0" tIns="0" bIns="0" anchor="t">
            <a:spAutoFit/>
          </a:bodyPr>
          <a:lstStyle/>
          <a:p>
            <a:pPr algn="r">
              <a:lnSpc>
                <a:spcPct val="100000"/>
              </a:lnSpc>
              <a:spcAft>
                <a:spcPts val="0"/>
              </a:spcAft>
            </a:pPr>
            <a:r>
              <a:rPr sz="2400" b="1">
                <a:solidFill>
                  <a:srgbClr val="0B1F3A"/>
                </a:solidFill>
                <a:latin typeface="Arial"/>
              </a:rPr>
              <a:t>0.125 %</a:t>
            </a:r>
          </a:p>
        </p:txBody>
      </p:sp>
      <p:sp>
        <p:nvSpPr>
          <p:cNvPr id="17" name="Rectangle 16"/>
          <p:cNvSpPr/>
          <p:nvPr/>
        </p:nvSpPr>
        <p:spPr>
          <a:xfrm>
            <a:off x="7863840" y="4224527"/>
            <a:ext cx="3794760" cy="10972"/>
          </a:xfrm>
          <a:prstGeom prst="rect">
            <a:avLst/>
          </a:prstGeom>
          <a:solidFill>
            <a:srgbClr val="DDE3EA"/>
          </a:solidFill>
          <a:ln>
            <a:noFill/>
          </a:ln>
          <a:effectLst/>
        </p:spPr>
        <p:txBody>
          <a:bodyPr rtlCol="0" anchor="ctr"/>
          <a:lstStyle/>
          <a:p>
            <a:pPr algn="ctr"/>
          </a:p>
        </p:txBody>
      </p:sp>
      <p:sp>
        <p:nvSpPr>
          <p:cNvPr id="18" name="TextBox 17"/>
          <p:cNvSpPr txBox="1"/>
          <p:nvPr/>
        </p:nvSpPr>
        <p:spPr>
          <a:xfrm>
            <a:off x="7863840" y="4334256"/>
            <a:ext cx="2194560" cy="36576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IBM Marrakesh</a:t>
            </a:r>
          </a:p>
        </p:txBody>
      </p:sp>
      <p:sp>
        <p:nvSpPr>
          <p:cNvPr id="19" name="TextBox 18"/>
          <p:cNvSpPr txBox="1"/>
          <p:nvPr/>
        </p:nvSpPr>
        <p:spPr>
          <a:xfrm>
            <a:off x="10241280" y="4261104"/>
            <a:ext cx="1417320" cy="457200"/>
          </a:xfrm>
          <a:prstGeom prst="rect">
            <a:avLst/>
          </a:prstGeom>
          <a:noFill/>
        </p:spPr>
        <p:txBody>
          <a:bodyPr wrap="square" lIns="0" rIns="0" tIns="0" bIns="0" anchor="t">
            <a:spAutoFit/>
          </a:bodyPr>
          <a:lstStyle/>
          <a:p>
            <a:pPr algn="r">
              <a:lnSpc>
                <a:spcPct val="100000"/>
              </a:lnSpc>
              <a:spcAft>
                <a:spcPts val="0"/>
              </a:spcAft>
            </a:pPr>
            <a:r>
              <a:rPr sz="2400" b="1">
                <a:solidFill>
                  <a:srgbClr val="1F6FEB"/>
                </a:solidFill>
                <a:latin typeface="Arial"/>
              </a:rPr>
              <a:t>0.148 %</a:t>
            </a:r>
          </a:p>
        </p:txBody>
      </p:sp>
      <p:sp>
        <p:nvSpPr>
          <p:cNvPr id="20" name="Rectangle 19"/>
          <p:cNvSpPr/>
          <p:nvPr/>
        </p:nvSpPr>
        <p:spPr>
          <a:xfrm>
            <a:off x="7863840" y="4736592"/>
            <a:ext cx="3794760" cy="10972"/>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863840" y="4846320"/>
            <a:ext cx="2194560" cy="36576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IQM Garnet</a:t>
            </a:r>
          </a:p>
        </p:txBody>
      </p:sp>
      <p:sp>
        <p:nvSpPr>
          <p:cNvPr id="22" name="TextBox 21"/>
          <p:cNvSpPr txBox="1"/>
          <p:nvPr/>
        </p:nvSpPr>
        <p:spPr>
          <a:xfrm>
            <a:off x="10241280" y="4773168"/>
            <a:ext cx="1417320" cy="457200"/>
          </a:xfrm>
          <a:prstGeom prst="rect">
            <a:avLst/>
          </a:prstGeom>
          <a:noFill/>
        </p:spPr>
        <p:txBody>
          <a:bodyPr wrap="square" lIns="0" rIns="0" tIns="0" bIns="0" anchor="t">
            <a:spAutoFit/>
          </a:bodyPr>
          <a:lstStyle/>
          <a:p>
            <a:pPr algn="r">
              <a:lnSpc>
                <a:spcPct val="100000"/>
              </a:lnSpc>
              <a:spcAft>
                <a:spcPts val="0"/>
              </a:spcAft>
            </a:pPr>
            <a:r>
              <a:rPr sz="2400" b="1">
                <a:solidFill>
                  <a:srgbClr val="1F6FEB"/>
                </a:solidFill>
                <a:latin typeface="Arial"/>
              </a:rPr>
              <a:t>0.163 %</a:t>
            </a:r>
          </a:p>
        </p:txBody>
      </p:sp>
      <p:sp>
        <p:nvSpPr>
          <p:cNvPr id="23" name="Rectangle 22"/>
          <p:cNvSpPr/>
          <p:nvPr/>
        </p:nvSpPr>
        <p:spPr>
          <a:xfrm>
            <a:off x="7863840" y="5248656"/>
            <a:ext cx="3794760" cy="10972"/>
          </a:xfrm>
          <a:prstGeom prst="rect">
            <a:avLst/>
          </a:prstGeom>
          <a:solidFill>
            <a:srgbClr val="DDE3EA"/>
          </a:solidFill>
          <a:ln>
            <a:noFill/>
          </a:ln>
          <a:effectLst/>
        </p:spPr>
        <p:txBody>
          <a:bodyPr rtlCol="0" anchor="ctr"/>
          <a:lstStyle/>
          <a:p>
            <a:pPr algn="ctr"/>
          </a:p>
        </p:txBody>
      </p:sp>
      <p:sp>
        <p:nvSpPr>
          <p:cNvPr id="24" name="TextBox 23"/>
          <p:cNvSpPr txBox="1"/>
          <p:nvPr/>
        </p:nvSpPr>
        <p:spPr>
          <a:xfrm>
            <a:off x="7863840" y="5394960"/>
            <a:ext cx="3794760" cy="73152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Snow signal on the chip: </a:t>
            </a:r>
            <a:r>
              <a:rPr sz="1600" b="1">
                <a:solidFill>
                  <a:srgbClr val="1F6FEB"/>
                </a:solidFill>
                <a:latin typeface="Arial"/>
              </a:rPr>
              <a:t>snowy vs low March 3.1× (exact 2.7×)</a:t>
            </a:r>
          </a:p>
        </p:txBody>
      </p:sp>
      <p:sp>
        <p:nvSpPr>
          <p:cNvPr id="25" name="TextBox 24"/>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IQM Emerald job 01a11cd4…, readout-corrected; IBM / IQM values calibrated (20 / 4 side-by-side copies); snow: Emerald, 10 copies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HONESTLY</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Classical Monte Carlo still wins today</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pic>
        <p:nvPicPr>
          <p:cNvPr id="5" name="Picture 4" descr="pitch_scaling.png"/>
          <p:cNvPicPr>
            <a:picLocks noChangeAspect="1"/>
          </p:cNvPicPr>
          <p:nvPr/>
        </p:nvPicPr>
        <p:blipFill>
          <a:blip r:embed="rId2"/>
          <a:stretch>
            <a:fillRect/>
          </a:stretch>
        </p:blipFill>
        <p:spPr>
          <a:xfrm>
            <a:off x="548640" y="1508760"/>
            <a:ext cx="6949439" cy="4206240"/>
          </a:xfrm>
          <a:prstGeom prst="rect">
            <a:avLst/>
          </a:prstGeom>
        </p:spPr>
      </p:pic>
      <p:sp>
        <p:nvSpPr>
          <p:cNvPr id="6" name="TextBox 5"/>
          <p:cNvSpPr txBox="1"/>
          <p:nvPr/>
        </p:nvSpPr>
        <p:spPr>
          <a:xfrm>
            <a:off x="548640" y="5806440"/>
            <a:ext cx="6949440" cy="36576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Kittilä and Ivalo both pass 1-in-50: estimation error vs effort</a:t>
            </a:r>
          </a:p>
        </p:txBody>
      </p:sp>
      <p:sp>
        <p:nvSpPr>
          <p:cNvPr id="7" name="TextBox 6"/>
          <p:cNvSpPr txBox="1"/>
          <p:nvPr/>
        </p:nvSpPr>
        <p:spPr>
          <a:xfrm>
            <a:off x="8001000" y="1600200"/>
            <a:ext cx="3657600" cy="365760"/>
          </a:xfrm>
          <a:prstGeom prst="rect">
            <a:avLst/>
          </a:prstGeom>
          <a:noFill/>
        </p:spPr>
        <p:txBody>
          <a:bodyPr wrap="square" lIns="0" rIns="0" tIns="0" bIns="0" anchor="t">
            <a:spAutoFit/>
          </a:bodyPr>
          <a:lstStyle/>
          <a:p>
            <a:pPr algn="l">
              <a:lnSpc>
                <a:spcPct val="100000"/>
              </a:lnSpc>
              <a:spcAft>
                <a:spcPts val="0"/>
              </a:spcAft>
            </a:pPr>
            <a:r>
              <a:rPr sz="2000" b="1">
                <a:solidFill>
                  <a:srgbClr val="1F6FEB"/>
                </a:solidFill>
                <a:latin typeface="Arial"/>
              </a:rPr>
              <a:t>Where quantum could pay off</a:t>
            </a:r>
          </a:p>
        </p:txBody>
      </p:sp>
      <p:sp>
        <p:nvSpPr>
          <p:cNvPr id="8" name="Rectangle 7"/>
          <p:cNvSpPr/>
          <p:nvPr/>
        </p:nvSpPr>
        <p:spPr>
          <a:xfrm>
            <a:off x="8001000" y="2313432"/>
            <a:ext cx="73152" cy="731520"/>
          </a:xfrm>
          <a:prstGeom prst="rect">
            <a:avLst/>
          </a:prstGeom>
          <a:solidFill>
            <a:srgbClr val="1F6FEB"/>
          </a:solidFill>
          <a:ln>
            <a:noFill/>
          </a:ln>
          <a:effectLst/>
        </p:spPr>
        <p:txBody>
          <a:bodyPr rtlCol="0" anchor="ctr"/>
          <a:lstStyle/>
          <a:p>
            <a:pPr algn="ctr"/>
          </a:p>
        </p:txBody>
      </p:sp>
      <p:sp>
        <p:nvSpPr>
          <p:cNvPr id="9" name="TextBox 8"/>
          <p:cNvSpPr txBox="1"/>
          <p:nvPr/>
        </p:nvSpPr>
        <p:spPr>
          <a:xfrm>
            <a:off x="8275320" y="2240280"/>
            <a:ext cx="3383280" cy="100584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Fault-tolerant hardware</a:t>
            </a:r>
          </a:p>
          <a:p>
            <a:pPr algn="l">
              <a:lnSpc>
                <a:spcPct val="100000"/>
              </a:lnSpc>
              <a:spcAft>
                <a:spcPts val="0"/>
              </a:spcAft>
            </a:pPr>
            <a:r>
              <a:rPr sz="1800" b="0">
                <a:solidFill>
                  <a:srgbClr val="6B7280"/>
                </a:solidFill>
                <a:latin typeface="Arial"/>
              </a:rPr>
              <a:t>~8k logical qubits needed</a:t>
            </a:r>
          </a:p>
        </p:txBody>
      </p:sp>
      <p:sp>
        <p:nvSpPr>
          <p:cNvPr id="10" name="Rectangle 9"/>
          <p:cNvSpPr/>
          <p:nvPr/>
        </p:nvSpPr>
        <p:spPr>
          <a:xfrm>
            <a:off x="8001000" y="3410712"/>
            <a:ext cx="73152" cy="731520"/>
          </a:xfrm>
          <a:prstGeom prst="rect">
            <a:avLst/>
          </a:prstGeom>
          <a:solidFill>
            <a:srgbClr val="1F6FEB"/>
          </a:solidFill>
          <a:ln>
            <a:noFill/>
          </a:ln>
          <a:effectLst/>
        </p:spPr>
        <p:txBody>
          <a:bodyPr rtlCol="0" anchor="ctr"/>
          <a:lstStyle/>
          <a:p>
            <a:pPr algn="ctr"/>
          </a:p>
        </p:txBody>
      </p:sp>
      <p:sp>
        <p:nvSpPr>
          <p:cNvPr id="11" name="TextBox 10"/>
          <p:cNvSpPr txBox="1"/>
          <p:nvPr/>
        </p:nvSpPr>
        <p:spPr>
          <a:xfrm>
            <a:off x="8275320" y="3337560"/>
            <a:ext cx="3383280" cy="100584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Expensive models</a:t>
            </a:r>
          </a:p>
          <a:p>
            <a:pPr algn="l">
              <a:lnSpc>
                <a:spcPct val="100000"/>
              </a:lnSpc>
              <a:spcAft>
                <a:spcPts val="0"/>
              </a:spcAft>
            </a:pPr>
            <a:r>
              <a:rPr sz="1800" b="0">
                <a:solidFill>
                  <a:srgbClr val="6B7280"/>
                </a:solidFill>
                <a:latin typeface="Arial"/>
              </a:rPr>
              <a:t>a hydrology model per scenario</a:t>
            </a:r>
          </a:p>
        </p:txBody>
      </p:sp>
      <p:sp>
        <p:nvSpPr>
          <p:cNvPr id="12" name="Rectangle 11"/>
          <p:cNvSpPr/>
          <p:nvPr/>
        </p:nvSpPr>
        <p:spPr>
          <a:xfrm>
            <a:off x="8001000" y="4507992"/>
            <a:ext cx="73152" cy="731520"/>
          </a:xfrm>
          <a:prstGeom prst="rect">
            <a:avLst/>
          </a:prstGeom>
          <a:solidFill>
            <a:srgbClr val="1F6FEB"/>
          </a:solidFill>
          <a:ln>
            <a:noFill/>
          </a:ln>
          <a:effectLst/>
        </p:spPr>
        <p:txBody>
          <a:bodyPr rtlCol="0" anchor="ctr"/>
          <a:lstStyle/>
          <a:p>
            <a:pPr algn="ctr"/>
          </a:p>
        </p:txBody>
      </p:sp>
      <p:sp>
        <p:nvSpPr>
          <p:cNvPr id="13" name="TextBox 12"/>
          <p:cNvSpPr txBox="1"/>
          <p:nvPr/>
        </p:nvSpPr>
        <p:spPr>
          <a:xfrm>
            <a:off x="8275320" y="4434840"/>
            <a:ext cx="3383280" cy="100584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More work per price</a:t>
            </a:r>
          </a:p>
          <a:p>
            <a:pPr algn="l">
              <a:lnSpc>
                <a:spcPct val="100000"/>
              </a:lnSpc>
              <a:spcAft>
                <a:spcPts val="0"/>
              </a:spcAft>
            </a:pPr>
            <a:r>
              <a:rPr sz="1800" b="0">
                <a:solidFill>
                  <a:srgbClr val="6B7280"/>
                </a:solidFill>
                <a:latin typeface="Arial"/>
              </a:rPr>
              <a:t>many perils, daily repricing</a:t>
            </a:r>
          </a:p>
        </p:txBody>
      </p:sp>
      <p:sp>
        <p:nvSpPr>
          <p:cNvPr id="14" name="Rectangle 13"/>
          <p:cNvSpPr/>
          <p:nvPr/>
        </p:nvSpPr>
        <p:spPr>
          <a:xfrm>
            <a:off x="8001000" y="5486400"/>
            <a:ext cx="365760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8001000" y="5577840"/>
            <a:ext cx="3657600" cy="457200"/>
          </a:xfrm>
          <a:prstGeom prst="rect">
            <a:avLst/>
          </a:prstGeom>
          <a:noFill/>
        </p:spPr>
        <p:txBody>
          <a:bodyPr wrap="square" lIns="0" rIns="0" tIns="0" bIns="0" anchor="t">
            <a:spAutoFit/>
          </a:bodyPr>
          <a:lstStyle/>
          <a:p>
            <a:pPr algn="l">
              <a:lnSpc>
                <a:spcPct val="100000"/>
              </a:lnSpc>
              <a:spcAft>
                <a:spcPts val="0"/>
              </a:spcAft>
            </a:pPr>
            <a:r>
              <a:rPr sz="1600" b="0">
                <a:solidFill>
                  <a:srgbClr val="0B1F3A"/>
                </a:solidFill>
                <a:latin typeface="Arial"/>
              </a:rPr>
              <a:t>Error: QAE ∝ 1/N, Monte Carlo ∝ 1/√N</a:t>
            </a:r>
          </a:p>
        </p:txBody>
      </p:sp>
      <p:sp>
        <p:nvSpPr>
          <p:cNvPr id="16" name="TextBox 15"/>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Tulva simulations (qae-sim) + IBM Marrakesh / IQM Garnet runs; Chakrabarti et al., Quantum 5, 463 (2021)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BUSINESS</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Who buys, why, and why now</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sp>
        <p:nvSpPr>
          <p:cNvPr id="5" name="Rectangle 4"/>
          <p:cNvSpPr/>
          <p:nvPr/>
        </p:nvSpPr>
        <p:spPr>
          <a:xfrm>
            <a:off x="548640" y="1508760"/>
            <a:ext cx="2606040" cy="3886200"/>
          </a:xfrm>
          <a:prstGeom prst="rect">
            <a:avLst/>
          </a:prstGeom>
          <a:solidFill>
            <a:srgbClr val="F3F6FA"/>
          </a:solidFill>
          <a:ln>
            <a:noFill/>
          </a:ln>
          <a:effectLst/>
        </p:spPr>
        <p:txBody>
          <a:bodyPr rtlCol="0" anchor="ctr"/>
          <a:lstStyle/>
          <a:p>
            <a:pPr algn="ctr"/>
          </a:p>
        </p:txBody>
      </p:sp>
      <p:sp>
        <p:nvSpPr>
          <p:cNvPr id="6" name="Rectangle 5"/>
          <p:cNvSpPr/>
          <p:nvPr/>
        </p:nvSpPr>
        <p:spPr>
          <a:xfrm>
            <a:off x="548640" y="1508760"/>
            <a:ext cx="2606040" cy="64008"/>
          </a:xfrm>
          <a:prstGeom prst="rect">
            <a:avLst/>
          </a:prstGeom>
          <a:solidFill>
            <a:srgbClr val="1F6FEB"/>
          </a:solidFill>
          <a:ln>
            <a:noFill/>
          </a:ln>
          <a:effectLst/>
        </p:spPr>
        <p:txBody>
          <a:bodyPr rtlCol="0" anchor="ctr"/>
          <a:lstStyle/>
          <a:p>
            <a:pPr algn="ctr"/>
          </a:p>
        </p:txBody>
      </p:sp>
      <p:sp>
        <p:nvSpPr>
          <p:cNvPr id="7" name="TextBox 6"/>
          <p:cNvSpPr txBox="1"/>
          <p:nvPr/>
        </p:nvSpPr>
        <p:spPr>
          <a:xfrm>
            <a:off x="731520"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WHO BUYS</a:t>
            </a:r>
          </a:p>
        </p:txBody>
      </p:sp>
      <p:sp>
        <p:nvSpPr>
          <p:cNvPr id="8" name="TextBox 7"/>
          <p:cNvSpPr txBox="1"/>
          <p:nvPr/>
        </p:nvSpPr>
        <p:spPr>
          <a:xfrm>
            <a:off x="731520"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Finnish non-life insurers</a:t>
            </a:r>
          </a:p>
        </p:txBody>
      </p:sp>
      <p:sp>
        <p:nvSpPr>
          <p:cNvPr id="9" name="TextBox 8"/>
          <p:cNvSpPr txBox="1"/>
          <p:nvPr/>
        </p:nvSpPr>
        <p:spPr>
          <a:xfrm>
            <a:off x="731520"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For the flood risk they keep. Four groups write 91 % of the market. Then reinsurers and ILS investors.</a:t>
            </a:r>
          </a:p>
        </p:txBody>
      </p:sp>
      <p:sp>
        <p:nvSpPr>
          <p:cNvPr id="10" name="Rectangle 9"/>
          <p:cNvSpPr/>
          <p:nvPr/>
        </p:nvSpPr>
        <p:spPr>
          <a:xfrm>
            <a:off x="3331159" y="1508760"/>
            <a:ext cx="2606040" cy="3886200"/>
          </a:xfrm>
          <a:prstGeom prst="rect">
            <a:avLst/>
          </a:prstGeom>
          <a:solidFill>
            <a:srgbClr val="F3F6FA"/>
          </a:solidFill>
          <a:ln>
            <a:noFill/>
          </a:ln>
          <a:effectLst/>
        </p:spPr>
        <p:txBody>
          <a:bodyPr rtlCol="0" anchor="ctr"/>
          <a:lstStyle/>
          <a:p>
            <a:pPr algn="ctr"/>
          </a:p>
        </p:txBody>
      </p:sp>
      <p:sp>
        <p:nvSpPr>
          <p:cNvPr id="11" name="Rectangle 10"/>
          <p:cNvSpPr/>
          <p:nvPr/>
        </p:nvSpPr>
        <p:spPr>
          <a:xfrm>
            <a:off x="3331159" y="1508760"/>
            <a:ext cx="2606040" cy="64008"/>
          </a:xfrm>
          <a:prstGeom prst="rect">
            <a:avLst/>
          </a:prstGeom>
          <a:solidFill>
            <a:srgbClr val="1F6FEB"/>
          </a:solidFill>
          <a:ln>
            <a:noFill/>
          </a:ln>
          <a:effectLst/>
        </p:spPr>
        <p:txBody>
          <a:bodyPr rtlCol="0" anchor="ctr"/>
          <a:lstStyle/>
          <a:p>
            <a:pPr algn="ctr"/>
          </a:p>
        </p:txBody>
      </p:sp>
      <p:sp>
        <p:nvSpPr>
          <p:cNvPr id="12" name="TextBox 11"/>
          <p:cNvSpPr txBox="1"/>
          <p:nvPr/>
        </p:nvSpPr>
        <p:spPr>
          <a:xfrm>
            <a:off x="3514039"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HOW WE EARN</a:t>
            </a:r>
          </a:p>
        </p:txBody>
      </p:sp>
      <p:sp>
        <p:nvSpPr>
          <p:cNvPr id="13" name="TextBox 12"/>
          <p:cNvSpPr txBox="1"/>
          <p:nvPr/>
        </p:nvSpPr>
        <p:spPr>
          <a:xfrm>
            <a:off x="3514039"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Engine licence</a:t>
            </a:r>
          </a:p>
        </p:txBody>
      </p:sp>
      <p:sp>
        <p:nvSpPr>
          <p:cNvPr id="14" name="TextBox 13"/>
          <p:cNvSpPr txBox="1"/>
          <p:nvPr/>
        </p:nvSpPr>
        <p:spPr>
          <a:xfrm>
            <a:off x="3514039"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Pricing and trigger engine, licensed per insurer or reinsurer. Fee on placed covers.</a:t>
            </a:r>
          </a:p>
        </p:txBody>
      </p:sp>
      <p:sp>
        <p:nvSpPr>
          <p:cNvPr id="15" name="Rectangle 14"/>
          <p:cNvSpPr/>
          <p:nvPr/>
        </p:nvSpPr>
        <p:spPr>
          <a:xfrm>
            <a:off x="6113678" y="1508760"/>
            <a:ext cx="2606040" cy="3886200"/>
          </a:xfrm>
          <a:prstGeom prst="rect">
            <a:avLst/>
          </a:prstGeom>
          <a:solidFill>
            <a:srgbClr val="F3F6FA"/>
          </a:solidFill>
          <a:ln>
            <a:noFill/>
          </a:ln>
          <a:effectLst/>
        </p:spPr>
        <p:txBody>
          <a:bodyPr rtlCol="0" anchor="ctr"/>
          <a:lstStyle/>
          <a:p>
            <a:pPr algn="ctr"/>
          </a:p>
        </p:txBody>
      </p:sp>
      <p:sp>
        <p:nvSpPr>
          <p:cNvPr id="16" name="Rectangle 15"/>
          <p:cNvSpPr/>
          <p:nvPr/>
        </p:nvSpPr>
        <p:spPr>
          <a:xfrm>
            <a:off x="6113678" y="1508760"/>
            <a:ext cx="2606040" cy="64008"/>
          </a:xfrm>
          <a:prstGeom prst="rect">
            <a:avLst/>
          </a:prstGeom>
          <a:solidFill>
            <a:srgbClr val="D13B2F"/>
          </a:solidFill>
          <a:ln>
            <a:noFill/>
          </a:ln>
          <a:effectLst/>
        </p:spPr>
        <p:txBody>
          <a:bodyPr rtlCol="0" anchor="ctr"/>
          <a:lstStyle/>
          <a:p>
            <a:pPr algn="ctr"/>
          </a:p>
        </p:txBody>
      </p:sp>
      <p:sp>
        <p:nvSpPr>
          <p:cNvPr id="17" name="TextBox 16"/>
          <p:cNvSpPr txBox="1"/>
          <p:nvPr/>
        </p:nvSpPr>
        <p:spPr>
          <a:xfrm>
            <a:off x="6296558"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D13B2F"/>
                </a:solidFill>
                <a:latin typeface="Arial"/>
              </a:rPr>
              <a:t>WHY NOW</a:t>
            </a:r>
          </a:p>
        </p:txBody>
      </p:sp>
      <p:sp>
        <p:nvSpPr>
          <p:cNvPr id="18" name="TextBox 17"/>
          <p:cNvSpPr txBox="1"/>
          <p:nvPr/>
        </p:nvSpPr>
        <p:spPr>
          <a:xfrm>
            <a:off x="6296558"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30 Jan 2027</a:t>
            </a:r>
          </a:p>
        </p:txBody>
      </p:sp>
      <p:sp>
        <p:nvSpPr>
          <p:cNvPr id="19" name="TextBox 18"/>
          <p:cNvSpPr txBox="1"/>
          <p:nvPr/>
        </p:nvSpPr>
        <p:spPr>
          <a:xfrm>
            <a:off x="6296558"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Finland gets a Solvency II flood capital factor: insurers need a joint-flood view now. The engine is quantum-ready as hardware matures.</a:t>
            </a:r>
          </a:p>
        </p:txBody>
      </p:sp>
      <p:sp>
        <p:nvSpPr>
          <p:cNvPr id="20" name="Rectangle 19"/>
          <p:cNvSpPr/>
          <p:nvPr/>
        </p:nvSpPr>
        <p:spPr>
          <a:xfrm>
            <a:off x="8896197" y="1508760"/>
            <a:ext cx="2606040" cy="3886200"/>
          </a:xfrm>
          <a:prstGeom prst="rect">
            <a:avLst/>
          </a:prstGeom>
          <a:solidFill>
            <a:srgbClr val="F3F6FA"/>
          </a:solidFill>
          <a:ln>
            <a:noFill/>
          </a:ln>
          <a:effectLst/>
        </p:spPr>
        <p:txBody>
          <a:bodyPr rtlCol="0" anchor="ctr"/>
          <a:lstStyle/>
          <a:p>
            <a:pPr algn="ctr"/>
          </a:p>
        </p:txBody>
      </p:sp>
      <p:sp>
        <p:nvSpPr>
          <p:cNvPr id="21" name="Rectangle 20"/>
          <p:cNvSpPr/>
          <p:nvPr/>
        </p:nvSpPr>
        <p:spPr>
          <a:xfrm>
            <a:off x="8896197" y="1508760"/>
            <a:ext cx="2606040" cy="64008"/>
          </a:xfrm>
          <a:prstGeom prst="rect">
            <a:avLst/>
          </a:prstGeom>
          <a:solidFill>
            <a:srgbClr val="1F6FEB"/>
          </a:solidFill>
          <a:ln>
            <a:noFill/>
          </a:ln>
          <a:effectLst/>
        </p:spPr>
        <p:txBody>
          <a:bodyPr rtlCol="0" anchor="ctr"/>
          <a:lstStyle/>
          <a:p>
            <a:pPr algn="ctr"/>
          </a:p>
        </p:txBody>
      </p:sp>
      <p:sp>
        <p:nvSpPr>
          <p:cNvPr id="22" name="TextBox 21"/>
          <p:cNvSpPr txBox="1"/>
          <p:nvPr/>
        </p:nvSpPr>
        <p:spPr>
          <a:xfrm>
            <a:off x="9079077"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SCALE</a:t>
            </a:r>
          </a:p>
        </p:txBody>
      </p:sp>
      <p:sp>
        <p:nvSpPr>
          <p:cNvPr id="23" name="TextBox 22"/>
          <p:cNvSpPr txBox="1"/>
          <p:nvPr/>
        </p:nvSpPr>
        <p:spPr>
          <a:xfrm>
            <a:off x="9079077"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Finland → Nordics → Europe</a:t>
            </a:r>
          </a:p>
        </p:txBody>
      </p:sp>
      <p:sp>
        <p:nvSpPr>
          <p:cNvPr id="24" name="TextBox 23"/>
          <p:cNvSpPr txBox="1"/>
          <p:nvPr/>
        </p:nvSpPr>
        <p:spPr>
          <a:xfrm>
            <a:off x="9079077"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Same engine, any snowmelt or river region. Gävle 2021: SEK 1.9bn claims. Storm Boris 2024: €2.15bn insured.</a:t>
            </a:r>
          </a:p>
        </p:txBody>
      </p:sp>
      <p:sp>
        <p:nvSpPr>
          <p:cNvPr id="25" name="Rectangle 24"/>
          <p:cNvSpPr/>
          <p:nvPr/>
        </p:nvSpPr>
        <p:spPr>
          <a:xfrm>
            <a:off x="548640" y="5577840"/>
            <a:ext cx="73152" cy="411480"/>
          </a:xfrm>
          <a:prstGeom prst="rect">
            <a:avLst/>
          </a:prstGeom>
          <a:solidFill>
            <a:srgbClr val="1F6FEB"/>
          </a:solidFill>
          <a:ln>
            <a:noFill/>
          </a:ln>
          <a:effectLst/>
        </p:spPr>
        <p:txBody>
          <a:bodyPr rtlCol="0" anchor="ctr"/>
          <a:lstStyle/>
          <a:p>
            <a:pPr algn="ctr"/>
          </a:p>
        </p:txBody>
      </p:sp>
      <p:sp>
        <p:nvSpPr>
          <p:cNvPr id="26" name="TextBox 25"/>
          <p:cNvSpPr txBox="1"/>
          <p:nvPr/>
        </p:nvSpPr>
        <p:spPr>
          <a:xfrm>
            <a:off x="777240" y="5577840"/>
            <a:ext cx="11094415" cy="411480"/>
          </a:xfrm>
          <a:prstGeom prst="rect">
            <a:avLst/>
          </a:prstGeom>
          <a:noFill/>
        </p:spPr>
        <p:txBody>
          <a:bodyPr wrap="square" lIns="0" rIns="0" tIns="0" bIns="0" anchor="ctr">
            <a:spAutoFit/>
          </a:bodyPr>
          <a:lstStyle/>
          <a:p>
            <a:pPr algn="l">
              <a:lnSpc>
                <a:spcPct val="100000"/>
              </a:lnSpc>
              <a:spcAft>
                <a:spcPts val="0"/>
              </a:spcAft>
            </a:pPr>
            <a:r>
              <a:rPr sz="1700" b="1">
                <a:solidFill>
                  <a:srgbClr val="1F6FEB"/>
                </a:solidFill>
                <a:latin typeface="Arial"/>
              </a:rPr>
              <a:t>Ask  </a:t>
            </a:r>
            <a:r>
              <a:rPr sz="1700" b="1">
                <a:solidFill>
                  <a:srgbClr val="0B1F3A"/>
                </a:solidFill>
                <a:latin typeface="Arial"/>
              </a:rPr>
              <a:t>First step: a paid pilot with one Finnish insurer this autumn, before the 1 January reinsurance buy.</a:t>
            </a:r>
          </a:p>
        </p:txBody>
      </p:sp>
      <p:sp>
        <p:nvSpPr>
          <p:cNvPr id="27" name="TextBox 26"/>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Sources: Finance Finland 2024; Del. Reg. (EU) 2026/269; Finansinspektionen 2023 (Gävle); PERILS 2025 (Boris)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731520" y="502920"/>
            <a:ext cx="5486400" cy="548640"/>
          </a:xfrm>
          <a:prstGeom prst="rect">
            <a:avLst/>
          </a:prstGeom>
          <a:noFill/>
        </p:spPr>
        <p:txBody>
          <a:bodyPr wrap="square" lIns="0" rIns="0" tIns="0" bIns="0" anchor="t">
            <a:spAutoFit/>
          </a:bodyPr>
          <a:lstStyle/>
          <a:p>
            <a:pPr algn="l">
              <a:lnSpc>
                <a:spcPct val="100000"/>
              </a:lnSpc>
              <a:spcAft>
                <a:spcPts val="0"/>
              </a:spcAft>
            </a:pPr>
            <a:r>
              <a:rPr sz="2800" b="1">
                <a:solidFill>
                  <a:srgbClr val="FFFFFF"/>
                </a:solidFill>
                <a:latin typeface="Arial"/>
              </a:rPr>
              <a:t>Tulva</a:t>
            </a:r>
          </a:p>
        </p:txBody>
      </p:sp>
      <p:sp>
        <p:nvSpPr>
          <p:cNvPr id="4" name="TextBox 3"/>
          <p:cNvSpPr txBox="1"/>
          <p:nvPr/>
        </p:nvSpPr>
        <p:spPr>
          <a:xfrm>
            <a:off x="731520" y="1234440"/>
            <a:ext cx="10515600" cy="1554480"/>
          </a:xfrm>
          <a:prstGeom prst="rect">
            <a:avLst/>
          </a:prstGeom>
          <a:noFill/>
        </p:spPr>
        <p:txBody>
          <a:bodyPr wrap="square" lIns="0" rIns="0" tIns="0" bIns="0" anchor="t">
            <a:spAutoFit/>
          </a:bodyPr>
          <a:lstStyle/>
          <a:p>
            <a:pPr algn="l">
              <a:lnSpc>
                <a:spcPct val="105000"/>
              </a:lnSpc>
              <a:spcAft>
                <a:spcPts val="0"/>
              </a:spcAft>
            </a:pPr>
            <a:r>
              <a:rPr sz="3800" b="1">
                <a:solidFill>
                  <a:srgbClr val="FFFFFF"/>
                </a:solidFill>
                <a:latin typeface="Arial"/>
              </a:rPr>
              <a:t>Tulva prices Finland's spring floods as a </a:t>
            </a:r>
            <a:r>
              <a:rPr sz="3800" b="1">
                <a:solidFill>
                  <a:srgbClr val="A9C8F5"/>
                </a:solidFill>
                <a:latin typeface="Arial"/>
              </a:rPr>
              <a:t>joint risk</a:t>
            </a:r>
            <a:r>
              <a:rPr sz="3800" b="1">
                <a:solidFill>
                  <a:srgbClr val="FFFFFF"/>
                </a:solidFill>
                <a:latin typeface="Arial"/>
              </a:rPr>
              <a:t>, and runs it on real quantum hardware.</a:t>
            </a:r>
          </a:p>
        </p:txBody>
      </p:sp>
      <p:sp>
        <p:nvSpPr>
          <p:cNvPr id="5" name="TextBox 4"/>
          <p:cNvSpPr txBox="1"/>
          <p:nvPr/>
        </p:nvSpPr>
        <p:spPr>
          <a:xfrm>
            <a:off x="731520" y="2788920"/>
            <a:ext cx="10058400" cy="320040"/>
          </a:xfrm>
          <a:prstGeom prst="rect">
            <a:avLst/>
          </a:prstGeom>
          <a:noFill/>
        </p:spPr>
        <p:txBody>
          <a:bodyPr wrap="square" lIns="0" rIns="0" tIns="0" bIns="0" anchor="t">
            <a:spAutoFit/>
          </a:bodyPr>
          <a:lstStyle/>
          <a:p>
            <a:pPr algn="l">
              <a:lnSpc>
                <a:spcPct val="100000"/>
              </a:lnSpc>
              <a:spcAft>
                <a:spcPts val="0"/>
              </a:spcAft>
            </a:pPr>
            <a:r>
              <a:rPr sz="1600" b="1">
                <a:solidFill>
                  <a:srgbClr val="A9C8F5"/>
                </a:solidFill>
                <a:latin typeface="Arial"/>
              </a:rPr>
              <a:t>BUILT THIS WEEKEND</a:t>
            </a:r>
          </a:p>
        </p:txBody>
      </p:sp>
      <p:sp>
        <p:nvSpPr>
          <p:cNvPr id="6" name="Rounded Rectangle 5"/>
          <p:cNvSpPr/>
          <p:nvPr/>
        </p:nvSpPr>
        <p:spPr>
          <a:xfrm>
            <a:off x="731520" y="3154679"/>
            <a:ext cx="2043620" cy="457200"/>
          </a:xfrm>
          <a:prstGeom prst="roundRect">
            <a:avLst>
              <a:gd name="adj" fmla="val 50000"/>
            </a:avLst>
          </a:prstGeom>
          <a:solidFill>
            <a:srgbClr val="1A365F"/>
          </a:solidFill>
          <a:ln>
            <a:noFill/>
          </a:ln>
          <a:effectLst/>
        </p:spPr>
        <p:txBody>
          <a:bodyPr rtlCol="0" anchor="ctr"/>
          <a:lstStyle/>
          <a:p>
            <a:pPr algn="ctr"/>
          </a:p>
        </p:txBody>
      </p:sp>
      <p:sp>
        <p:nvSpPr>
          <p:cNvPr id="7" name="TextBox 6"/>
          <p:cNvSpPr txBox="1"/>
          <p:nvPr/>
        </p:nvSpPr>
        <p:spPr>
          <a:xfrm>
            <a:off x="731520" y="3154679"/>
            <a:ext cx="2043620"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SYKE data pipeline</a:t>
            </a:r>
          </a:p>
        </p:txBody>
      </p:sp>
      <p:sp>
        <p:nvSpPr>
          <p:cNvPr id="8" name="Rounded Rectangle 7"/>
          <p:cNvSpPr/>
          <p:nvPr/>
        </p:nvSpPr>
        <p:spPr>
          <a:xfrm>
            <a:off x="2866580" y="3154679"/>
            <a:ext cx="1828811" cy="457200"/>
          </a:xfrm>
          <a:prstGeom prst="roundRect">
            <a:avLst>
              <a:gd name="adj" fmla="val 50000"/>
            </a:avLst>
          </a:prstGeom>
          <a:solidFill>
            <a:srgbClr val="1A365F"/>
          </a:solidFill>
          <a:ln>
            <a:noFill/>
          </a:ln>
          <a:effectLst/>
        </p:spPr>
        <p:txBody>
          <a:bodyPr rtlCol="0" anchor="ctr"/>
          <a:lstStyle/>
          <a:p>
            <a:pPr algn="ctr"/>
          </a:p>
        </p:txBody>
      </p:sp>
      <p:sp>
        <p:nvSpPr>
          <p:cNvPr id="9" name="TextBox 8"/>
          <p:cNvSpPr txBox="1"/>
          <p:nvPr/>
        </p:nvSpPr>
        <p:spPr>
          <a:xfrm>
            <a:off x="2866580" y="3154679"/>
            <a:ext cx="1828811"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Joint flood model</a:t>
            </a:r>
          </a:p>
        </p:txBody>
      </p:sp>
      <p:sp>
        <p:nvSpPr>
          <p:cNvPr id="10" name="Rounded Rectangle 9"/>
          <p:cNvSpPr/>
          <p:nvPr/>
        </p:nvSpPr>
        <p:spPr>
          <a:xfrm>
            <a:off x="4786832" y="3154679"/>
            <a:ext cx="1444736" cy="457200"/>
          </a:xfrm>
          <a:prstGeom prst="roundRect">
            <a:avLst>
              <a:gd name="adj" fmla="val 50000"/>
            </a:avLst>
          </a:prstGeom>
          <a:solidFill>
            <a:srgbClr val="1A365F"/>
          </a:solidFill>
          <a:ln>
            <a:noFill/>
          </a:ln>
          <a:effectLst/>
        </p:spPr>
        <p:txBody>
          <a:bodyPr rtlCol="0" anchor="ctr"/>
          <a:lstStyle/>
          <a:p>
            <a:pPr algn="ctr"/>
          </a:p>
        </p:txBody>
      </p:sp>
      <p:sp>
        <p:nvSpPr>
          <p:cNvPr id="11" name="TextBox 10"/>
          <p:cNvSpPr txBox="1"/>
          <p:nvPr/>
        </p:nvSpPr>
        <p:spPr>
          <a:xfrm>
            <a:off x="4786832" y="3154679"/>
            <a:ext cx="1444736"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Index pricing</a:t>
            </a:r>
          </a:p>
        </p:txBody>
      </p:sp>
      <p:sp>
        <p:nvSpPr>
          <p:cNvPr id="12" name="Rounded Rectangle 11"/>
          <p:cNvSpPr/>
          <p:nvPr/>
        </p:nvSpPr>
        <p:spPr>
          <a:xfrm>
            <a:off x="6323008" y="3154679"/>
            <a:ext cx="2054137" cy="457200"/>
          </a:xfrm>
          <a:prstGeom prst="roundRect">
            <a:avLst>
              <a:gd name="adj" fmla="val 50000"/>
            </a:avLst>
          </a:prstGeom>
          <a:solidFill>
            <a:srgbClr val="1A365F"/>
          </a:solidFill>
          <a:ln>
            <a:noFill/>
          </a:ln>
          <a:effectLst/>
        </p:spPr>
        <p:txBody>
          <a:bodyPr rtlCol="0" anchor="ctr"/>
          <a:lstStyle/>
          <a:p>
            <a:pPr algn="ctr"/>
          </a:p>
        </p:txBody>
      </p:sp>
      <p:sp>
        <p:nvSpPr>
          <p:cNvPr id="13" name="TextBox 12"/>
          <p:cNvSpPr txBox="1"/>
          <p:nvPr/>
        </p:nvSpPr>
        <p:spPr>
          <a:xfrm>
            <a:off x="6323008" y="3154679"/>
            <a:ext cx="2054137"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QAE on IBM &amp; IQM</a:t>
            </a:r>
          </a:p>
        </p:txBody>
      </p:sp>
      <p:sp>
        <p:nvSpPr>
          <p:cNvPr id="14" name="TextBox 13"/>
          <p:cNvSpPr txBox="1"/>
          <p:nvPr/>
        </p:nvSpPr>
        <p:spPr>
          <a:xfrm>
            <a:off x="731520" y="3794760"/>
            <a:ext cx="10058400" cy="320040"/>
          </a:xfrm>
          <a:prstGeom prst="rect">
            <a:avLst/>
          </a:prstGeom>
          <a:noFill/>
        </p:spPr>
        <p:txBody>
          <a:bodyPr wrap="square" lIns="0" rIns="0" tIns="0" bIns="0" anchor="t">
            <a:spAutoFit/>
          </a:bodyPr>
          <a:lstStyle/>
          <a:p>
            <a:pPr algn="l">
              <a:lnSpc>
                <a:spcPct val="100000"/>
              </a:lnSpc>
              <a:spcAft>
                <a:spcPts val="0"/>
              </a:spcAft>
            </a:pPr>
            <a:r>
              <a:rPr sz="1600" b="1">
                <a:solidFill>
                  <a:srgbClr val="A9C8F5"/>
                </a:solidFill>
                <a:latin typeface="Arial"/>
              </a:rPr>
              <a:t>RESOURCES USED</a:t>
            </a:r>
          </a:p>
        </p:txBody>
      </p:sp>
      <p:sp>
        <p:nvSpPr>
          <p:cNvPr id="15" name="Rounded Rectangle 14"/>
          <p:cNvSpPr/>
          <p:nvPr/>
        </p:nvSpPr>
        <p:spPr>
          <a:xfrm>
            <a:off x="731520" y="4160520"/>
            <a:ext cx="1795176"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16" name="TextBox 15"/>
          <p:cNvSpPr txBox="1"/>
          <p:nvPr/>
        </p:nvSpPr>
        <p:spPr>
          <a:xfrm>
            <a:off x="731520" y="4160520"/>
            <a:ext cx="1795176"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SYKE open data</a:t>
            </a:r>
          </a:p>
        </p:txBody>
      </p:sp>
      <p:sp>
        <p:nvSpPr>
          <p:cNvPr id="17" name="Rounded Rectangle 16"/>
          <p:cNvSpPr/>
          <p:nvPr/>
        </p:nvSpPr>
        <p:spPr>
          <a:xfrm>
            <a:off x="2618136" y="4160520"/>
            <a:ext cx="1670161"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18" name="TextBox 17"/>
          <p:cNvSpPr txBox="1"/>
          <p:nvPr/>
        </p:nvSpPr>
        <p:spPr>
          <a:xfrm>
            <a:off x="2618136" y="4160520"/>
            <a:ext cx="1670161"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IBM Marrakesh</a:t>
            </a:r>
          </a:p>
        </p:txBody>
      </p:sp>
      <p:sp>
        <p:nvSpPr>
          <p:cNvPr id="19" name="Rounded Rectangle 18"/>
          <p:cNvSpPr/>
          <p:nvPr/>
        </p:nvSpPr>
        <p:spPr>
          <a:xfrm>
            <a:off x="4379737" y="4160520"/>
            <a:ext cx="3578931"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0" name="TextBox 19"/>
          <p:cNvSpPr txBox="1"/>
          <p:nvPr/>
        </p:nvSpPr>
        <p:spPr>
          <a:xfrm>
            <a:off x="4379737" y="4160520"/>
            <a:ext cx="3578931"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IQM Garnet &amp; Emerald (Resonance)</a:t>
            </a:r>
          </a:p>
        </p:txBody>
      </p:sp>
      <p:sp>
        <p:nvSpPr>
          <p:cNvPr id="21" name="Rounded Rectangle 20"/>
          <p:cNvSpPr/>
          <p:nvPr/>
        </p:nvSpPr>
        <p:spPr>
          <a:xfrm>
            <a:off x="8050109" y="4160520"/>
            <a:ext cx="778085"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2" name="TextBox 21"/>
          <p:cNvSpPr txBox="1"/>
          <p:nvPr/>
        </p:nvSpPr>
        <p:spPr>
          <a:xfrm>
            <a:off x="8050109" y="4160520"/>
            <a:ext cx="778085"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Qrisp</a:t>
            </a:r>
          </a:p>
        </p:txBody>
      </p:sp>
      <p:sp>
        <p:nvSpPr>
          <p:cNvPr id="23" name="Rounded Rectangle 22"/>
          <p:cNvSpPr/>
          <p:nvPr/>
        </p:nvSpPr>
        <p:spPr>
          <a:xfrm>
            <a:off x="8919634" y="4160520"/>
            <a:ext cx="800608"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4" name="TextBox 23"/>
          <p:cNvSpPr txBox="1"/>
          <p:nvPr/>
        </p:nvSpPr>
        <p:spPr>
          <a:xfrm>
            <a:off x="8919634" y="4160520"/>
            <a:ext cx="800608"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Qiskit</a:t>
            </a:r>
          </a:p>
        </p:txBody>
      </p:sp>
      <p:sp>
        <p:nvSpPr>
          <p:cNvPr id="25" name="Rounded Rectangle 24"/>
          <p:cNvSpPr/>
          <p:nvPr/>
        </p:nvSpPr>
        <p:spPr>
          <a:xfrm>
            <a:off x="9811682" y="4160520"/>
            <a:ext cx="1806388"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6" name="TextBox 25"/>
          <p:cNvSpPr txBox="1"/>
          <p:nvPr/>
        </p:nvSpPr>
        <p:spPr>
          <a:xfrm>
            <a:off x="9811682" y="4160520"/>
            <a:ext cx="1806388"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AI coding agents</a:t>
            </a:r>
          </a:p>
        </p:txBody>
      </p:sp>
      <p:sp>
        <p:nvSpPr>
          <p:cNvPr id="27" name="TextBox 26"/>
          <p:cNvSpPr txBox="1"/>
          <p:nvPr/>
        </p:nvSpPr>
        <p:spPr>
          <a:xfrm>
            <a:off x="731520" y="5394960"/>
            <a:ext cx="10058400" cy="731520"/>
          </a:xfrm>
          <a:prstGeom prst="rect">
            <a:avLst/>
          </a:prstGeom>
          <a:noFill/>
        </p:spPr>
        <p:txBody>
          <a:bodyPr wrap="square" lIns="0" rIns="0" tIns="0" bIns="0" anchor="t">
            <a:spAutoFit/>
          </a:bodyPr>
          <a:lstStyle/>
          <a:p>
            <a:pPr algn="l">
              <a:lnSpc>
                <a:spcPct val="100000"/>
              </a:lnSpc>
              <a:spcAft>
                <a:spcPts val="400"/>
              </a:spcAft>
            </a:pPr>
            <a:r>
              <a:rPr sz="2000" b="1">
                <a:solidFill>
                  <a:srgbClr val="FFFFFF"/>
                </a:solidFill>
                <a:latin typeface="Arial"/>
              </a:rPr>
              <a:t>Toivo Kallio</a:t>
            </a:r>
            <a:r>
              <a:rPr sz="2000" b="0">
                <a:solidFill>
                  <a:srgbClr val="A9C8F5"/>
                </a:solidFill>
                <a:latin typeface="Arial"/>
              </a:rPr>
              <a:t>  ·  </a:t>
            </a:r>
            <a:r>
              <a:rPr sz="2000" b="1">
                <a:solidFill>
                  <a:srgbClr val="FFFFFF"/>
                </a:solidFill>
                <a:latin typeface="Arial"/>
              </a:rPr>
              <a:t>Vaishnav Rane</a:t>
            </a:r>
          </a:p>
          <a:p>
            <a:pPr algn="l">
              <a:lnSpc>
                <a:spcPct val="100000"/>
              </a:lnSpc>
              <a:spcAft>
                <a:spcPts val="400"/>
              </a:spcAft>
            </a:pPr>
            <a:r>
              <a:rPr sz="1600" b="0">
                <a:solidFill>
                  <a:srgbClr val="A9C8F5"/>
                </a:solidFill>
                <a:latin typeface="Arial"/>
              </a:rPr>
              <a:t>Team 21 STUHI  ·  Quantum x Finance 2026, Hanken × Ultrahack</a:t>
            </a:r>
          </a:p>
        </p:txBody>
      </p:sp>
      <p:sp>
        <p:nvSpPr>
          <p:cNvPr id="28" name="TextBox 27"/>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