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 (0:00–0:13)]</a:t>
            </a:r>
          </a:p>
          <a:p>
            <a:r>
              <a:t>In May 2005, two rivers in Lapland flooded at the SAME time. [pause] Kittilä and Ivalo. [pause] Lapland's snow had warned us two months EARLIER. [pause] Tulva turns that warning into a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 (0:13–0:34)]</a:t>
            </a:r>
          </a:p>
          <a:p>
            <a:r>
              <a:t>Finland's rivers share ONE snowpack, so they flood TOGETHER. [pause] If rivers flooded one by one, a spring with many floods would be rare. In reality, it happens about FOUR times as often. [pause] Insurers carry that joint risk, and they buy their cover in autumn, BEFORE the snow 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product (0:34–0:54)]</a:t>
            </a:r>
          </a:p>
          <a:p>
            <a:r>
              <a:t>The Tulva Index pays when SEVERAL northern rivers pass a RARE flood level in the same spring. [pause] Priced as if rivers were independent, it would be about FIVE times too cheap. [pause] Flood models start from RAIN. Tulva starts from SNOW, and prices rivers TOGETHER.</a:t>
            </a:r>
          </a:p>
          <a:p/>
          <a:p>
            <a:r>
              <a:t>Q&amp;A only (not spoken): vendor models (Verisk inland flood, Central Europe incl. FI/SE/NO) are precipitation-driven; SYKE publishes spring outlooks but nobody prices them; Swiss Re FLOW pays on one gauge. Example: €3M limit (≈ one insurer's share of the 2005 Lapland loss) × 4.9–6.9 % rate on line ≈ €150–210k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video (0:54–1:31), narrated live]</a:t>
            </a:r>
          </a:p>
          <a:p>
            <a:r>
              <a:t>[0 s, map] This is our LIVE app. Lines join rivers that flood together. [6 s, snow high] March snow set to HIGH… and the northern price JUMPS. [12 s, shots, low snow] REAL shots from an IQM quantum chip. Red means BOTH rivers flood. Low snow: little red. [18 s, snowy] Snowy March: about THREE times more red. [24 s, 14-area card] Our whole flood model on ONE chip. [31 s, 2005] And 2005: Lapland floods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in practice (1:31–1:51)]</a:t>
            </a:r>
          </a:p>
          <a:p>
            <a:r>
              <a:t>ONE: our whole flood model runs on one IQM chip TODAY. [pause] TWO: amplitude estimation, a quantum way to measure rare chances, ran on IBM and IQM. And the snow warning SURVIVES on the chip: about THREE times the risk, just like the exact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honestly (1:51–2:06)]</a:t>
            </a:r>
          </a:p>
          <a:p>
            <a:r>
              <a:t>But HONESTLY: classical computers still WIN today. Every number we sell is computed classically. Rare floods drown in noise. [pause] The method is READY. The hardware is not, YET. [pause] So NOW we build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[Business (2:06–2:33)]</a:t>
            </a:r>
          </a:p>
          <a:p>
            <a:r>
              <a:t>Who pays? [pause] A reinsurer carries the risk; we are the INDEX and pricing engine, paid per deal. Finland first: its data is OPEN. [pause] Why now? From January 2027, Solvency II charges capital for Finnish flood, with snowmelt correlation set to zero. We have 65 years of evidence. Our ask: ONE insurer's flood claims for eight weeks, for a firm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(2:33–2:44)]</a:t>
            </a:r>
          </a:p>
          <a:p>
            <a:r>
              <a:t>Everything you saw, we built THIS weekend. [pause] Next March, the snow will warn us AGAIN. [long pause] This time, it will have a PRICE.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Tulva</a:t>
            </a:r>
            <a:r>
              <a:rPr sz="2000" b="0">
                <a:solidFill>
                  <a:srgbClr val="6B7280"/>
                </a:solidFill>
                <a:latin typeface="Arial"/>
              </a:rPr>
              <a:t>   spring-flood risk, priced jointly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4400" b="1">
                <a:solidFill>
                  <a:srgbClr val="0B1F3A"/>
                </a:solidFill>
                <a:latin typeface="Arial"/>
              </a:rPr>
              <a:t>In May 2005, Kittilä and Ivalo flooded </a:t>
            </a:r>
            <a:r>
              <a:rPr sz="4400" b="1">
                <a:solidFill>
                  <a:srgbClr val="1F6FEB"/>
                </a:solidFill>
                <a:latin typeface="Arial"/>
              </a:rPr>
              <a:t>together.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Lapland's snow had warned us two months earlier.</a:t>
            </a:r>
          </a:p>
        </p:txBody>
      </p:sp>
      <p:pic>
        <p:nvPicPr>
          <p:cNvPr id="4" name="Picture 3" descr="map_2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1480"/>
            <a:ext cx="5852160" cy="4804011"/>
          </a:xfrm>
          <a:prstGeom prst="rect">
            <a:avLst/>
          </a:prstGeom>
          <a:ln>
            <a:solidFill>
              <a:srgbClr val="DDE3EA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Ivalo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Kittilä</a:t>
            </a:r>
          </a:p>
        </p:txBody>
      </p:sp>
      <p:sp>
        <p:nvSpPr>
          <p:cNvPr id="9" name="Rectangle 8"/>
          <p:cNvSpPr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Rovaniemi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Tornio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5288643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Tulva app: spring 2005 replay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discharge 1961–2025 and 1 March snow (SWE); Tulva back-test (out/backtest.json)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Finland's rivers flood together, not one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Springs when ≥4 of 14 river areas pass their 1-in-10 flood level</a:t>
            </a:r>
          </a:p>
        </p:txBody>
      </p:sp>
      <p:pic>
        <p:nvPicPr>
          <p:cNvPr id="6" name="Picture 5" descr="pitc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90" y="1783080"/>
            <a:ext cx="10682714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914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76072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Cover is bought in autumn. The snow signal comes in March.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1961–2025 (+ SMHI Torne); independence = same gauge-years, no co-flooding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Tulva Index: sold in autumn, updated in March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Pays if ≥2 of 5 northern rivers pass their 1-in-50 flood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MARKET PRICE, % OF THE LIMIT PER YEAR</a:t>
            </a:r>
          </a:p>
        </p:txBody>
      </p:sp>
      <p:pic>
        <p:nvPicPr>
          <p:cNvPr id="8" name="Picture 7" descr="pitch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2788920"/>
            <a:ext cx="11064240" cy="2606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5623560"/>
            <a:ext cx="914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562356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Arial"/>
              </a:rPr>
              <a:t>Example: €3M limit ≈ €150–210k /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Sources: SYKE 1961–2025, Tulva model; market 2.5–3.5× expected payout (AM Best cat bonds)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tulva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0967" y="502920"/>
            <a:ext cx="9509759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Live app: joint-flood map → March snow → quantum chip → 2005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It runs on real quantum chips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IQM Emerald: Kittilä and Ivalo both flood</a:t>
            </a:r>
          </a:p>
        </p:txBody>
      </p:sp>
      <p:pic>
        <p:nvPicPr>
          <p:cNvPr id="6" name="Picture 5" descr="pitch_s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39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14173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ALL 14 AREAS, ONE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173736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18 qubits, 44 two-qubit gates on IQM Emerald (sampling)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2697480"/>
            <a:ext cx="3749039" cy="13716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28346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AMPLITUDE ESTIMATION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127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Kittilä + Ivalo, 1-in-50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5478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Exact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347472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418795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427939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IBM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420624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0.149 %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6177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90 % CI 0.140–0.157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491947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501091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IQM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493775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6FEB"/>
                </a:solidFill>
                <a:latin typeface="Arial"/>
              </a:rPr>
              <a:t>0.164 %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5349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90 % CI 0.147–0.180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565099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5760719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Arial"/>
              </a:rPr>
              <a:t>Calibrated; raw readings were 2–3× 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IQM Emerald (snow: 10 copies, 240k shots per level; 14 areas: job 01a11cd4…); IBM Marrakesh, IQM Garnet; bootstrap 90 % CI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Classical Monte Carlo still wins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6</a:t>
            </a:r>
          </a:p>
        </p:txBody>
      </p:sp>
      <p:pic>
        <p:nvPicPr>
          <p:cNvPr id="5" name="Picture 4" descr="pitch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03" y="1463040"/>
            <a:ext cx="65717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Kittilä and Ivalo both pass 1-in-50: error vs 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6304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Method ready, hardware not yet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011680"/>
            <a:ext cx="4160520" cy="21031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011680"/>
            <a:ext cx="73152" cy="2103120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03120"/>
            <a:ext cx="3749039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D13B2F"/>
                </a:solidFill>
                <a:latin typeface="Arial"/>
              </a:rPr>
              <a:t>Measured today: </a:t>
            </a:r>
            <a:r>
              <a:rPr sz="1800" b="0">
                <a:solidFill>
                  <a:srgbClr val="0B1F3A"/>
                </a:solidFill>
                <a:latin typeface="Arial"/>
              </a:rPr>
              <a:t>~18 qubits, ~50 two-qubit gates work. Rare events (1-in-50) drown in noise on the 14-area loader. Noise also fattens tails: an independent control run reads 2× high.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343400"/>
            <a:ext cx="4160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Prices are computed classically; quantum is the R&amp;D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166360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Advantage needs fault-tolerant scale (cf. derivative pricing: ~8k logical qubits, Chakrabarti 2021)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Tulva simulations (qae-sim) + IBM Marrakesh / IQM Garnet / IQM Emerald runs; Chakrabarti et al., Quantum 5, 463 (2021)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Who buys, why, and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60604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WHO BUYS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Insurers &amp; reinsurers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1159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1159" y="1508760"/>
            <a:ext cx="260604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2327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HOW WE 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2327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Index + pricing engine, fee per deal (€25k pilot)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3678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3678" y="1508760"/>
            <a:ext cx="2606040" cy="64008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4846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D13B2F"/>
                </a:solidFill>
                <a:latin typeface="Arial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4846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Solvency II flood capital, Jan 2027 — snowmelt correlation set to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96197" y="1508760"/>
            <a:ext cx="2606040" cy="35661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96197" y="1508760"/>
            <a:ext cx="2606040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7365" y="1737360"/>
            <a:ext cx="22037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7365" y="2194560"/>
            <a:ext cx="220370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Snowmelt regions: Sweden, Norway, Alps, Canada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5349240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A9C8F5"/>
                </a:solidFill>
                <a:latin typeface="Arial"/>
              </a:rPr>
              <a:t>Ask  </a:t>
            </a:r>
            <a:r>
              <a:rPr sz="1900" b="1">
                <a:solidFill>
                  <a:srgbClr val="FFFFFF"/>
                </a:solidFill>
                <a:latin typeface="Arial"/>
              </a:rPr>
              <a:t>One insurer's flood claims for 8 weeks → basis-risk map + firm quote for 1 Jan 2028.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Sources: Del. Reg. (EU) 2026/269; EIOPA-BoS-24/462 §4.70 (25 % snowmelt correlation rejected)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Tulva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March, the snow will warn us </a:t>
            </a:r>
            <a:r>
              <a:rPr sz="4000" b="1">
                <a:solidFill>
                  <a:srgbClr val="A9C8F5"/>
                </a:solidFill>
                <a:latin typeface="Arial"/>
              </a:rPr>
              <a:t>again.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3000" b="0">
                <a:solidFill>
                  <a:srgbClr val="A9C8F5"/>
                </a:solidFill>
                <a:latin typeface="Arial"/>
              </a:rPr>
              <a:t>This time, it will have a 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BUILT THIS WEEKEND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47872"/>
            <a:ext cx="1660382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166038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data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3342" y="3547872"/>
            <a:ext cx="1485896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3342" y="3547872"/>
            <a:ext cx="1485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Joint flood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0678" y="3547872"/>
            <a:ext cx="1173833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0678" y="3547872"/>
            <a:ext cx="117383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Index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5951" y="3547872"/>
            <a:ext cx="861929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5951" y="3547872"/>
            <a:ext cx="8619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Live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9320" y="3547872"/>
            <a:ext cx="1669034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9320" y="3547872"/>
            <a:ext cx="16690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QAE on IBM &amp; IQM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RESOURCES USED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70832"/>
            <a:ext cx="1458551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70832"/>
            <a:ext cx="14585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open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1511" y="4370832"/>
            <a:ext cx="135703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511" y="4370832"/>
            <a:ext cx="135703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IBM Marrakesh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9982" y="4370832"/>
            <a:ext cx="290791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9982" y="4370832"/>
            <a:ext cx="29079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IQM Garnet &amp; Emerald (Resonance)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9341" y="4370832"/>
            <a:ext cx="632198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341" y="4370832"/>
            <a:ext cx="6321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Qrisp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979" y="4370832"/>
            <a:ext cx="650494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979" y="4370832"/>
            <a:ext cx="65049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Qiskit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4913" y="4370832"/>
            <a:ext cx="146767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4913" y="4370832"/>
            <a:ext cx="14676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AI coding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Toivo Kallio</a:t>
            </a:r>
            <a:r>
              <a:rPr sz="2000" b="0">
                <a:solidFill>
                  <a:srgbClr val="A9C8F5"/>
                </a:solidFill>
                <a:latin typeface="Arial"/>
              </a:rPr>
              <a:t>  ·  </a:t>
            </a:r>
            <a:r>
              <a:rPr sz="2000" b="1">
                <a:solidFill>
                  <a:srgbClr val="FFFFFF"/>
                </a:solidFill>
                <a:latin typeface="Arial"/>
              </a:rPr>
              <a:t>Vaishnav Rane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A9C8F5"/>
                </a:solidFill>
                <a:latin typeface="Arial"/>
              </a:rPr>
              <a:t>Team 21 STUHI  ·  Quantum x Finance 2026, Hanken × Ultrahack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