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a:p/>
          <a:p>
            <a:r>
              <a:t>Q&amp;A only (not spoken): "flood levels" = river flow (discharge) over each gauge's 1-in-10 level, not damage. Four = Ivalo, Kittilä, Rovaniemi, Tornio over their 1-in-10 level (the map's filled dots); Ivalo, Kittilä and Rovaniemi also passed their 1-in-50 level. "Warned us" = the North's 1 March snow was in its top 15 % (87th percentile): an in-sample back-test, not a forecast we made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(0:12–0:24)]</a:t>
            </a:r>
          </a:p>
          <a:p>
            <a:r>
              <a:t>Rivers in one region share ONE snowpack, so they flood TOGETHER: almost FOUR times more often than chance. [pause] Insurers buy cover in autumn, BEFORE the snow.</a:t>
            </a:r>
          </a:p>
          <a:p/>
          <a:p>
            <a:r>
              <a:t>Q&amp;A only (not spoken): 10 of 65 springs (15.4 %, 90 % interval 9–24 %) had ≥4 of 14 areas over 1-in-10; chance on the same gauge-years 3.9 % (3.9×). If all 14 gauges had reported every year, chance would be 4.4 % (3.5×).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(0:24–0:38)]</a:t>
            </a:r>
          </a:p>
          <a:p>
            <a:r>
              <a:t>Our index pays when SEVERAL northern rivers pass a rare flood level TOGETHER. Its expected loss is 1.8 TIMES the regulator's standard assumption. [pause] After a snowy March, it TRIPLES.</a:t>
            </a:r>
          </a:p>
          <a:p/>
          <a:p>
            <a:r>
              <a:t>Q&amp;A only (not spoken): a model comparison, not "the rule implies a price": expected loss 1.96 % of the limit a year (year-bootstrap 90 %: 1.6–2.2 %) vs 1.11 % for a model with one correlation of 0.27, the mean of the 2027 Finnish 19-zone flood matrix (1.77×). We used the 19-zone mean, not the Lapland zones' own entries (the repo has neither the entries nor the zone-to-region map). ≈5× only against independence (0.38 %). "Triples" = 6.4 % after a top-15 % snow March vs the autumn (normal) 1.96 % (3.3×, 90 %: 2.1–4.4×): snowy vs NORMAL, for the 5-river cover. Not the same as slide 6's 3.05× (snowy vs LOW snow, two-river pair on chip; snowy vs normal there is 1.51× chip / 1.55× exact). The product pays the full limit at ≥2; a staged payout is only a variant. The cover is priced in autumn; in March the insurer buys a top-up / second-layer cover if it wants one, staffs claims in the regions at risk and uses the number in its ORSA. Market price (2.5–3.5× expected loss): 4.9–6.9 % rate on line, ≈ €49–69k a year per €1M of cover.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(0:38–1:22),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(1:22–1:35)]</a:t>
            </a:r>
          </a:p>
          <a:p>
            <a:r>
              <a:t>Each qubit is the wet spring or a river; the gates ARE our model. Why quantum? Twice the accuracy costs sampling four times the runs; amplitude estimation, only twice.</a:t>
            </a:r>
          </a:p>
          <a:p/>
          <a:p>
            <a:r>
              <a:t>Q&amp;A only (not spoken): method = quantum amplitude estimation (QAE), in its maximum-likelihood form (MLAE): Grover powers k = 0, 1, 2, no phase estimation, plus noise-aware calibration on hardware. The figure is the circuit we ran (instance A3_kittila_ivalo_both in scripts/run_hw.py, drawn by scripts/qae_circuit_figure.py): A = RY on the wet-spring qubit, RY + controlled-RY on each river qubit (angles 2·arcsin(√p) from the model); CZ marks "both flood"; one Grover step = A† · reflect about |000⟩ · A. On an ideal simulator: 0.125 % (exact 0.125 %), ±0.011 pp vs Monte Carlo ±0.027 pp at the same 16,000 oracle queries (≈2.5× tighter). "Only twice" is the ideal scaling (error ∝ 1/N vs 1/√N); our shallow k = 0–2 runs do not reach it on today's chips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(1:35–1:39)]</a:t>
            </a:r>
          </a:p>
          <a:p>
            <a:r>
              <a:t>On the IQM chip, the snow signal SURVIVES the noise.</a:t>
            </a:r>
          </a:p>
          <a:p/>
          <a:p>
            <a:r>
              <a:t>Q&amp;A only (not spoken): the two-river core is a North-cluster pair with identical loadings and 1-in-50 trigger, not Kittilä and Ivalo specifically. The 3.05× is IQM Emerald (calibrated, 90 %: 2.6–3.6). The simplified 14-river model (two-level, 18 qubits, sampling only) ran on IQM's Emerald and Q50. Method: calibrated sampling plus shallow amplitude estimation (Grover steps k = 0–2). Signal kept at k = 1 in the runs shown: Emerald 0.56–0.59, IBM / Garnet 0.77–0.78, VTT Q50 0.12–0.19 (earlier runs 0.65–0.88), so the estimate is mostly the calibrated k = 0 circuit. VTT Q50 (via LUMI): three repeats gave 0.11–0.53 % vs exact 0.125 %; calibration not yet stable, k = 1 keeps only 0.12–0.19 of the signal. It is the fourth computer we ran on, not a headline result (QA.md).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(1:39–1:48)]</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(1:48–2:18)]</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the regulator's formula is BLIND to snow. Our ask: one insurer's flood claims, eight weeks.</a:t>
            </a:r>
          </a:p>
          <a:p/>
          <a:p>
            <a:r>
              <a:t>Q&amp;A only (not spoken): premium per €10M North layer ≈ €0.5–0.7M a year (model × 2.5–3.5 market multiple) goes insurer → reinsurer; the licence goes insurer → Tulva (the reinsurer pays Tulva nothing). "The regulator's formula" = the 2027 Solvency II standard formula; "their own model" = an approved internal model (If: Sampo's partial internal model; we don't claim OP uses one). Year 3 = 3–6 insurers × €75k (assumption); Nordic snowmelt upside unsized (assumption). We'd like to pilot with OP; there is no agreement. Basis risk (1-in-10 back-test): paid in loss springs 1966, 2005, 2018; missed Ostrobothnia 2012–13 and 2024 (snow flag on, index silent) and Lapland 2020; since 2005 also paid in 2015, 2023 and 2024 in the North with no recorded Lapland loss. At the 1-in-50 product level: paid 1966 and 2005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(2:18–2:31)]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617720"/>
            <a:ext cx="11094415" cy="1600200"/>
          </a:xfrm>
          <a:prstGeom prst="rect">
            <a:avLst/>
          </a:prstGeom>
          <a:noFill/>
        </p:spPr>
        <p:txBody>
          <a:bodyPr wrap="square" lIns="0" rIns="0" tIns="0" bIns="0" anchor="t">
            <a:spAutoFit/>
          </a:bodyPr>
          <a:lstStyle/>
          <a:p>
            <a:pPr algn="l">
              <a:lnSpc>
                <a:spcPct val="100000"/>
              </a:lnSpc>
              <a:spcAft>
                <a:spcPts val="600"/>
              </a:spcAft>
            </a:pPr>
            <a:r>
              <a:rPr sz="2800" b="0">
                <a:solidFill>
                  <a:srgbClr val="0B1F3A"/>
                </a:solidFill>
                <a:latin typeface="Arial"/>
              </a:rPr>
              <a:t>Qubits = wet spring + rivers. Gates = our flood model.</a:t>
            </a:r>
          </a:p>
          <a:p>
            <a:pPr algn="l">
              <a:lnSpc>
                <a:spcPct val="100000"/>
              </a:lnSpc>
              <a:spcAft>
                <a:spcPts val="600"/>
              </a:spcAft>
            </a:pPr>
            <a:r>
              <a:rPr sz="2800" b="1">
                <a:solidFill>
                  <a:srgbClr val="D13B2F"/>
                </a:solidFill>
                <a:latin typeface="Arial"/>
              </a:rPr>
              <a:t>Why quantum?  </a:t>
            </a:r>
            <a:r>
              <a:rPr sz="2800" b="0">
                <a:solidFill>
                  <a:srgbClr val="0B1F3A"/>
                </a:solidFill>
                <a:latin typeface="Arial"/>
              </a:rPr>
              <a:t>2× accuracy: sampling needs 4× the runs, QAE 2×.</a:t>
            </a:r>
          </a:p>
          <a:p>
            <a:pPr algn="l">
              <a:lnSpc>
                <a:spcPct val="100000"/>
              </a:lnSpc>
              <a:spcAft>
                <a:spcPts val="600"/>
              </a:spcAft>
            </a:pPr>
            <a:r>
              <a:rPr sz="2800" b="0">
                <a:solidFill>
                  <a:srgbClr val="0B1F3A"/>
                </a:solidFill>
                <a:latin typeface="Arial"/>
              </a:rPr>
              <a:t>Perfect simulator: exact 0.125 %, ≈2.5× tighter than Monte Carlo</a:t>
            </a:r>
          </a:p>
        </p:txBody>
      </p:sp>
      <p:sp>
        <p:nvSpPr>
          <p:cNvPr id="6" name="TextBox 5"/>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MLAE, Grover steps k = 0, 1, 2 · simulator ±0.011 vs Monte Carlo ±0.027 pp, 16,000 runs each · 2× vs 4× = ideal scaling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BACKUP · Q&amp;A ONLY</a:t>
            </a:r>
          </a:p>
        </p:txBody>
      </p:sp>
      <p:sp>
        <p:nvSpPr>
          <p:cNvPr id="3" name="TextBox 2"/>
          <p:cNvSpPr txBox="1"/>
          <p:nvPr/>
        </p:nvSpPr>
        <p:spPr>
          <a:xfrm>
            <a:off x="548640" y="658368"/>
            <a:ext cx="11094415" cy="64008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Product and pricing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10</a:t>
            </a:r>
          </a:p>
        </p:txBody>
      </p:sp>
      <p:sp>
        <p:nvSpPr>
          <p:cNvPr id="5" name="TextBox 4"/>
          <p:cNvSpPr txBox="1"/>
          <p:nvPr/>
        </p:nvSpPr>
        <p:spPr>
          <a:xfrm>
            <a:off x="548640" y="1371600"/>
            <a:ext cx="8229600" cy="274320"/>
          </a:xfrm>
          <a:prstGeom prst="rect">
            <a:avLst/>
          </a:prstGeom>
          <a:noFill/>
        </p:spPr>
        <p:txBody>
          <a:bodyPr wrap="square" lIns="0" rIns="0" tIns="0" bIns="0" anchor="t">
            <a:spAutoFit/>
          </a:bodyPr>
          <a:lstStyle/>
          <a:p>
            <a:pPr algn="l">
              <a:lnSpc>
                <a:spcPct val="100000"/>
              </a:lnSpc>
              <a:spcAft>
                <a:spcPts val="0"/>
              </a:spcAft>
            </a:pPr>
            <a:r>
              <a:rPr sz="1400" b="1">
                <a:solidFill>
                  <a:srgbClr val="1F6FEB"/>
                </a:solidFill>
                <a:latin typeface="Arial"/>
              </a:rPr>
              <a:t>EXPECTED LOSS, % OF THE LIMIT PER YEAR (YEAR-BOOTSTRAP 90 % INTERVALS)</a:t>
            </a:r>
          </a:p>
        </p:txBody>
      </p:sp>
      <p:pic>
        <p:nvPicPr>
          <p:cNvPr id="6" name="Picture 5" descr="pitch_cost.png"/>
          <p:cNvPicPr>
            <a:picLocks noChangeAspect="1"/>
          </p:cNvPicPr>
          <p:nvPr/>
        </p:nvPicPr>
        <p:blipFill>
          <a:blip r:embed="rId2"/>
          <a:stretch>
            <a:fillRect/>
          </a:stretch>
        </p:blipFill>
        <p:spPr>
          <a:xfrm>
            <a:off x="563727" y="1691640"/>
            <a:ext cx="11064240" cy="1828800"/>
          </a:xfrm>
          <a:prstGeom prst="rect">
            <a:avLst/>
          </a:prstGeom>
        </p:spPr>
      </p:pic>
      <p:sp>
        <p:nvSpPr>
          <p:cNvPr id="7" name="TextBox 6"/>
          <p:cNvSpPr txBox="1"/>
          <p:nvPr/>
        </p:nvSpPr>
        <p:spPr>
          <a:xfrm>
            <a:off x="548640" y="3703320"/>
            <a:ext cx="11094415" cy="2743200"/>
          </a:xfrm>
          <a:prstGeom prst="rect">
            <a:avLst/>
          </a:prstGeom>
          <a:noFill/>
        </p:spPr>
        <p:txBody>
          <a:bodyPr wrap="square" lIns="0" rIns="0" tIns="0" bIns="0" anchor="t">
            <a:spAutoFit/>
          </a:bodyPr>
          <a:lstStyle/>
          <a:p>
            <a:pPr algn="l">
              <a:lnSpc>
                <a:spcPct val="105000"/>
              </a:lnSpc>
              <a:spcAft>
                <a:spcPts val="900"/>
              </a:spcAft>
            </a:pPr>
            <a:r>
              <a:rPr sz="1500" b="1">
                <a:solidFill>
                  <a:srgbClr val="1F6FEB"/>
                </a:solidFill>
                <a:latin typeface="Arial"/>
              </a:rPr>
              <a:t>▪  </a:t>
            </a:r>
            <a:r>
              <a:rPr sz="1500" b="0">
                <a:solidFill>
                  <a:srgbClr val="0B1F3A"/>
                </a:solidFill>
                <a:latin typeface="Arial"/>
              </a:rPr>
              <a:t>Index: pays the full limit if ≥2 of 5 northern rivers pass their 1-in-50 level (a staged payout is only a variant). Priced in autumn; in March the insurer can buy top-up cover and staff claims in the regions at risk.</a:t>
            </a:r>
          </a:p>
          <a:p>
            <a:pPr algn="l">
              <a:lnSpc>
                <a:spcPct val="105000"/>
              </a:lnSpc>
              <a:spcAft>
                <a:spcPts val="900"/>
              </a:spcAft>
            </a:pPr>
            <a:r>
              <a:rPr sz="1500" b="1">
                <a:solidFill>
                  <a:srgbClr val="1F6FEB"/>
                </a:solidFill>
                <a:latin typeface="Arial"/>
              </a:rPr>
              <a:t>▪  </a:t>
            </a:r>
            <a:r>
              <a:rPr sz="1500" b="0">
                <a:solidFill>
                  <a:srgbClr val="0B1F3A"/>
                </a:solidFill>
                <a:latin typeface="Arial"/>
              </a:rPr>
              <a:t>Tulva 1.96 % (1.6–2.2 %) vs 1.11 % for the standard assumption (a model with one 0.27 correlation) = 1.77× (≈1.8×). 0.27 = mean of the 2027 Finnish 19-zone flood matrix, Del. Reg. (EU) 2026/269. ≈5× only vs independence (0.38 %).</a:t>
            </a:r>
          </a:p>
          <a:p>
            <a:pPr algn="l">
              <a:lnSpc>
                <a:spcPct val="105000"/>
              </a:lnSpc>
              <a:spcAft>
                <a:spcPts val="900"/>
              </a:spcAft>
            </a:pPr>
            <a:r>
              <a:rPr sz="1500" b="1">
                <a:solidFill>
                  <a:srgbClr val="1F6FEB"/>
                </a:solidFill>
                <a:latin typeface="Arial"/>
              </a:rPr>
              <a:t>▪  </a:t>
            </a:r>
            <a:r>
              <a:rPr sz="1500" b="0">
                <a:solidFill>
                  <a:srgbClr val="0B1F3A"/>
                </a:solidFill>
                <a:latin typeface="Arial"/>
              </a:rPr>
              <a:t>Snowy (top-15 %) March vs autumn (normal): 6.4 % (3.6–9.1 %) vs 1.96 % = 3.3× (90 %: 2.1–4.4×).</a:t>
            </a:r>
          </a:p>
          <a:p>
            <a:pPr algn="l">
              <a:lnSpc>
                <a:spcPct val="105000"/>
              </a:lnSpc>
              <a:spcAft>
                <a:spcPts val="900"/>
              </a:spcAft>
            </a:pPr>
            <a:r>
              <a:rPr sz="1500" b="1">
                <a:solidFill>
                  <a:srgbClr val="1F6FEB"/>
                </a:solidFill>
                <a:latin typeface="Arial"/>
              </a:rPr>
              <a:t>▪  </a:t>
            </a:r>
            <a:r>
              <a:rPr sz="1500" b="0">
                <a:solidFill>
                  <a:srgbClr val="0B1F3A"/>
                </a:solidFill>
                <a:latin typeface="Arial"/>
              </a:rPr>
              <a:t>Market price = expected loss × 2.5–3.5: 4.9–6.9 % rate on line ≈ €49–69k a year per €1M of cover.</a:t>
            </a:r>
          </a:p>
          <a:p>
            <a:pPr algn="l">
              <a:lnSpc>
                <a:spcPct val="105000"/>
              </a:lnSpc>
              <a:spcAft>
                <a:spcPts val="900"/>
              </a:spcAft>
            </a:pPr>
            <a:r>
              <a:rPr sz="1500" b="1">
                <a:solidFill>
                  <a:srgbClr val="1F6FEB"/>
                </a:solidFill>
                <a:latin typeface="Arial"/>
              </a:rPr>
              <a:t>▪  </a:t>
            </a:r>
            <a:r>
              <a:rPr sz="1500" b="0">
                <a:solidFill>
                  <a:srgbClr val="0B1F3A"/>
                </a:solidFill>
                <a:latin typeface="Arial"/>
              </a:rPr>
              <a:t>Slide 1: 'flooded' = flow over each gauge's 1-in-10 level; North's 1 March snow in its top 15 % (in-sample). Slide 2: 10 of 65 springs (15.4 %, 90 %: 9–24 %) had ≥4 of 14 areas over 1-in-10; chance on the same gauge-years 3.9 % (3.9×), 4.4 % if all gauges reported (3.5×). SYKE 1961–2025 (+ SMHI Torne).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BACKUP · Q&amp;A ONLY</a:t>
            </a:r>
          </a:p>
        </p:txBody>
      </p:sp>
      <p:sp>
        <p:nvSpPr>
          <p:cNvPr id="3" name="TextBox 2"/>
          <p:cNvSpPr txBox="1"/>
          <p:nvPr/>
        </p:nvSpPr>
        <p:spPr>
          <a:xfrm>
            <a:off x="548640" y="658368"/>
            <a:ext cx="11094415" cy="64008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Basis risk and business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11</a:t>
            </a:r>
          </a:p>
        </p:txBody>
      </p:sp>
      <p:sp>
        <p:nvSpPr>
          <p:cNvPr id="5" name="TextBox 4"/>
          <p:cNvSpPr txBox="1"/>
          <p:nvPr/>
        </p:nvSpPr>
        <p:spPr>
          <a:xfrm>
            <a:off x="548640" y="1463040"/>
            <a:ext cx="11094415" cy="4937760"/>
          </a:xfrm>
          <a:prstGeom prst="rect">
            <a:avLst/>
          </a:prstGeom>
          <a:noFill/>
        </p:spPr>
        <p:txBody>
          <a:bodyPr wrap="square" lIns="0" rIns="0" tIns="0" bIns="0" anchor="t">
            <a:spAutoFit/>
          </a:bodyPr>
          <a:lstStyle/>
          <a:p>
            <a:pPr algn="l">
              <a:lnSpc>
                <a:spcPct val="105000"/>
              </a:lnSpc>
              <a:spcAft>
                <a:spcPts val="900"/>
              </a:spcAft>
            </a:pPr>
            <a:r>
              <a:rPr sz="1700" b="1">
                <a:solidFill>
                  <a:srgbClr val="0B1F3A"/>
                </a:solidFill>
                <a:latin typeface="Arial"/>
              </a:rPr>
              <a:t>Basis risk (1-in-10 back-test).  </a:t>
            </a:r>
            <a:r>
              <a:rPr sz="1700" b="0">
                <a:solidFill>
                  <a:srgbClr val="0B1F3A"/>
                </a:solidFill>
                <a:latin typeface="Arial"/>
              </a:rPr>
              <a:t>Paid in loss springs 1966, 2005, 2018; missed Ostrobothnia 2012–13 and 2024 and Lapland 2020; since 2005 also paid in 3 North springs with no recorded loss (2015, 2023, 2024). At the 1-in-50 product level: paid 1966 and 2005 only.</a:t>
            </a:r>
          </a:p>
          <a:p>
            <a:pPr algn="l">
              <a:lnSpc>
                <a:spcPct val="105000"/>
              </a:lnSpc>
              <a:spcAft>
                <a:spcPts val="900"/>
              </a:spcAft>
            </a:pPr>
            <a:r>
              <a:rPr sz="1700" b="1">
                <a:solidFill>
                  <a:srgbClr val="0B1F3A"/>
                </a:solidFill>
                <a:latin typeface="Arial"/>
              </a:rPr>
              <a:t>Why now.  </a:t>
            </a:r>
            <a:r>
              <a:rPr sz="1700" b="0">
                <a:solidFill>
                  <a:srgbClr val="0B1F3A"/>
                </a:solidFill>
                <a:latin typeface="Arial"/>
              </a:rPr>
              <a:t>From 2027 the Solvency II standard formula fixes flood correlations that ignore the snow (19-zone matrix inside Finland, mean ≈ 0.27; 0 % to SE/NO/DK; Del. Reg. (EU) 2026/269). Insurers with an approved internal model, like If, can use a snow-aware joint-flood number.</a:t>
            </a:r>
          </a:p>
          <a:p>
            <a:pPr algn="l">
              <a:lnSpc>
                <a:spcPct val="105000"/>
              </a:lnSpc>
              <a:spcAft>
                <a:spcPts val="900"/>
              </a:spcAft>
            </a:pPr>
            <a:r>
              <a:rPr sz="1700" b="1">
                <a:solidFill>
                  <a:srgbClr val="0B1F3A"/>
                </a:solidFill>
                <a:latin typeface="Arial"/>
              </a:rPr>
              <a:t>Money flows.  </a:t>
            </a:r>
            <a:r>
              <a:rPr sz="1700" b="0">
                <a:solidFill>
                  <a:srgbClr val="0B1F3A"/>
                </a:solidFill>
                <a:latin typeface="Arial"/>
              </a:rPr>
              <a:t>Insurer → reinsurer: premium ≈ €0.5–0.7M a year per €10M North layer (model × 2.5–3.5 market multiple). Insurer → Tulva: licence, €25k pilot, then ~€75k a year (assumption). The reinsurer pays Tulva nothing.</a:t>
            </a:r>
          </a:p>
          <a:p>
            <a:pPr algn="l">
              <a:lnSpc>
                <a:spcPct val="105000"/>
              </a:lnSpc>
              <a:spcAft>
                <a:spcPts val="900"/>
              </a:spcAft>
            </a:pPr>
            <a:r>
              <a:rPr sz="1700" b="1">
                <a:solidFill>
                  <a:srgbClr val="0B1F3A"/>
                </a:solidFill>
                <a:latin typeface="Arial"/>
              </a:rPr>
              <a:t>Year 3.  </a:t>
            </a:r>
            <a:r>
              <a:rPr sz="1700" b="0">
                <a:solidFill>
                  <a:srgbClr val="0B1F3A"/>
                </a:solidFill>
                <a:latin typeface="Arial"/>
              </a:rPr>
              <a:t>3–6 insurers × €75k ≈ €0.2–0.45M a year (assumption); Nordic snowmelt upside unsized (assumption). Buyers: Finnish home insurers (OP, If, LähiTapiola, …); no pilot agreement yet.</a:t>
            </a:r>
          </a:p>
          <a:p>
            <a:pPr algn="l">
              <a:lnSpc>
                <a:spcPct val="105000"/>
              </a:lnSpc>
              <a:spcAft>
                <a:spcPts val="900"/>
              </a:spcAft>
            </a:pPr>
            <a:r>
              <a:rPr sz="1700" b="1">
                <a:solidFill>
                  <a:srgbClr val="0B1F3A"/>
                </a:solidFill>
                <a:latin typeface="Arial"/>
              </a:rPr>
              <a:t>Market size.  </a:t>
            </a:r>
            <a:r>
              <a:rPr sz="1700" b="0">
                <a:solidFill>
                  <a:srgbClr val="0B1F3A"/>
                </a:solidFill>
                <a:latin typeface="Arial"/>
              </a:rPr>
              <a:t>Losses per event ≈ €5–20M; parametric insurance market $3.5bn to $18–21bn, 12–14 %/yr growth (business case, outside sources, quoted as a range).</a:t>
            </a:r>
          </a:p>
          <a:p>
            <a:pPr algn="l">
              <a:lnSpc>
                <a:spcPct val="105000"/>
              </a:lnSpc>
              <a:spcAft>
                <a:spcPts val="900"/>
              </a:spcAft>
            </a:pPr>
            <a:r>
              <a:rPr sz="1700" b="1">
                <a:solidFill>
                  <a:srgbClr val="0B1F3A"/>
                </a:solidFill>
                <a:latin typeface="Arial"/>
              </a:rPr>
              <a:t>Ask.  </a:t>
            </a:r>
            <a:r>
              <a:rPr sz="1700" b="0">
                <a:solidFill>
                  <a:srgbClr val="0B1F3A"/>
                </a:solidFill>
                <a:latin typeface="Arial"/>
              </a:rPr>
              <a:t>One insurer's flood claims for 8 weeks → basis-risk map + firm quote for 1 Jan 2028.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BACKUP · Q&amp;A ONLY</a:t>
            </a:r>
          </a:p>
        </p:txBody>
      </p:sp>
      <p:sp>
        <p:nvSpPr>
          <p:cNvPr id="3" name="TextBox 2"/>
          <p:cNvSpPr txBox="1"/>
          <p:nvPr/>
        </p:nvSpPr>
        <p:spPr>
          <a:xfrm>
            <a:off x="548640" y="658368"/>
            <a:ext cx="11094415" cy="64008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Hardware runs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12</a:t>
            </a:r>
          </a:p>
        </p:txBody>
      </p:sp>
      <p:sp>
        <p:nvSpPr>
          <p:cNvPr id="5" name="TextBox 4"/>
          <p:cNvSpPr txBox="1"/>
          <p:nvPr/>
        </p:nvSpPr>
        <p:spPr>
          <a:xfrm>
            <a:off x="548640" y="1280160"/>
            <a:ext cx="140290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Chip</a:t>
            </a:r>
          </a:p>
        </p:txBody>
      </p:sp>
      <p:sp>
        <p:nvSpPr>
          <p:cNvPr id="6" name="TextBox 5"/>
          <p:cNvSpPr txBox="1"/>
          <p:nvPr/>
        </p:nvSpPr>
        <p:spPr>
          <a:xfrm>
            <a:off x="2042989" y="1280160"/>
            <a:ext cx="357650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Circuit</a:t>
            </a:r>
          </a:p>
        </p:txBody>
      </p:sp>
      <p:sp>
        <p:nvSpPr>
          <p:cNvPr id="7" name="TextBox 6"/>
          <p:cNvSpPr txBox="1"/>
          <p:nvPr/>
        </p:nvSpPr>
        <p:spPr>
          <a:xfrm>
            <a:off x="5710939" y="1280160"/>
            <a:ext cx="72365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Exact</a:t>
            </a:r>
          </a:p>
        </p:txBody>
      </p:sp>
      <p:sp>
        <p:nvSpPr>
          <p:cNvPr id="8" name="TextBox 7"/>
          <p:cNvSpPr txBox="1"/>
          <p:nvPr/>
        </p:nvSpPr>
        <p:spPr>
          <a:xfrm>
            <a:off x="6526039" y="1280160"/>
            <a:ext cx="1085926"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Raw</a:t>
            </a:r>
          </a:p>
        </p:txBody>
      </p:sp>
      <p:sp>
        <p:nvSpPr>
          <p:cNvPr id="9" name="TextBox 8"/>
          <p:cNvSpPr txBox="1"/>
          <p:nvPr/>
        </p:nvSpPr>
        <p:spPr>
          <a:xfrm>
            <a:off x="7703405" y="1280160"/>
            <a:ext cx="221800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Calibrated (90 % CI)</a:t>
            </a:r>
          </a:p>
        </p:txBody>
      </p:sp>
      <p:sp>
        <p:nvSpPr>
          <p:cNvPr id="10" name="TextBox 9"/>
          <p:cNvSpPr txBox="1"/>
          <p:nvPr/>
        </p:nvSpPr>
        <p:spPr>
          <a:xfrm>
            <a:off x="10012855" y="1280160"/>
            <a:ext cx="153875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Job</a:t>
            </a:r>
          </a:p>
        </p:txBody>
      </p:sp>
      <p:sp>
        <p:nvSpPr>
          <p:cNvPr id="11" name="Rectangle 10"/>
          <p:cNvSpPr/>
          <p:nvPr/>
        </p:nvSpPr>
        <p:spPr>
          <a:xfrm>
            <a:off x="548640" y="2039112"/>
            <a:ext cx="11094415" cy="10972"/>
          </a:xfrm>
          <a:prstGeom prst="rect">
            <a:avLst/>
          </a:prstGeom>
          <a:solidFill>
            <a:srgbClr val="DDE3EA"/>
          </a:solidFill>
          <a:ln>
            <a:noFill/>
          </a:ln>
          <a:effectLst/>
        </p:spPr>
        <p:txBody>
          <a:bodyPr rtlCol="0" anchor="ctr"/>
          <a:lstStyle/>
          <a:p>
            <a:pPr algn="ctr"/>
          </a:p>
        </p:txBody>
      </p:sp>
      <p:sp>
        <p:nvSpPr>
          <p:cNvPr id="12" name="TextBox 11"/>
          <p:cNvSpPr txBox="1"/>
          <p:nvPr/>
        </p:nvSpPr>
        <p:spPr>
          <a:xfrm>
            <a:off x="548640" y="1664207"/>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IBM Marrakesh</a:t>
            </a:r>
          </a:p>
        </p:txBody>
      </p:sp>
      <p:sp>
        <p:nvSpPr>
          <p:cNvPr id="13" name="TextBox 12"/>
          <p:cNvSpPr txBox="1"/>
          <p:nvPr/>
        </p:nvSpPr>
        <p:spPr>
          <a:xfrm>
            <a:off x="2042989" y="1664207"/>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North-cluster pair, 3 qubits, k = 0–2</a:t>
            </a:r>
          </a:p>
        </p:txBody>
      </p:sp>
      <p:sp>
        <p:nvSpPr>
          <p:cNvPr id="14" name="TextBox 13"/>
          <p:cNvSpPr txBox="1"/>
          <p:nvPr/>
        </p:nvSpPr>
        <p:spPr>
          <a:xfrm>
            <a:off x="5710939" y="1664207"/>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15" name="TextBox 14"/>
          <p:cNvSpPr txBox="1"/>
          <p:nvPr/>
        </p:nvSpPr>
        <p:spPr>
          <a:xfrm>
            <a:off x="6526039" y="1664207"/>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0.262 %</a:t>
            </a:r>
          </a:p>
        </p:txBody>
      </p:sp>
      <p:sp>
        <p:nvSpPr>
          <p:cNvPr id="16" name="TextBox 15"/>
          <p:cNvSpPr txBox="1"/>
          <p:nvPr/>
        </p:nvSpPr>
        <p:spPr>
          <a:xfrm>
            <a:off x="7703405" y="1664207"/>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0.149 % (0.140–0.157)</a:t>
            </a:r>
          </a:p>
        </p:txBody>
      </p:sp>
      <p:sp>
        <p:nvSpPr>
          <p:cNvPr id="17" name="TextBox 16"/>
          <p:cNvSpPr txBox="1"/>
          <p:nvPr/>
        </p:nvSpPr>
        <p:spPr>
          <a:xfrm>
            <a:off x="10012855" y="1664207"/>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db3tddsvf2bc73ctoprg</a:t>
            </a:r>
          </a:p>
        </p:txBody>
      </p:sp>
      <p:sp>
        <p:nvSpPr>
          <p:cNvPr id="18" name="Rectangle 17"/>
          <p:cNvSpPr/>
          <p:nvPr/>
        </p:nvSpPr>
        <p:spPr>
          <a:xfrm>
            <a:off x="548640" y="2423160"/>
            <a:ext cx="11094415" cy="10972"/>
          </a:xfrm>
          <a:prstGeom prst="rect">
            <a:avLst/>
          </a:prstGeom>
          <a:solidFill>
            <a:srgbClr val="DDE3EA"/>
          </a:solidFill>
          <a:ln>
            <a:noFill/>
          </a:ln>
          <a:effectLst/>
        </p:spPr>
        <p:txBody>
          <a:bodyPr rtlCol="0" anchor="ctr"/>
          <a:lstStyle/>
          <a:p>
            <a:pPr algn="ctr"/>
          </a:p>
        </p:txBody>
      </p:sp>
      <p:sp>
        <p:nvSpPr>
          <p:cNvPr id="19" name="TextBox 18"/>
          <p:cNvSpPr txBox="1"/>
          <p:nvPr/>
        </p:nvSpPr>
        <p:spPr>
          <a:xfrm>
            <a:off x="548640" y="2048255"/>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Garnet</a:t>
            </a:r>
          </a:p>
        </p:txBody>
      </p:sp>
      <p:sp>
        <p:nvSpPr>
          <p:cNvPr id="20" name="TextBox 19"/>
          <p:cNvSpPr txBox="1"/>
          <p:nvPr/>
        </p:nvSpPr>
        <p:spPr>
          <a:xfrm>
            <a:off x="2042989" y="2048255"/>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North-cluster pair, 3 qubits, k = 0–2</a:t>
            </a:r>
          </a:p>
        </p:txBody>
      </p:sp>
      <p:sp>
        <p:nvSpPr>
          <p:cNvPr id="21" name="TextBox 20"/>
          <p:cNvSpPr txBox="1"/>
          <p:nvPr/>
        </p:nvSpPr>
        <p:spPr>
          <a:xfrm>
            <a:off x="5710939" y="2048255"/>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22" name="TextBox 21"/>
          <p:cNvSpPr txBox="1"/>
          <p:nvPr/>
        </p:nvSpPr>
        <p:spPr>
          <a:xfrm>
            <a:off x="6526039" y="2048255"/>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0.368 %</a:t>
            </a:r>
          </a:p>
        </p:txBody>
      </p:sp>
      <p:sp>
        <p:nvSpPr>
          <p:cNvPr id="23" name="TextBox 22"/>
          <p:cNvSpPr txBox="1"/>
          <p:nvPr/>
        </p:nvSpPr>
        <p:spPr>
          <a:xfrm>
            <a:off x="7703405" y="2048255"/>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0.164 % (0.147–0.180)</a:t>
            </a:r>
          </a:p>
        </p:txBody>
      </p:sp>
      <p:sp>
        <p:nvSpPr>
          <p:cNvPr id="24" name="TextBox 23"/>
          <p:cNvSpPr txBox="1"/>
          <p:nvPr/>
        </p:nvSpPr>
        <p:spPr>
          <a:xfrm>
            <a:off x="10012855" y="2048255"/>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01a11cc3-7f6c…</a:t>
            </a:r>
          </a:p>
        </p:txBody>
      </p:sp>
      <p:sp>
        <p:nvSpPr>
          <p:cNvPr id="25" name="Rectangle 24"/>
          <p:cNvSpPr/>
          <p:nvPr/>
        </p:nvSpPr>
        <p:spPr>
          <a:xfrm>
            <a:off x="548640" y="2807208"/>
            <a:ext cx="11094415" cy="10972"/>
          </a:xfrm>
          <a:prstGeom prst="rect">
            <a:avLst/>
          </a:prstGeom>
          <a:solidFill>
            <a:srgbClr val="DDE3EA"/>
          </a:solidFill>
          <a:ln>
            <a:noFill/>
          </a:ln>
          <a:effectLst/>
        </p:spPr>
        <p:txBody>
          <a:bodyPr rtlCol="0" anchor="ctr"/>
          <a:lstStyle/>
          <a:p>
            <a:pPr algn="ctr"/>
          </a:p>
        </p:txBody>
      </p:sp>
      <p:sp>
        <p:nvSpPr>
          <p:cNvPr id="26" name="TextBox 25"/>
          <p:cNvSpPr txBox="1"/>
          <p:nvPr/>
        </p:nvSpPr>
        <p:spPr>
          <a:xfrm>
            <a:off x="548640" y="2432303"/>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27" name="TextBox 26"/>
          <p:cNvSpPr txBox="1"/>
          <p:nvPr/>
        </p:nvSpPr>
        <p:spPr>
          <a:xfrm>
            <a:off x="2042989" y="2432303"/>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Snowy / low-snow ratio, same pair, k = 0–2</a:t>
            </a:r>
          </a:p>
        </p:txBody>
      </p:sp>
      <p:sp>
        <p:nvSpPr>
          <p:cNvPr id="28" name="TextBox 27"/>
          <p:cNvSpPr txBox="1"/>
          <p:nvPr/>
        </p:nvSpPr>
        <p:spPr>
          <a:xfrm>
            <a:off x="5710939" y="2432303"/>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2.75×</a:t>
            </a:r>
          </a:p>
        </p:txBody>
      </p:sp>
      <p:sp>
        <p:nvSpPr>
          <p:cNvPr id="29" name="TextBox 28"/>
          <p:cNvSpPr txBox="1"/>
          <p:nvPr/>
        </p:nvSpPr>
        <p:spPr>
          <a:xfrm>
            <a:off x="6526039" y="2432303"/>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1.3×</a:t>
            </a:r>
          </a:p>
        </p:txBody>
      </p:sp>
      <p:sp>
        <p:nvSpPr>
          <p:cNvPr id="30" name="TextBox 29"/>
          <p:cNvSpPr txBox="1"/>
          <p:nvPr/>
        </p:nvSpPr>
        <p:spPr>
          <a:xfrm>
            <a:off x="7703405" y="2432303"/>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3.05× (2.6–3.6)</a:t>
            </a:r>
          </a:p>
        </p:txBody>
      </p:sp>
      <p:sp>
        <p:nvSpPr>
          <p:cNvPr id="31" name="TextBox 30"/>
          <p:cNvSpPr txBox="1"/>
          <p:nvPr/>
        </p:nvSpPr>
        <p:spPr>
          <a:xfrm>
            <a:off x="10012855" y="2432303"/>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01a11fa8-65a9…</a:t>
            </a:r>
          </a:p>
        </p:txBody>
      </p:sp>
      <p:sp>
        <p:nvSpPr>
          <p:cNvPr id="32" name="Rectangle 31"/>
          <p:cNvSpPr/>
          <p:nvPr/>
        </p:nvSpPr>
        <p:spPr>
          <a:xfrm>
            <a:off x="548640" y="3191256"/>
            <a:ext cx="11094415" cy="10972"/>
          </a:xfrm>
          <a:prstGeom prst="rect">
            <a:avLst/>
          </a:prstGeom>
          <a:solidFill>
            <a:srgbClr val="DDE3EA"/>
          </a:solidFill>
          <a:ln>
            <a:noFill/>
          </a:ln>
          <a:effectLst/>
        </p:spPr>
        <p:txBody>
          <a:bodyPr rtlCol="0" anchor="ctr"/>
          <a:lstStyle/>
          <a:p>
            <a:pPr algn="ctr"/>
          </a:p>
        </p:txBody>
      </p:sp>
      <p:sp>
        <p:nvSpPr>
          <p:cNvPr id="33" name="TextBox 32"/>
          <p:cNvSpPr txBox="1"/>
          <p:nvPr/>
        </p:nvSpPr>
        <p:spPr>
          <a:xfrm>
            <a:off x="548640" y="2816351"/>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34" name="TextBox 33"/>
          <p:cNvSpPr txBox="1"/>
          <p:nvPr/>
        </p:nvSpPr>
        <p:spPr>
          <a:xfrm>
            <a:off x="2042989" y="2816351"/>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≥4 over 1-in-10, 18 q / 44 CZ</a:t>
            </a:r>
          </a:p>
        </p:txBody>
      </p:sp>
      <p:sp>
        <p:nvSpPr>
          <p:cNvPr id="35" name="TextBox 34"/>
          <p:cNvSpPr txBox="1"/>
          <p:nvPr/>
        </p:nvSpPr>
        <p:spPr>
          <a:xfrm>
            <a:off x="5710939" y="2816351"/>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10.9 %</a:t>
            </a:r>
          </a:p>
        </p:txBody>
      </p:sp>
      <p:sp>
        <p:nvSpPr>
          <p:cNvPr id="36" name="TextBox 35"/>
          <p:cNvSpPr txBox="1"/>
          <p:nvPr/>
        </p:nvSpPr>
        <p:spPr>
          <a:xfrm>
            <a:off x="6526039" y="2816351"/>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37" name="TextBox 36"/>
          <p:cNvSpPr txBox="1"/>
          <p:nvPr/>
        </p:nvSpPr>
        <p:spPr>
          <a:xfrm>
            <a:off x="7703405" y="2816351"/>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13.8 % (readout-corr.)</a:t>
            </a:r>
          </a:p>
        </p:txBody>
      </p:sp>
      <p:sp>
        <p:nvSpPr>
          <p:cNvPr id="38" name="TextBox 37"/>
          <p:cNvSpPr txBox="1"/>
          <p:nvPr/>
        </p:nvSpPr>
        <p:spPr>
          <a:xfrm>
            <a:off x="10012855" y="2816351"/>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01a11cd4-da38…</a:t>
            </a:r>
          </a:p>
        </p:txBody>
      </p:sp>
      <p:sp>
        <p:nvSpPr>
          <p:cNvPr id="39" name="Rectangle 38"/>
          <p:cNvSpPr/>
          <p:nvPr/>
        </p:nvSpPr>
        <p:spPr>
          <a:xfrm>
            <a:off x="548640" y="3575303"/>
            <a:ext cx="11094415" cy="10972"/>
          </a:xfrm>
          <a:prstGeom prst="rect">
            <a:avLst/>
          </a:prstGeom>
          <a:solidFill>
            <a:srgbClr val="DDE3EA"/>
          </a:solidFill>
          <a:ln>
            <a:noFill/>
          </a:ln>
          <a:effectLst/>
        </p:spPr>
        <p:txBody>
          <a:bodyPr rtlCol="0" anchor="ctr"/>
          <a:lstStyle/>
          <a:p>
            <a:pPr algn="ctr"/>
          </a:p>
        </p:txBody>
      </p:sp>
      <p:sp>
        <p:nvSpPr>
          <p:cNvPr id="40" name="TextBox 39"/>
          <p:cNvSpPr txBox="1"/>
          <p:nvPr/>
        </p:nvSpPr>
        <p:spPr>
          <a:xfrm>
            <a:off x="548640" y="3200399"/>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41" name="TextBox 40"/>
          <p:cNvSpPr txBox="1"/>
          <p:nvPr/>
        </p:nvSpPr>
        <p:spPr>
          <a:xfrm>
            <a:off x="2042989" y="3200399"/>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≥2 over 1-in-50, same circuit</a:t>
            </a:r>
          </a:p>
        </p:txBody>
      </p:sp>
      <p:sp>
        <p:nvSpPr>
          <p:cNvPr id="42" name="TextBox 41"/>
          <p:cNvSpPr txBox="1"/>
          <p:nvPr/>
        </p:nvSpPr>
        <p:spPr>
          <a:xfrm>
            <a:off x="5710939" y="3200399"/>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4.8 %</a:t>
            </a:r>
          </a:p>
        </p:txBody>
      </p:sp>
      <p:sp>
        <p:nvSpPr>
          <p:cNvPr id="43" name="TextBox 42"/>
          <p:cNvSpPr txBox="1"/>
          <p:nvPr/>
        </p:nvSpPr>
        <p:spPr>
          <a:xfrm>
            <a:off x="6526039" y="3200399"/>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44" name="TextBox 43"/>
          <p:cNvSpPr txBox="1"/>
          <p:nvPr/>
        </p:nvSpPr>
        <p:spPr>
          <a:xfrm>
            <a:off x="7703405" y="3200399"/>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16.0 % (fails)</a:t>
            </a:r>
          </a:p>
        </p:txBody>
      </p:sp>
      <p:sp>
        <p:nvSpPr>
          <p:cNvPr id="45" name="TextBox 44"/>
          <p:cNvSpPr txBox="1"/>
          <p:nvPr/>
        </p:nvSpPr>
        <p:spPr>
          <a:xfrm>
            <a:off x="10012855" y="3200399"/>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01a11f9b-c62a…</a:t>
            </a:r>
          </a:p>
        </p:txBody>
      </p:sp>
      <p:sp>
        <p:nvSpPr>
          <p:cNvPr id="46" name="Rectangle 45"/>
          <p:cNvSpPr/>
          <p:nvPr/>
        </p:nvSpPr>
        <p:spPr>
          <a:xfrm>
            <a:off x="548640" y="3959351"/>
            <a:ext cx="11094415" cy="10972"/>
          </a:xfrm>
          <a:prstGeom prst="rect">
            <a:avLst/>
          </a:prstGeom>
          <a:solidFill>
            <a:srgbClr val="DDE3EA"/>
          </a:solidFill>
          <a:ln>
            <a:noFill/>
          </a:ln>
          <a:effectLst/>
        </p:spPr>
        <p:txBody>
          <a:bodyPr rtlCol="0" anchor="ctr"/>
          <a:lstStyle/>
          <a:p>
            <a:pPr algn="ctr"/>
          </a:p>
        </p:txBody>
      </p:sp>
      <p:sp>
        <p:nvSpPr>
          <p:cNvPr id="47" name="TextBox 46"/>
          <p:cNvSpPr txBox="1"/>
          <p:nvPr/>
        </p:nvSpPr>
        <p:spPr>
          <a:xfrm>
            <a:off x="548640" y="3584447"/>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48" name="TextBox 47"/>
          <p:cNvSpPr txBox="1"/>
          <p:nvPr/>
        </p:nvSpPr>
        <p:spPr>
          <a:xfrm>
            <a:off x="2042989" y="3584447"/>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Control: independent circuit, ≥4 over 1-in-10</a:t>
            </a:r>
          </a:p>
        </p:txBody>
      </p:sp>
      <p:sp>
        <p:nvSpPr>
          <p:cNvPr id="49" name="TextBox 48"/>
          <p:cNvSpPr txBox="1"/>
          <p:nvPr/>
        </p:nvSpPr>
        <p:spPr>
          <a:xfrm>
            <a:off x="5710939" y="3584447"/>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4.4 %</a:t>
            </a:r>
          </a:p>
        </p:txBody>
      </p:sp>
      <p:sp>
        <p:nvSpPr>
          <p:cNvPr id="50" name="TextBox 49"/>
          <p:cNvSpPr txBox="1"/>
          <p:nvPr/>
        </p:nvSpPr>
        <p:spPr>
          <a:xfrm>
            <a:off x="6526039" y="3584447"/>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51" name="TextBox 50"/>
          <p:cNvSpPr txBox="1"/>
          <p:nvPr/>
        </p:nvSpPr>
        <p:spPr>
          <a:xfrm>
            <a:off x="7703405" y="3584447"/>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9.7 % (noise fattens tails)</a:t>
            </a:r>
          </a:p>
        </p:txBody>
      </p:sp>
      <p:sp>
        <p:nvSpPr>
          <p:cNvPr id="52" name="TextBox 51"/>
          <p:cNvSpPr txBox="1"/>
          <p:nvPr/>
        </p:nvSpPr>
        <p:spPr>
          <a:xfrm>
            <a:off x="10012855" y="3584447"/>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01a120f5-ece7…</a:t>
            </a:r>
          </a:p>
        </p:txBody>
      </p:sp>
      <p:sp>
        <p:nvSpPr>
          <p:cNvPr id="53" name="Rectangle 52"/>
          <p:cNvSpPr/>
          <p:nvPr/>
        </p:nvSpPr>
        <p:spPr>
          <a:xfrm>
            <a:off x="548640" y="4343400"/>
            <a:ext cx="11094415" cy="10972"/>
          </a:xfrm>
          <a:prstGeom prst="rect">
            <a:avLst/>
          </a:prstGeom>
          <a:solidFill>
            <a:srgbClr val="DDE3EA"/>
          </a:solidFill>
          <a:ln>
            <a:noFill/>
          </a:ln>
          <a:effectLst/>
        </p:spPr>
        <p:txBody>
          <a:bodyPr rtlCol="0" anchor="ctr"/>
          <a:lstStyle/>
          <a:p>
            <a:pPr algn="ctr"/>
          </a:p>
        </p:txBody>
      </p:sp>
      <p:sp>
        <p:nvSpPr>
          <p:cNvPr id="54" name="TextBox 53"/>
          <p:cNvSpPr txBox="1"/>
          <p:nvPr/>
        </p:nvSpPr>
        <p:spPr>
          <a:xfrm>
            <a:off x="548640" y="3968496"/>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VTT Q50</a:t>
            </a:r>
          </a:p>
        </p:txBody>
      </p:sp>
      <p:sp>
        <p:nvSpPr>
          <p:cNvPr id="55" name="TextBox 54"/>
          <p:cNvSpPr txBox="1"/>
          <p:nvPr/>
        </p:nvSpPr>
        <p:spPr>
          <a:xfrm>
            <a:off x="2042989" y="3968496"/>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Same pair, 3 repeats: not stable</a:t>
            </a:r>
          </a:p>
        </p:txBody>
      </p:sp>
      <p:sp>
        <p:nvSpPr>
          <p:cNvPr id="56" name="TextBox 55"/>
          <p:cNvSpPr txBox="1"/>
          <p:nvPr/>
        </p:nvSpPr>
        <p:spPr>
          <a:xfrm>
            <a:off x="5710939" y="3968496"/>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57" name="TextBox 56"/>
          <p:cNvSpPr txBox="1"/>
          <p:nvPr/>
        </p:nvSpPr>
        <p:spPr>
          <a:xfrm>
            <a:off x="6526039" y="3968496"/>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1.48–1.58 %</a:t>
            </a:r>
          </a:p>
        </p:txBody>
      </p:sp>
      <p:sp>
        <p:nvSpPr>
          <p:cNvPr id="58" name="TextBox 57"/>
          <p:cNvSpPr txBox="1"/>
          <p:nvPr/>
        </p:nvSpPr>
        <p:spPr>
          <a:xfrm>
            <a:off x="7703405" y="3968496"/>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0.47 / 0.53 / 0.11 %</a:t>
            </a:r>
          </a:p>
        </p:txBody>
      </p:sp>
      <p:sp>
        <p:nvSpPr>
          <p:cNvPr id="59" name="TextBox 58"/>
          <p:cNvSpPr txBox="1"/>
          <p:nvPr/>
        </p:nvSpPr>
        <p:spPr>
          <a:xfrm>
            <a:off x="10012855" y="3968496"/>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7d20d8ac / a6fb9d52 / 381179fb</a:t>
            </a:r>
          </a:p>
        </p:txBody>
      </p:sp>
      <p:sp>
        <p:nvSpPr>
          <p:cNvPr id="60" name="Rectangle 59"/>
          <p:cNvSpPr/>
          <p:nvPr/>
        </p:nvSpPr>
        <p:spPr>
          <a:xfrm>
            <a:off x="548640" y="4727448"/>
            <a:ext cx="11094415" cy="10972"/>
          </a:xfrm>
          <a:prstGeom prst="rect">
            <a:avLst/>
          </a:prstGeom>
          <a:solidFill>
            <a:srgbClr val="DDE3EA"/>
          </a:solidFill>
          <a:ln>
            <a:noFill/>
          </a:ln>
          <a:effectLst/>
        </p:spPr>
        <p:txBody>
          <a:bodyPr rtlCol="0" anchor="ctr"/>
          <a:lstStyle/>
          <a:p>
            <a:pPr algn="ctr"/>
          </a:p>
        </p:txBody>
      </p:sp>
      <p:sp>
        <p:nvSpPr>
          <p:cNvPr id="61" name="TextBox 60"/>
          <p:cNvSpPr txBox="1"/>
          <p:nvPr/>
        </p:nvSpPr>
        <p:spPr>
          <a:xfrm>
            <a:off x="548640" y="4352544"/>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VTT Q50</a:t>
            </a:r>
          </a:p>
        </p:txBody>
      </p:sp>
      <p:sp>
        <p:nvSpPr>
          <p:cNvPr id="62" name="TextBox 61"/>
          <p:cNvSpPr txBox="1"/>
          <p:nvPr/>
        </p:nvSpPr>
        <p:spPr>
          <a:xfrm>
            <a:off x="2042989" y="4352544"/>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≥4 over 1-in-10, 18 q / 49 CZ</a:t>
            </a:r>
          </a:p>
        </p:txBody>
      </p:sp>
      <p:sp>
        <p:nvSpPr>
          <p:cNvPr id="63" name="TextBox 62"/>
          <p:cNvSpPr txBox="1"/>
          <p:nvPr/>
        </p:nvSpPr>
        <p:spPr>
          <a:xfrm>
            <a:off x="5710939" y="4352544"/>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10.9 %</a:t>
            </a:r>
          </a:p>
        </p:txBody>
      </p:sp>
      <p:sp>
        <p:nvSpPr>
          <p:cNvPr id="64" name="TextBox 63"/>
          <p:cNvSpPr txBox="1"/>
          <p:nvPr/>
        </p:nvSpPr>
        <p:spPr>
          <a:xfrm>
            <a:off x="6526039" y="4352544"/>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34.2 %</a:t>
            </a:r>
          </a:p>
        </p:txBody>
      </p:sp>
      <p:sp>
        <p:nvSpPr>
          <p:cNvPr id="65" name="TextBox 64"/>
          <p:cNvSpPr txBox="1"/>
          <p:nvPr/>
        </p:nvSpPr>
        <p:spPr>
          <a:xfrm>
            <a:off x="7703405" y="4352544"/>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31.2 % (readout-corr.)</a:t>
            </a:r>
          </a:p>
        </p:txBody>
      </p:sp>
      <p:sp>
        <p:nvSpPr>
          <p:cNvPr id="66" name="TextBox 65"/>
          <p:cNvSpPr txBox="1"/>
          <p:nvPr/>
        </p:nvSpPr>
        <p:spPr>
          <a:xfrm>
            <a:off x="10012855" y="4352544"/>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9cdb0158-7574…</a:t>
            </a:r>
          </a:p>
        </p:txBody>
      </p:sp>
      <p:sp>
        <p:nvSpPr>
          <p:cNvPr id="67" name="TextBox 66"/>
          <p:cNvSpPr txBox="1"/>
          <p:nvPr/>
        </p:nvSpPr>
        <p:spPr>
          <a:xfrm>
            <a:off x="548640" y="4782312"/>
            <a:ext cx="11094415" cy="1737360"/>
          </a:xfrm>
          <a:prstGeom prst="rect">
            <a:avLst/>
          </a:prstGeom>
          <a:noFill/>
        </p:spPr>
        <p:txBody>
          <a:bodyPr wrap="square" lIns="0" rIns="0" tIns="0" bIns="0" anchor="t">
            <a:spAutoFit/>
          </a:bodyPr>
          <a:lstStyle/>
          <a:p>
            <a:pPr algn="l">
              <a:lnSpc>
                <a:spcPct val="100000"/>
              </a:lnSpc>
              <a:spcAft>
                <a:spcPts val="400"/>
              </a:spcAft>
            </a:pPr>
            <a:r>
              <a:rPr sz="1200" b="0">
                <a:solidFill>
                  <a:srgbClr val="6B7280"/>
                </a:solidFill>
                <a:latin typeface="Arial"/>
              </a:rPr>
              <a:t>Method: calibrated sampling + shallow amplitude estimation (noise-aware MLAE, Grover steps k = 0–2, two known-answer calibration circuits in the same job; bootstrap 90 % intervals). Pair = two rivers with identical North-cluster loadings and 1-in-50 trigger. Snowy vs normal on the same pair: 1.51× chip, 1.55× exact. Simplified 14-river model = two-level version, 18 qubits, sampling only. IBM / Garnet intervals exclude exact (+19 % / +31 % bias). Classical Monte Carlo at the same budget is more precise (±0.004 pp).</a:t>
            </a:r>
          </a:p>
          <a:p>
            <a:pPr algn="l">
              <a:lnSpc>
                <a:spcPct val="100000"/>
              </a:lnSpc>
              <a:spcAft>
                <a:spcPts val="400"/>
              </a:spcAft>
            </a:pPr>
            <a:r>
              <a:rPr sz="1200" b="0">
                <a:solidFill>
                  <a:srgbClr val="6B7280"/>
                </a:solidFill>
                <a:latin typeface="Arial"/>
              </a:rPr>
              <a:t>Signal kept at k = 1 in the runs shown: Emerald 0.56–0.59, IBM / Garnet 0.77–0.78, VTT Q50 0.12–0.19 (earlier runs 0.65–0.88): the estimate is mostly the calibrated k = 0 circuit. Q50's zero-calibration offset moved 0.002 → 0.006 between repeats (the 5× spread). Not shown: first runs IBM 0.146 % (k = 0–3), Garnet 0.073 % (1 copy).</a:t>
            </a:r>
          </a:p>
          <a:p>
            <a:pPr algn="l">
              <a:lnSpc>
                <a:spcPct val="100000"/>
              </a:lnSpc>
              <a:spcAft>
                <a:spcPts val="400"/>
              </a:spcAft>
            </a:pPr>
            <a:r>
              <a:rPr sz="1200" b="0">
                <a:solidFill>
                  <a:srgbClr val="6B7280"/>
                </a:solidFill>
                <a:latin typeface="Arial"/>
              </a:rPr>
              <a:t>Resources: SYKE open data · IBM Marrakesh · IQM Garnet &amp; Emerald (Resonance) · VTT Q50 (LUMI) · Qrisp · Qiskit · AI coding agents.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