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(0:00–0:11)]</a:t>
            </a:r>
          </a:p>
          <a:p>
            <a:r>
              <a:t>In May 2005, four Lapland rivers flooded TOGETHER. The snow had warned us two months EARLIER. Tulva turns that warning into a PRICE. [pause]</a:t>
            </a:r>
          </a:p>
          <a:p/>
          <a:p>
            <a:r>
              <a:t>Q&amp;A only (not spoken): four = Ivalo, Kittilä, Rovaniemi, Tornio over their 1-in-10 level (the map's filled dots); Ivalo, Kittilä and Rovaniemi also passed their 1-in-50 level. "Warned us" = the North's 1 March snow was in its top 15 % (87th percentile): an in-sample back-test, not a forecast we made at the time.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(0:11–0:25)]</a:t>
            </a:r>
          </a:p>
          <a:p>
            <a:r>
              <a:t>Rivers in one region share ONE snowpack, so they flood TOGETHER. [pause] Big flood springs come FOUR times more often than chance. Insurers buy cover in autumn, BEFORE the snow.</a:t>
            </a:r>
          </a:p>
          <a:p/>
          <a:p>
            <a:r>
              <a:t>Q&amp;A only (not spoken): 10 of 65 springs (15.4 %, 90 % interval 9–24 %) had ≥4 of 14 areas over 1-in-10; chance on the same gauge-years 3.9 % (3.9×). If all 14 gauges had reported every year, chance would be 4.4 % (3.5×).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(0:25–0:43)]</a:t>
            </a:r>
          </a:p>
          <a:p>
            <a:r>
              <a:t>The Tulva Index pays when SEVERAL northern rivers pass a rare flood level TOGETHER. Against the average link the 2027 capital rule assumes, the fair price is 1.8 TIMES higher. [pause] And after a snowy March, the fair risk TRIPLES.</a:t>
            </a:r>
          </a:p>
          <a:p/>
          <a:p>
            <a:r>
              <a:t>Q&amp;A only (not spoken): fair price = 1.96 % of the limit a year vs 1.11 % at one correlation of 0.27, the mean of the regulator's 19-zone matrix inside Finland (1.77×); ≈5× only against independence (0.38 %). "Triples" = 6.4 % after a top-15 % snow March vs 1.96 % (3.3×). The cover is priced in autumn; in March the insurer buys a top-up / second-layer cover if it wants one, staffs claims in the regions at risk and uses the number in its ORSA. Per €1M of cover: 4.9–6.9 % rate on line ≈ €49–69k a year.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(0:43–1:20), narrated live]</a:t>
            </a:r>
          </a:p>
          <a:p>
            <a:r>
              <a:t>[0 s, map] This is our LIVE app. Lines join rivers that flood together. [5 s, snow high] March snow set to HIGH… and the northern price JUMPS. [12 s, low snow] Real runs on an IQM quantum chip. Red means BOTH rivers flood. Low snow: little red. [18 s, snowy] Snowy March: MORE red. Corrected, about THREE times the risk, like the exact answer. [24 s, 14-area card] A simplified version of our 14-river model, on ONE chip. [29 s, 2005] And 2005: Lapland floods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in practice (1:20–1:34)]</a:t>
            </a:r>
          </a:p>
          <a:p>
            <a:r>
              <a:t>On IBM and IQM we ran shallow amplitude estimation on the core: two rivers, three qubits. The 14-river model ran on IQM Emerald. [pause] The snow warning SURVIVES on the chip.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(1:34–1:45)]</a:t>
            </a:r>
          </a:p>
          <a:p>
            <a:r>
              <a:t>But classical computers still WIN today. At 1-in-50, rare floods drown in noise. The method is READY. The hardware is not, YET.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(1:45–2:20)]</a:t>
            </a:r>
          </a:p>
          <a:p>
            <a:r>
              <a:t>Who pays? Insurers with internal models, like the insurer If; a reinsurer carries the risk. We license the index: 25 thousand for a pilot, then 75 thousand a year each. Finland first, then Sweden and Norway. Why now? From 2027, flood capital uses FIXED correlations, blind to this winter's snow. Our index isn't the insurer's losses, but it uses the same 1-in-50 test as all seven Finnish home insurers. Our ask: one insurer's flood claims for eight weeks.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(2:20–2:31)]</a:t>
            </a:r>
          </a:p>
          <a:p>
            <a:r>
              <a:t>Everything you saw, we built THIS weekend. [pause] Next March, the snow will warn us AGAIN. [long pause] This time, it will have a PRICE. Thank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5486400" cy="457200"/>
          </a:xfrm>
          <a:prstGeom prst="rect">
            <a:avLst/>
          </a:prstGeom>
          <a:noFill/>
        </p:spPr>
        <p:txBody>
          <a:bodyPr wrap="square" lIns="0" rIns="0" tIns="0" bIns="0" anchor="t">
            <a:spAutoFit/>
          </a:bodyPr>
          <a:lstStyle/>
          <a:p>
            <a:pPr algn="l">
              <a:lnSpc>
                <a:spcPct val="100000"/>
              </a:lnSpc>
              <a:spcAft>
                <a:spcPts val="0"/>
              </a:spcAft>
            </a:pPr>
            <a:r>
              <a:rPr sz="2400" b="1">
                <a:solidFill>
                  <a:srgbClr val="0B1F3A"/>
                </a:solidFill>
                <a:latin typeface="Arial"/>
              </a:rPr>
              <a:t>Tulva</a:t>
            </a:r>
            <a:r>
              <a:rPr sz="2000" b="0">
                <a:solidFill>
                  <a:srgbClr val="6B7280"/>
                </a:solidFill>
                <a:latin typeface="Arial"/>
              </a:rPr>
              <a:t>   spring-flood risk, priced jointly</a:t>
            </a:r>
          </a:p>
        </p:txBody>
      </p:sp>
      <p:sp>
        <p:nvSpPr>
          <p:cNvPr id="3" name="TextBox 2"/>
          <p:cNvSpPr txBox="1"/>
          <p:nvPr/>
        </p:nvSpPr>
        <p:spPr>
          <a:xfrm>
            <a:off x="548640" y="1554480"/>
            <a:ext cx="5120640" cy="3840480"/>
          </a:xfrm>
          <a:prstGeom prst="rect">
            <a:avLst/>
          </a:prstGeom>
          <a:noFill/>
        </p:spPr>
        <p:txBody>
          <a:bodyPr wrap="square" lIns="0" rIns="0" tIns="0" bIns="0" anchor="t">
            <a:spAutoFit/>
          </a:bodyPr>
          <a:lstStyle/>
          <a:p>
            <a:pPr algn="l">
              <a:lnSpc>
                <a:spcPct val="105000"/>
              </a:lnSpc>
              <a:spcAft>
                <a:spcPts val="2400"/>
              </a:spcAft>
            </a:pPr>
            <a:r>
              <a:rPr sz="4400" b="1">
                <a:solidFill>
                  <a:srgbClr val="0B1F3A"/>
                </a:solidFill>
                <a:latin typeface="Arial"/>
              </a:rPr>
              <a:t>In May 2005, four Lapland rivers flooded </a:t>
            </a:r>
            <a:r>
              <a:rPr sz="4400" b="1">
                <a:solidFill>
                  <a:srgbClr val="1F6FEB"/>
                </a:solidFill>
                <a:latin typeface="Arial"/>
              </a:rPr>
              <a:t>together.</a:t>
            </a:r>
          </a:p>
          <a:p>
            <a:pPr algn="l">
              <a:lnSpc>
                <a:spcPct val="105000"/>
              </a:lnSpc>
              <a:spcAft>
                <a:spcPts val="2400"/>
              </a:spcAft>
            </a:pPr>
            <a:r>
              <a:rPr sz="2800" b="0">
                <a:solidFill>
                  <a:srgbClr val="6B7280"/>
                </a:solidFill>
                <a:latin typeface="Arial"/>
              </a:rPr>
              <a:t>Lapland's snow had warned us two months earlier.</a:t>
            </a:r>
          </a:p>
          <a:p>
            <a:pPr algn="l">
              <a:lnSpc>
                <a:spcPct val="105000"/>
              </a:lnSpc>
              <a:spcAft>
                <a:spcPts val="2400"/>
              </a:spcAft>
            </a:pPr>
            <a:r>
              <a:rPr sz="1800" b="0">
                <a:solidFill>
                  <a:srgbClr val="6B7280"/>
                </a:solidFill>
                <a:latin typeface="Arial"/>
              </a:rPr>
              <a:t>March snow in its top 15 % (in-sample back-test)</a:t>
            </a:r>
          </a:p>
        </p:txBody>
      </p:sp>
      <p:pic>
        <p:nvPicPr>
          <p:cNvPr id="4" name="Picture 3" descr="map_2005.png"/>
          <p:cNvPicPr>
            <a:picLocks noChangeAspect="1"/>
          </p:cNvPicPr>
          <p:nvPr/>
        </p:nvPicPr>
        <p:blipFill>
          <a:blip r:embed="rId2"/>
          <a:stretch>
            <a:fillRect/>
          </a:stretch>
        </p:blipFill>
        <p:spPr>
          <a:xfrm>
            <a:off x="5806440" y="411480"/>
            <a:ext cx="5852160" cy="4804011"/>
          </a:xfrm>
          <a:prstGeom prst="rect">
            <a:avLst/>
          </a:prstGeom>
          <a:ln>
            <a:solidFill>
              <a:srgbClr val="DDE3EA"/>
            </a:solidFill>
          </a:ln>
        </p:spPr>
      </p:pic>
      <p:sp>
        <p:nvSpPr>
          <p:cNvPr id="5" name="Rectangle 4"/>
          <p:cNvSpPr/>
          <p:nvPr/>
        </p:nvSpPr>
        <p:spPr>
          <a:xfrm>
            <a:off x="9247510" y="1513672"/>
            <a:ext cx="822960" cy="365760"/>
          </a:xfrm>
          <a:prstGeom prst="rect">
            <a:avLst/>
          </a:prstGeom>
          <a:solidFill>
            <a:srgbClr val="F3F6FA"/>
          </a:solidFill>
          <a:ln>
            <a:noFill/>
          </a:ln>
          <a:effectLst/>
        </p:spPr>
        <p:txBody>
          <a:bodyPr rtlCol="0" anchor="ctr"/>
          <a:lstStyle/>
          <a:p>
            <a:pPr algn="ctr"/>
          </a:p>
        </p:txBody>
      </p:sp>
      <p:sp>
        <p:nvSpPr>
          <p:cNvPr id="6" name="TextBox 5"/>
          <p:cNvSpPr txBox="1"/>
          <p:nvPr/>
        </p:nvSpPr>
        <p:spPr>
          <a:xfrm>
            <a:off x="9247510" y="1513672"/>
            <a:ext cx="822960"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Ivalo</a:t>
            </a:r>
          </a:p>
        </p:txBody>
      </p:sp>
      <p:sp>
        <p:nvSpPr>
          <p:cNvPr id="7" name="Rectangle 6"/>
          <p:cNvSpPr/>
          <p:nvPr/>
        </p:nvSpPr>
        <p:spPr>
          <a:xfrm>
            <a:off x="7091720" y="2282314"/>
            <a:ext cx="1078992" cy="365760"/>
          </a:xfrm>
          <a:prstGeom prst="rect">
            <a:avLst/>
          </a:prstGeom>
          <a:solidFill>
            <a:srgbClr val="F3F6FA"/>
          </a:solidFill>
          <a:ln>
            <a:noFill/>
          </a:ln>
          <a:effectLst/>
        </p:spPr>
        <p:txBody>
          <a:bodyPr rtlCol="0" anchor="ctr"/>
          <a:lstStyle/>
          <a:p>
            <a:pPr algn="ctr"/>
          </a:p>
        </p:txBody>
      </p:sp>
      <p:sp>
        <p:nvSpPr>
          <p:cNvPr id="8" name="TextBox 7"/>
          <p:cNvSpPr txBox="1"/>
          <p:nvPr/>
        </p:nvSpPr>
        <p:spPr>
          <a:xfrm>
            <a:off x="7091720" y="2282314"/>
            <a:ext cx="1078992"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Kittilä</a:t>
            </a:r>
          </a:p>
        </p:txBody>
      </p:sp>
      <p:sp>
        <p:nvSpPr>
          <p:cNvPr id="9" name="Rectangle 8"/>
          <p:cNvSpPr/>
          <p:nvPr/>
        </p:nvSpPr>
        <p:spPr>
          <a:xfrm>
            <a:off x="8732520" y="3120614"/>
            <a:ext cx="1335024" cy="365760"/>
          </a:xfrm>
          <a:prstGeom prst="rect">
            <a:avLst/>
          </a:prstGeom>
          <a:solidFill>
            <a:srgbClr val="F3F6FA"/>
          </a:solidFill>
          <a:ln>
            <a:noFill/>
          </a:ln>
          <a:effectLst/>
        </p:spPr>
        <p:txBody>
          <a:bodyPr rtlCol="0" anchor="ctr"/>
          <a:lstStyle/>
          <a:p>
            <a:pPr algn="ctr"/>
          </a:p>
        </p:txBody>
      </p:sp>
      <p:sp>
        <p:nvSpPr>
          <p:cNvPr id="10" name="TextBox 9"/>
          <p:cNvSpPr txBox="1"/>
          <p:nvPr/>
        </p:nvSpPr>
        <p:spPr>
          <a:xfrm>
            <a:off x="8732520" y="3120614"/>
            <a:ext cx="1335024"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Rovaniemi</a:t>
            </a:r>
          </a:p>
        </p:txBody>
      </p:sp>
      <p:sp>
        <p:nvSpPr>
          <p:cNvPr id="11" name="Rectangle 10"/>
          <p:cNvSpPr/>
          <p:nvPr/>
        </p:nvSpPr>
        <p:spPr>
          <a:xfrm>
            <a:off x="7003206" y="3591407"/>
            <a:ext cx="950976" cy="365760"/>
          </a:xfrm>
          <a:prstGeom prst="rect">
            <a:avLst/>
          </a:prstGeom>
          <a:solidFill>
            <a:srgbClr val="F3F6FA"/>
          </a:solidFill>
          <a:ln>
            <a:noFill/>
          </a:ln>
          <a:effectLst/>
        </p:spPr>
        <p:txBody>
          <a:bodyPr rtlCol="0" anchor="ctr"/>
          <a:lstStyle/>
          <a:p>
            <a:pPr algn="ctr"/>
          </a:p>
        </p:txBody>
      </p:sp>
      <p:sp>
        <p:nvSpPr>
          <p:cNvPr id="12" name="TextBox 11"/>
          <p:cNvSpPr txBox="1"/>
          <p:nvPr/>
        </p:nvSpPr>
        <p:spPr>
          <a:xfrm>
            <a:off x="7003206" y="3591407"/>
            <a:ext cx="950976" cy="365760"/>
          </a:xfrm>
          <a:prstGeom prst="rect">
            <a:avLst/>
          </a:prstGeom>
          <a:noFill/>
        </p:spPr>
        <p:txBody>
          <a:bodyPr wrap="square" lIns="0" rIns="0" tIns="0" bIns="0" anchor="ctr">
            <a:spAutoFit/>
          </a:bodyPr>
          <a:lstStyle/>
          <a:p>
            <a:pPr algn="ctr">
              <a:lnSpc>
                <a:spcPct val="100000"/>
              </a:lnSpc>
              <a:spcAft>
                <a:spcPts val="0"/>
              </a:spcAft>
            </a:pPr>
            <a:r>
              <a:rPr sz="1800" b="1">
                <a:solidFill>
                  <a:srgbClr val="0B1F3A"/>
                </a:solidFill>
                <a:latin typeface="Arial"/>
              </a:rPr>
              <a:t>Tornio</a:t>
            </a:r>
          </a:p>
        </p:txBody>
      </p:sp>
      <p:sp>
        <p:nvSpPr>
          <p:cNvPr id="13" name="TextBox 12"/>
          <p:cNvSpPr txBox="1"/>
          <p:nvPr/>
        </p:nvSpPr>
        <p:spPr>
          <a:xfrm>
            <a:off x="5806440" y="5288643"/>
            <a:ext cx="5852160" cy="320040"/>
          </a:xfrm>
          <a:prstGeom prst="rect">
            <a:avLst/>
          </a:prstGeom>
          <a:noFill/>
        </p:spPr>
        <p:txBody>
          <a:bodyPr wrap="square" lIns="0" rIns="0" tIns="0" bIns="0" anchor="t">
            <a:spAutoFit/>
          </a:bodyPr>
          <a:lstStyle/>
          <a:p>
            <a:pPr algn="r">
              <a:lnSpc>
                <a:spcPct val="100000"/>
              </a:lnSpc>
              <a:spcAft>
                <a:spcPts val="0"/>
              </a:spcAft>
            </a:pPr>
            <a:r>
              <a:rPr sz="1400" b="0">
                <a:solidFill>
                  <a:srgbClr val="6B7280"/>
                </a:solidFill>
                <a:latin typeface="Arial"/>
              </a:rPr>
              <a:t>Tulva app, spring 2005: filled = over its 1-in-10 flood level</a:t>
            </a:r>
          </a:p>
        </p:txBody>
      </p:sp>
      <p:sp>
        <p:nvSpPr>
          <p:cNvPr id="14" name="TextBox 13"/>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 SYKE discharge 1961–2025 and 1 March snow (SWE)</a:t>
            </a:r>
          </a:p>
        </p:txBody>
      </p:sp>
      <p:sp>
        <p:nvSpPr>
          <p:cNvPr id="15" name="TextBox 14"/>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THE GAP</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Finland's rivers flood together, not one at a time</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2</a:t>
            </a:r>
          </a:p>
        </p:txBody>
      </p:sp>
      <p:sp>
        <p:nvSpPr>
          <p:cNvPr id="5" name="TextBox 4"/>
          <p:cNvSpPr txBox="1"/>
          <p:nvPr/>
        </p:nvSpPr>
        <p:spPr>
          <a:xfrm>
            <a:off x="548640" y="1371600"/>
            <a:ext cx="11094415" cy="365760"/>
          </a:xfrm>
          <a:prstGeom prst="rect">
            <a:avLst/>
          </a:prstGeom>
          <a:noFill/>
        </p:spPr>
        <p:txBody>
          <a:bodyPr wrap="square" lIns="0" rIns="0" tIns="0" bIns="0" anchor="t">
            <a:spAutoFit/>
          </a:bodyPr>
          <a:lstStyle/>
          <a:p>
            <a:pPr algn="l">
              <a:lnSpc>
                <a:spcPct val="100000"/>
              </a:lnSpc>
              <a:spcAft>
                <a:spcPts val="0"/>
              </a:spcAft>
            </a:pPr>
            <a:r>
              <a:rPr sz="2000" b="0">
                <a:solidFill>
                  <a:srgbClr val="6B7280"/>
                </a:solidFill>
                <a:latin typeface="Arial"/>
              </a:rPr>
              <a:t>Springs when ≥4 of 14 river areas pass their 1-in-10 flood level</a:t>
            </a:r>
          </a:p>
        </p:txBody>
      </p:sp>
      <p:pic>
        <p:nvPicPr>
          <p:cNvPr id="6" name="Picture 5" descr="pitch_gap.png"/>
          <p:cNvPicPr>
            <a:picLocks noChangeAspect="1"/>
          </p:cNvPicPr>
          <p:nvPr/>
        </p:nvPicPr>
        <p:blipFill>
          <a:blip r:embed="rId2"/>
          <a:stretch>
            <a:fillRect/>
          </a:stretch>
        </p:blipFill>
        <p:spPr>
          <a:xfrm>
            <a:off x="754490" y="1783080"/>
            <a:ext cx="10682714" cy="3840480"/>
          </a:xfrm>
          <a:prstGeom prst="rect">
            <a:avLst/>
          </a:prstGeom>
        </p:spPr>
      </p:pic>
      <p:sp>
        <p:nvSpPr>
          <p:cNvPr id="7" name="Rectangle 6"/>
          <p:cNvSpPr/>
          <p:nvPr/>
        </p:nvSpPr>
        <p:spPr>
          <a:xfrm>
            <a:off x="548640" y="5760720"/>
            <a:ext cx="91440" cy="502920"/>
          </a:xfrm>
          <a:prstGeom prst="rect">
            <a:avLst/>
          </a:prstGeom>
          <a:solidFill>
            <a:srgbClr val="1F6FEB"/>
          </a:solidFill>
          <a:ln>
            <a:noFill/>
          </a:ln>
          <a:effectLst/>
        </p:spPr>
        <p:txBody>
          <a:bodyPr rtlCol="0" anchor="ctr"/>
          <a:lstStyle/>
          <a:p>
            <a:pPr algn="ctr"/>
          </a:p>
        </p:txBody>
      </p:sp>
      <p:sp>
        <p:nvSpPr>
          <p:cNvPr id="8" name="TextBox 7"/>
          <p:cNvSpPr txBox="1"/>
          <p:nvPr/>
        </p:nvSpPr>
        <p:spPr>
          <a:xfrm>
            <a:off x="822959" y="5760720"/>
            <a:ext cx="11094415" cy="502920"/>
          </a:xfrm>
          <a:prstGeom prst="rect">
            <a:avLst/>
          </a:prstGeom>
          <a:noFill/>
        </p:spPr>
        <p:txBody>
          <a:bodyPr wrap="square" lIns="0" rIns="0" tIns="0" bIns="0" anchor="ctr">
            <a:spAutoFit/>
          </a:bodyPr>
          <a:lstStyle/>
          <a:p>
            <a:pPr algn="l">
              <a:lnSpc>
                <a:spcPct val="100000"/>
              </a:lnSpc>
              <a:spcAft>
                <a:spcPts val="0"/>
              </a:spcAft>
            </a:pPr>
            <a:r>
              <a:rPr sz="2800" b="1">
                <a:solidFill>
                  <a:srgbClr val="0B1F3A"/>
                </a:solidFill>
                <a:latin typeface="Arial"/>
              </a:rPr>
              <a:t>Cover is bought in autumn. The snow signal comes in March.</a:t>
            </a:r>
          </a:p>
        </p:txBody>
      </p:sp>
      <p:sp>
        <p:nvSpPr>
          <p:cNvPr id="9" name="TextBox 8"/>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 SYKE 1961–2025 (+ SMHI Torne); chance = rivers flood independently, same gauge-years as observed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THE PRODUCT</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Tulva Index: sold in autumn, updated in March</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5" name="Rounded Rectangle 4"/>
          <p:cNvSpPr/>
          <p:nvPr/>
        </p:nvSpPr>
        <p:spPr>
          <a:xfrm>
            <a:off x="548640" y="1371600"/>
            <a:ext cx="11094415" cy="731520"/>
          </a:xfrm>
          <a:prstGeom prst="roundRect">
            <a:avLst>
              <a:gd name="adj" fmla="val 12000"/>
            </a:avLst>
          </a:prstGeom>
          <a:solidFill>
            <a:srgbClr val="0B1F3A"/>
          </a:solidFill>
          <a:ln>
            <a:noFill/>
          </a:ln>
          <a:effectLst/>
        </p:spPr>
        <p:txBody>
          <a:bodyPr rtlCol="0" anchor="ctr"/>
          <a:lstStyle/>
          <a:p>
            <a:pPr algn="ctr"/>
          </a:p>
        </p:txBody>
      </p:sp>
      <p:sp>
        <p:nvSpPr>
          <p:cNvPr id="6" name="TextBox 5"/>
          <p:cNvSpPr txBox="1"/>
          <p:nvPr/>
        </p:nvSpPr>
        <p:spPr>
          <a:xfrm>
            <a:off x="914400" y="1371600"/>
            <a:ext cx="10362895" cy="731520"/>
          </a:xfrm>
          <a:prstGeom prst="rect">
            <a:avLst/>
          </a:prstGeom>
          <a:noFill/>
        </p:spPr>
        <p:txBody>
          <a:bodyPr wrap="square" lIns="0" rIns="0" tIns="0" bIns="0" anchor="ctr">
            <a:spAutoFit/>
          </a:bodyPr>
          <a:lstStyle/>
          <a:p>
            <a:pPr algn="l">
              <a:lnSpc>
                <a:spcPct val="100000"/>
              </a:lnSpc>
              <a:spcAft>
                <a:spcPts val="0"/>
              </a:spcAft>
            </a:pPr>
            <a:r>
              <a:rPr sz="2600" b="1">
                <a:solidFill>
                  <a:srgbClr val="FFFFFF"/>
                </a:solidFill>
                <a:latin typeface="Arial"/>
              </a:rPr>
              <a:t>Pays if ≥2 of 5 northern rivers pass their 1-in-50 flood level</a:t>
            </a:r>
          </a:p>
        </p:txBody>
      </p:sp>
      <p:sp>
        <p:nvSpPr>
          <p:cNvPr id="7" name="TextBox 6"/>
          <p:cNvSpPr txBox="1"/>
          <p:nvPr/>
        </p:nvSpPr>
        <p:spPr>
          <a:xfrm>
            <a:off x="548640" y="2240280"/>
            <a:ext cx="11094415" cy="502920"/>
          </a:xfrm>
          <a:prstGeom prst="rect">
            <a:avLst/>
          </a:prstGeom>
          <a:noFill/>
        </p:spPr>
        <p:txBody>
          <a:bodyPr wrap="square" lIns="0" rIns="0" tIns="0" bIns="0" anchor="t">
            <a:spAutoFit/>
          </a:bodyPr>
          <a:lstStyle/>
          <a:p>
            <a:pPr algn="l">
              <a:lnSpc>
                <a:spcPct val="100000"/>
              </a:lnSpc>
              <a:spcAft>
                <a:spcPts val="0"/>
              </a:spcAft>
            </a:pPr>
            <a:r>
              <a:rPr sz="3200" b="1">
                <a:solidFill>
                  <a:srgbClr val="D13B2F"/>
                </a:solidFill>
                <a:latin typeface="Arial"/>
              </a:rPr>
              <a:t>Fair price ≈1.8× what the 2027 capital rule implies</a:t>
            </a:r>
          </a:p>
        </p:txBody>
      </p:sp>
      <p:sp>
        <p:nvSpPr>
          <p:cNvPr id="8" name="TextBox 7"/>
          <p:cNvSpPr txBox="1"/>
          <p:nvPr/>
        </p:nvSpPr>
        <p:spPr>
          <a:xfrm>
            <a:off x="548640" y="2770632"/>
            <a:ext cx="11094415" cy="320040"/>
          </a:xfrm>
          <a:prstGeom prst="rect">
            <a:avLst/>
          </a:prstGeom>
          <a:noFill/>
        </p:spPr>
        <p:txBody>
          <a:bodyPr wrap="square" lIns="0" rIns="0" tIns="0" bIns="0" anchor="t">
            <a:spAutoFit/>
          </a:bodyPr>
          <a:lstStyle/>
          <a:p>
            <a:pPr algn="l">
              <a:lnSpc>
                <a:spcPct val="100000"/>
              </a:lnSpc>
              <a:spcAft>
                <a:spcPts val="0"/>
              </a:spcAft>
            </a:pPr>
            <a:r>
              <a:rPr sz="1700" b="0">
                <a:solidFill>
                  <a:srgbClr val="6B7280"/>
                </a:solidFill>
                <a:latin typeface="Arial"/>
              </a:rPr>
              <a:t>Expected loss 1.96 % a year vs 1.11 % at 0.27, the average link the rule assumes between Finnish zones</a:t>
            </a:r>
          </a:p>
        </p:txBody>
      </p:sp>
      <p:sp>
        <p:nvSpPr>
          <p:cNvPr id="9" name="TextBox 8"/>
          <p:cNvSpPr txBox="1"/>
          <p:nvPr/>
        </p:nvSpPr>
        <p:spPr>
          <a:xfrm>
            <a:off x="548640" y="3246120"/>
            <a:ext cx="8229600" cy="274320"/>
          </a:xfrm>
          <a:prstGeom prst="rect">
            <a:avLst/>
          </a:prstGeom>
          <a:noFill/>
        </p:spPr>
        <p:txBody>
          <a:bodyPr wrap="square" lIns="0" rIns="0" tIns="0" bIns="0" anchor="t">
            <a:spAutoFit/>
          </a:bodyPr>
          <a:lstStyle/>
          <a:p>
            <a:pPr algn="l">
              <a:lnSpc>
                <a:spcPct val="100000"/>
              </a:lnSpc>
              <a:spcAft>
                <a:spcPts val="0"/>
              </a:spcAft>
            </a:pPr>
            <a:r>
              <a:rPr sz="1400" b="1">
                <a:solidFill>
                  <a:srgbClr val="1F6FEB"/>
                </a:solidFill>
                <a:latin typeface="Arial"/>
              </a:rPr>
              <a:t>MARKET PRICE, % OF THE LIMIT PER YEAR</a:t>
            </a:r>
          </a:p>
        </p:txBody>
      </p:sp>
      <p:pic>
        <p:nvPicPr>
          <p:cNvPr id="10" name="Picture 9" descr="pitch_cost.png"/>
          <p:cNvPicPr>
            <a:picLocks noChangeAspect="1"/>
          </p:cNvPicPr>
          <p:nvPr/>
        </p:nvPicPr>
        <p:blipFill>
          <a:blip r:embed="rId2"/>
          <a:stretch>
            <a:fillRect/>
          </a:stretch>
        </p:blipFill>
        <p:spPr>
          <a:xfrm>
            <a:off x="563727" y="3520440"/>
            <a:ext cx="11064240" cy="1828800"/>
          </a:xfrm>
          <a:prstGeom prst="rect">
            <a:avLst/>
          </a:prstGeom>
        </p:spPr>
      </p:pic>
      <p:sp>
        <p:nvSpPr>
          <p:cNvPr id="11" name="Rectangle 10"/>
          <p:cNvSpPr/>
          <p:nvPr/>
        </p:nvSpPr>
        <p:spPr>
          <a:xfrm>
            <a:off x="548640" y="5440680"/>
            <a:ext cx="11094415" cy="868680"/>
          </a:xfrm>
          <a:prstGeom prst="rect">
            <a:avLst/>
          </a:prstGeom>
          <a:solidFill>
            <a:srgbClr val="F3F6FA"/>
          </a:solidFill>
          <a:ln>
            <a:noFill/>
          </a:ln>
          <a:effectLst/>
        </p:spPr>
        <p:txBody>
          <a:bodyPr rtlCol="0" anchor="ctr"/>
          <a:lstStyle/>
          <a:p>
            <a:pPr algn="ctr"/>
          </a:p>
        </p:txBody>
      </p:sp>
      <p:sp>
        <p:nvSpPr>
          <p:cNvPr id="12" name="Rectangle 11"/>
          <p:cNvSpPr/>
          <p:nvPr/>
        </p:nvSpPr>
        <p:spPr>
          <a:xfrm>
            <a:off x="548640" y="5440680"/>
            <a:ext cx="91440" cy="868680"/>
          </a:xfrm>
          <a:prstGeom prst="rect">
            <a:avLst/>
          </a:prstGeom>
          <a:solidFill>
            <a:srgbClr val="1F6FEB"/>
          </a:solidFill>
          <a:ln>
            <a:noFill/>
          </a:ln>
          <a:effectLst/>
        </p:spPr>
        <p:txBody>
          <a:bodyPr rtlCol="0" anchor="ctr"/>
          <a:lstStyle/>
          <a:p>
            <a:pPr algn="ctr"/>
          </a:p>
        </p:txBody>
      </p:sp>
      <p:sp>
        <p:nvSpPr>
          <p:cNvPr id="13" name="TextBox 12"/>
          <p:cNvSpPr txBox="1"/>
          <p:nvPr/>
        </p:nvSpPr>
        <p:spPr>
          <a:xfrm>
            <a:off x="822959" y="5440680"/>
            <a:ext cx="10682935" cy="868680"/>
          </a:xfrm>
          <a:prstGeom prst="rect">
            <a:avLst/>
          </a:prstGeom>
          <a:noFill/>
        </p:spPr>
        <p:txBody>
          <a:bodyPr wrap="square" lIns="0" rIns="0" tIns="0" bIns="0" anchor="ctr">
            <a:spAutoFit/>
          </a:bodyPr>
          <a:lstStyle/>
          <a:p>
            <a:pPr algn="l">
              <a:lnSpc>
                <a:spcPct val="100000"/>
              </a:lnSpc>
              <a:spcAft>
                <a:spcPts val="0"/>
              </a:spcAft>
            </a:pPr>
            <a:r>
              <a:rPr sz="2100" b="1">
                <a:solidFill>
                  <a:srgbClr val="0B1F3A"/>
                </a:solidFill>
                <a:latin typeface="Arial"/>
              </a:rPr>
              <a:t>After a snowy March the fair risk triples </a:t>
            </a:r>
            <a:r>
              <a:rPr sz="2100" b="1">
                <a:solidFill>
                  <a:srgbClr val="6B7280"/>
                </a:solidFill>
                <a:latin typeface="Arial"/>
              </a:rPr>
              <a:t>(1.96 % → 6.4 %)</a:t>
            </a:r>
          </a:p>
          <a:p>
            <a:pPr algn="l">
              <a:lnSpc>
                <a:spcPct val="100000"/>
              </a:lnSpc>
              <a:spcAft>
                <a:spcPts val="0"/>
              </a:spcAft>
            </a:pPr>
            <a:r>
              <a:rPr sz="1700" b="0">
                <a:solidFill>
                  <a:srgbClr val="0B1F3A"/>
                </a:solidFill>
                <a:latin typeface="Arial"/>
              </a:rPr>
              <a:t>The insurer then buys top-up cover, staffs claims and uses it in its ORSA. Per €1M of cover: ~€49–69k a year.</a:t>
            </a:r>
          </a:p>
        </p:txBody>
      </p:sp>
      <p:sp>
        <p:nvSpPr>
          <p:cNvPr id="14" name="TextBox 13"/>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Sources: SYKE 1961–2025, Tulva model; 0.27 = mean of the 19-zone matrix, Del. Reg. (EU) 2026/269; market 2.5–3.5× (AM Best)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14400" y="5989320"/>
            <a:ext cx="10362895" cy="365760"/>
          </a:xfrm>
          <a:prstGeom prst="rect">
            <a:avLst/>
          </a:prstGeom>
          <a:noFill/>
        </p:spPr>
        <p:txBody>
          <a:bodyPr wrap="square" lIns="0" rIns="0" tIns="0" bIns="0" anchor="t">
            <a:spAutoFit/>
          </a:bodyPr>
          <a:lstStyle/>
          <a:p>
            <a:pPr algn="ctr">
              <a:lnSpc>
                <a:spcPct val="100000"/>
              </a:lnSpc>
              <a:spcAft>
                <a:spcPts val="0"/>
              </a:spcAft>
            </a:pPr>
            <a:r>
              <a:rPr sz="1800" b="0">
                <a:solidFill>
                  <a:srgbClr val="FFFFFF"/>
                </a:solidFill>
                <a:latin typeface="Arial"/>
              </a:rPr>
              <a:t>Live app: joint-flood map → March snow → quantum chip → 2005 replay</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QUANTUM, IN PRACTICE</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It runs on real quantum chips today</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sp>
        <p:nvSpPr>
          <p:cNvPr id="5" name="TextBox 4"/>
          <p:cNvSpPr txBox="1"/>
          <p:nvPr/>
        </p:nvSpPr>
        <p:spPr>
          <a:xfrm>
            <a:off x="548640" y="1417320"/>
            <a:ext cx="6949440" cy="365760"/>
          </a:xfrm>
          <a:prstGeom prst="rect">
            <a:avLst/>
          </a:prstGeom>
          <a:noFill/>
        </p:spPr>
        <p:txBody>
          <a:bodyPr wrap="square" lIns="0" rIns="0" tIns="0" bIns="0" anchor="t">
            <a:spAutoFit/>
          </a:bodyPr>
          <a:lstStyle/>
          <a:p>
            <a:pPr algn="l">
              <a:lnSpc>
                <a:spcPct val="100000"/>
              </a:lnSpc>
              <a:spcAft>
                <a:spcPts val="0"/>
              </a:spcAft>
            </a:pPr>
            <a:r>
              <a:rPr sz="2000" b="1">
                <a:solidFill>
                  <a:srgbClr val="0B1F3A"/>
                </a:solidFill>
                <a:latin typeface="Arial"/>
              </a:rPr>
              <a:t>Chart: IQM Emerald, Kittilä and Ivalo both pass 1-in-50</a:t>
            </a:r>
          </a:p>
        </p:txBody>
      </p:sp>
      <p:pic>
        <p:nvPicPr>
          <p:cNvPr id="6" name="Picture 5" descr="pitch_snow.png"/>
          <p:cNvPicPr>
            <a:picLocks noChangeAspect="1"/>
          </p:cNvPicPr>
          <p:nvPr/>
        </p:nvPicPr>
        <p:blipFill>
          <a:blip r:embed="rId2"/>
          <a:stretch>
            <a:fillRect/>
          </a:stretch>
        </p:blipFill>
        <p:spPr>
          <a:xfrm>
            <a:off x="548640" y="1828800"/>
            <a:ext cx="6949439" cy="4206240"/>
          </a:xfrm>
          <a:prstGeom prst="rect">
            <a:avLst/>
          </a:prstGeom>
        </p:spPr>
      </p:pic>
      <p:sp>
        <p:nvSpPr>
          <p:cNvPr id="7" name="TextBox 6"/>
          <p:cNvSpPr txBox="1"/>
          <p:nvPr/>
        </p:nvSpPr>
        <p:spPr>
          <a:xfrm>
            <a:off x="7909560" y="1417320"/>
            <a:ext cx="3749039" cy="32004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SHALLOW AMPLITUDE ESTIMATION</a:t>
            </a:r>
          </a:p>
        </p:txBody>
      </p:sp>
      <p:sp>
        <p:nvSpPr>
          <p:cNvPr id="8" name="TextBox 7"/>
          <p:cNvSpPr txBox="1"/>
          <p:nvPr/>
        </p:nvSpPr>
        <p:spPr>
          <a:xfrm>
            <a:off x="7909560" y="1709928"/>
            <a:ext cx="3749039" cy="548640"/>
          </a:xfrm>
          <a:prstGeom prst="rect">
            <a:avLst/>
          </a:prstGeom>
          <a:noFill/>
        </p:spPr>
        <p:txBody>
          <a:bodyPr wrap="square" lIns="0" rIns="0" tIns="0" bIns="0" anchor="t">
            <a:spAutoFit/>
          </a:bodyPr>
          <a:lstStyle/>
          <a:p>
            <a:pPr algn="l">
              <a:lnSpc>
                <a:spcPct val="100000"/>
              </a:lnSpc>
              <a:spcAft>
                <a:spcPts val="0"/>
              </a:spcAft>
            </a:pPr>
            <a:r>
              <a:rPr sz="1500" b="0">
                <a:solidFill>
                  <a:srgbClr val="6B7280"/>
                </a:solidFill>
                <a:latin typeface="Arial"/>
              </a:rPr>
              <a:t>Grover steps k = 0–3; the signal fades with each step on today's chips</a:t>
            </a:r>
          </a:p>
        </p:txBody>
      </p:sp>
      <p:sp>
        <p:nvSpPr>
          <p:cNvPr id="9" name="TextBox 8"/>
          <p:cNvSpPr txBox="1"/>
          <p:nvPr/>
        </p:nvSpPr>
        <p:spPr>
          <a:xfrm>
            <a:off x="7909560" y="2432304"/>
            <a:ext cx="2194560" cy="365760"/>
          </a:xfrm>
          <a:prstGeom prst="rect">
            <a:avLst/>
          </a:prstGeom>
          <a:noFill/>
        </p:spPr>
        <p:txBody>
          <a:bodyPr wrap="square" lIns="0" rIns="0" tIns="0" bIns="0" anchor="t">
            <a:spAutoFit/>
          </a:bodyPr>
          <a:lstStyle/>
          <a:p>
            <a:pPr algn="l">
              <a:lnSpc>
                <a:spcPct val="100000"/>
              </a:lnSpc>
              <a:spcAft>
                <a:spcPts val="0"/>
              </a:spcAft>
            </a:pPr>
            <a:r>
              <a:rPr sz="2000" b="1">
                <a:solidFill>
                  <a:srgbClr val="0B1F3A"/>
                </a:solidFill>
                <a:latin typeface="Arial"/>
              </a:rPr>
              <a:t>Exact</a:t>
            </a:r>
          </a:p>
        </p:txBody>
      </p:sp>
      <p:sp>
        <p:nvSpPr>
          <p:cNvPr id="10" name="TextBox 9"/>
          <p:cNvSpPr txBox="1"/>
          <p:nvPr/>
        </p:nvSpPr>
        <p:spPr>
          <a:xfrm>
            <a:off x="9921240" y="2377440"/>
            <a:ext cx="1737360" cy="411480"/>
          </a:xfrm>
          <a:prstGeom prst="rect">
            <a:avLst/>
          </a:prstGeom>
          <a:noFill/>
        </p:spPr>
        <p:txBody>
          <a:bodyPr wrap="square" lIns="0" rIns="0" tIns="0" bIns="0" anchor="t">
            <a:spAutoFit/>
          </a:bodyPr>
          <a:lstStyle/>
          <a:p>
            <a:pPr algn="r">
              <a:lnSpc>
                <a:spcPct val="100000"/>
              </a:lnSpc>
              <a:spcAft>
                <a:spcPts val="0"/>
              </a:spcAft>
            </a:pPr>
            <a:r>
              <a:rPr sz="2600" b="1">
                <a:solidFill>
                  <a:srgbClr val="0B1F3A"/>
                </a:solidFill>
                <a:latin typeface="Arial"/>
              </a:rPr>
              <a:t>0.125 %</a:t>
            </a:r>
          </a:p>
        </p:txBody>
      </p:sp>
      <p:sp>
        <p:nvSpPr>
          <p:cNvPr id="11" name="Rectangle 10"/>
          <p:cNvSpPr/>
          <p:nvPr/>
        </p:nvSpPr>
        <p:spPr>
          <a:xfrm>
            <a:off x="7909560" y="2852928"/>
            <a:ext cx="3749039" cy="10972"/>
          </a:xfrm>
          <a:prstGeom prst="rect">
            <a:avLst/>
          </a:prstGeom>
          <a:solidFill>
            <a:srgbClr val="DDE3EA"/>
          </a:solidFill>
          <a:ln>
            <a:noFill/>
          </a:ln>
          <a:effectLst/>
        </p:spPr>
        <p:txBody>
          <a:bodyPr rtlCol="0" anchor="ctr"/>
          <a:lstStyle/>
          <a:p>
            <a:pPr algn="ctr"/>
          </a:p>
        </p:txBody>
      </p:sp>
      <p:sp>
        <p:nvSpPr>
          <p:cNvPr id="12" name="TextBox 11"/>
          <p:cNvSpPr txBox="1"/>
          <p:nvPr/>
        </p:nvSpPr>
        <p:spPr>
          <a:xfrm>
            <a:off x="7909560" y="2980944"/>
            <a:ext cx="2194560" cy="365760"/>
          </a:xfrm>
          <a:prstGeom prst="rect">
            <a:avLst/>
          </a:prstGeom>
          <a:noFill/>
        </p:spPr>
        <p:txBody>
          <a:bodyPr wrap="square" lIns="0" rIns="0" tIns="0" bIns="0" anchor="t">
            <a:spAutoFit/>
          </a:bodyPr>
          <a:lstStyle/>
          <a:p>
            <a:pPr algn="l">
              <a:lnSpc>
                <a:spcPct val="100000"/>
              </a:lnSpc>
              <a:spcAft>
                <a:spcPts val="0"/>
              </a:spcAft>
            </a:pPr>
            <a:r>
              <a:rPr sz="2000" b="1">
                <a:solidFill>
                  <a:srgbClr val="0B1F3A"/>
                </a:solidFill>
                <a:latin typeface="Arial"/>
              </a:rPr>
              <a:t>IBM Marrakesh</a:t>
            </a:r>
          </a:p>
        </p:txBody>
      </p:sp>
      <p:sp>
        <p:nvSpPr>
          <p:cNvPr id="13" name="TextBox 12"/>
          <p:cNvSpPr txBox="1"/>
          <p:nvPr/>
        </p:nvSpPr>
        <p:spPr>
          <a:xfrm>
            <a:off x="9921240" y="2926080"/>
            <a:ext cx="1737360" cy="411480"/>
          </a:xfrm>
          <a:prstGeom prst="rect">
            <a:avLst/>
          </a:prstGeom>
          <a:noFill/>
        </p:spPr>
        <p:txBody>
          <a:bodyPr wrap="square" lIns="0" rIns="0" tIns="0" bIns="0" anchor="t">
            <a:spAutoFit/>
          </a:bodyPr>
          <a:lstStyle/>
          <a:p>
            <a:pPr algn="r">
              <a:lnSpc>
                <a:spcPct val="100000"/>
              </a:lnSpc>
              <a:spcAft>
                <a:spcPts val="0"/>
              </a:spcAft>
            </a:pPr>
            <a:r>
              <a:rPr sz="2600" b="1">
                <a:solidFill>
                  <a:srgbClr val="0B1F3A"/>
                </a:solidFill>
                <a:latin typeface="Arial"/>
              </a:rPr>
              <a:t>0.149 %</a:t>
            </a:r>
          </a:p>
        </p:txBody>
      </p:sp>
      <p:sp>
        <p:nvSpPr>
          <p:cNvPr id="14" name="Rectangle 13"/>
          <p:cNvSpPr/>
          <p:nvPr/>
        </p:nvSpPr>
        <p:spPr>
          <a:xfrm>
            <a:off x="7909560" y="3401568"/>
            <a:ext cx="3749039" cy="10972"/>
          </a:xfrm>
          <a:prstGeom prst="rect">
            <a:avLst/>
          </a:prstGeom>
          <a:solidFill>
            <a:srgbClr val="DDE3EA"/>
          </a:solidFill>
          <a:ln>
            <a:noFill/>
          </a:ln>
          <a:effectLst/>
        </p:spPr>
        <p:txBody>
          <a:bodyPr rtlCol="0" anchor="ctr"/>
          <a:lstStyle/>
          <a:p>
            <a:pPr algn="ctr"/>
          </a:p>
        </p:txBody>
      </p:sp>
      <p:sp>
        <p:nvSpPr>
          <p:cNvPr id="15" name="TextBox 14"/>
          <p:cNvSpPr txBox="1"/>
          <p:nvPr/>
        </p:nvSpPr>
        <p:spPr>
          <a:xfrm>
            <a:off x="7909560" y="3529584"/>
            <a:ext cx="2194560" cy="365760"/>
          </a:xfrm>
          <a:prstGeom prst="rect">
            <a:avLst/>
          </a:prstGeom>
          <a:noFill/>
        </p:spPr>
        <p:txBody>
          <a:bodyPr wrap="square" lIns="0" rIns="0" tIns="0" bIns="0" anchor="t">
            <a:spAutoFit/>
          </a:bodyPr>
          <a:lstStyle/>
          <a:p>
            <a:pPr algn="l">
              <a:lnSpc>
                <a:spcPct val="100000"/>
              </a:lnSpc>
              <a:spcAft>
                <a:spcPts val="0"/>
              </a:spcAft>
            </a:pPr>
            <a:r>
              <a:rPr sz="2000" b="1">
                <a:solidFill>
                  <a:srgbClr val="0B1F3A"/>
                </a:solidFill>
                <a:latin typeface="Arial"/>
              </a:rPr>
              <a:t>IQM Garnet</a:t>
            </a:r>
          </a:p>
        </p:txBody>
      </p:sp>
      <p:sp>
        <p:nvSpPr>
          <p:cNvPr id="16" name="TextBox 15"/>
          <p:cNvSpPr txBox="1"/>
          <p:nvPr/>
        </p:nvSpPr>
        <p:spPr>
          <a:xfrm>
            <a:off x="9921240" y="3474720"/>
            <a:ext cx="1737360" cy="411480"/>
          </a:xfrm>
          <a:prstGeom prst="rect">
            <a:avLst/>
          </a:prstGeom>
          <a:noFill/>
        </p:spPr>
        <p:txBody>
          <a:bodyPr wrap="square" lIns="0" rIns="0" tIns="0" bIns="0" anchor="t">
            <a:spAutoFit/>
          </a:bodyPr>
          <a:lstStyle/>
          <a:p>
            <a:pPr algn="r">
              <a:lnSpc>
                <a:spcPct val="100000"/>
              </a:lnSpc>
              <a:spcAft>
                <a:spcPts val="0"/>
              </a:spcAft>
            </a:pPr>
            <a:r>
              <a:rPr sz="2600" b="1">
                <a:solidFill>
                  <a:srgbClr val="0B1F3A"/>
                </a:solidFill>
                <a:latin typeface="Arial"/>
              </a:rPr>
              <a:t>0.164 %</a:t>
            </a:r>
          </a:p>
        </p:txBody>
      </p:sp>
      <p:sp>
        <p:nvSpPr>
          <p:cNvPr id="17" name="Rectangle 16"/>
          <p:cNvSpPr/>
          <p:nvPr/>
        </p:nvSpPr>
        <p:spPr>
          <a:xfrm>
            <a:off x="7909560" y="3950208"/>
            <a:ext cx="3749039" cy="10972"/>
          </a:xfrm>
          <a:prstGeom prst="rect">
            <a:avLst/>
          </a:prstGeom>
          <a:solidFill>
            <a:srgbClr val="DDE3EA"/>
          </a:solidFill>
          <a:ln>
            <a:noFill/>
          </a:ln>
          <a:effectLst/>
        </p:spPr>
        <p:txBody>
          <a:bodyPr rtlCol="0" anchor="ctr"/>
          <a:lstStyle/>
          <a:p>
            <a:pPr algn="ctr"/>
          </a:p>
        </p:txBody>
      </p:sp>
      <p:sp>
        <p:nvSpPr>
          <p:cNvPr id="18" name="TextBox 17"/>
          <p:cNvSpPr txBox="1"/>
          <p:nvPr/>
        </p:nvSpPr>
        <p:spPr>
          <a:xfrm>
            <a:off x="7909560" y="4069080"/>
            <a:ext cx="3749039" cy="365760"/>
          </a:xfrm>
          <a:prstGeom prst="rect">
            <a:avLst/>
          </a:prstGeom>
          <a:noFill/>
        </p:spPr>
        <p:txBody>
          <a:bodyPr wrap="square" lIns="0" rIns="0" tIns="0" bIns="0" anchor="t">
            <a:spAutoFit/>
          </a:bodyPr>
          <a:lstStyle/>
          <a:p>
            <a:pPr algn="l">
              <a:lnSpc>
                <a:spcPct val="100000"/>
              </a:lnSpc>
              <a:spcAft>
                <a:spcPts val="0"/>
              </a:spcAft>
            </a:pPr>
            <a:r>
              <a:rPr sz="1600" b="1">
                <a:solidFill>
                  <a:srgbClr val="6B7280"/>
                </a:solidFill>
                <a:latin typeface="Arial"/>
              </a:rPr>
              <a:t>Calibrated, still +19 % / +31 % high</a:t>
            </a:r>
          </a:p>
        </p:txBody>
      </p:sp>
      <p:sp>
        <p:nvSpPr>
          <p:cNvPr id="19" name="Rectangle 18"/>
          <p:cNvSpPr/>
          <p:nvPr/>
        </p:nvSpPr>
        <p:spPr>
          <a:xfrm>
            <a:off x="7909560" y="4983480"/>
            <a:ext cx="3749039" cy="1051560"/>
          </a:xfrm>
          <a:prstGeom prst="rect">
            <a:avLst/>
          </a:prstGeom>
          <a:solidFill>
            <a:srgbClr val="F3F6FA"/>
          </a:solidFill>
          <a:ln>
            <a:noFill/>
          </a:ln>
          <a:effectLst/>
        </p:spPr>
        <p:txBody>
          <a:bodyPr rtlCol="0" anchor="ctr"/>
          <a:lstStyle/>
          <a:p>
            <a:pPr algn="ctr"/>
          </a:p>
        </p:txBody>
      </p:sp>
      <p:sp>
        <p:nvSpPr>
          <p:cNvPr id="20" name="TextBox 19"/>
          <p:cNvSpPr txBox="1"/>
          <p:nvPr/>
        </p:nvSpPr>
        <p:spPr>
          <a:xfrm>
            <a:off x="8092440" y="5029200"/>
            <a:ext cx="3428999" cy="960120"/>
          </a:xfrm>
          <a:prstGeom prst="rect">
            <a:avLst/>
          </a:prstGeom>
          <a:noFill/>
        </p:spPr>
        <p:txBody>
          <a:bodyPr wrap="square" lIns="0" rIns="0" tIns="0" bIns="0" anchor="ctr">
            <a:spAutoFit/>
          </a:bodyPr>
          <a:lstStyle/>
          <a:p>
            <a:pPr algn="l">
              <a:lnSpc>
                <a:spcPct val="100000"/>
              </a:lnSpc>
              <a:spcAft>
                <a:spcPts val="0"/>
              </a:spcAft>
            </a:pPr>
            <a:r>
              <a:rPr sz="1700" b="0">
                <a:solidFill>
                  <a:srgbClr val="0B1F3A"/>
                </a:solidFill>
                <a:latin typeface="Arial"/>
              </a:rPr>
              <a:t>14-river model (two-level): 18 qubits on IQM Emerald, sampling only</a:t>
            </a:r>
          </a:p>
        </p:txBody>
      </p:sp>
      <p:sp>
        <p:nvSpPr>
          <p:cNvPr id="21" name="TextBox 20"/>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Intervals, raw readings and job IDs: appendix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QUANTUM, HONESTLY</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Classical Monte Carlo still wins today</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pic>
        <p:nvPicPr>
          <p:cNvPr id="5" name="Picture 4" descr="pitch_scaling.png"/>
          <p:cNvPicPr>
            <a:picLocks noChangeAspect="1"/>
          </p:cNvPicPr>
          <p:nvPr/>
        </p:nvPicPr>
        <p:blipFill>
          <a:blip r:embed="rId2"/>
          <a:stretch>
            <a:fillRect/>
          </a:stretch>
        </p:blipFill>
        <p:spPr>
          <a:xfrm>
            <a:off x="554603" y="1463040"/>
            <a:ext cx="6571753" cy="3977639"/>
          </a:xfrm>
          <a:prstGeom prst="rect">
            <a:avLst/>
          </a:prstGeom>
        </p:spPr>
      </p:pic>
      <p:sp>
        <p:nvSpPr>
          <p:cNvPr id="6" name="TextBox 5"/>
          <p:cNvSpPr txBox="1"/>
          <p:nvPr/>
        </p:nvSpPr>
        <p:spPr>
          <a:xfrm>
            <a:off x="548640" y="5532120"/>
            <a:ext cx="6583680" cy="365760"/>
          </a:xfrm>
          <a:prstGeom prst="rect">
            <a:avLst/>
          </a:prstGeom>
          <a:noFill/>
        </p:spPr>
        <p:txBody>
          <a:bodyPr wrap="square" lIns="0" rIns="0" tIns="0" bIns="0" anchor="t">
            <a:spAutoFit/>
          </a:bodyPr>
          <a:lstStyle/>
          <a:p>
            <a:pPr algn="l">
              <a:lnSpc>
                <a:spcPct val="100000"/>
              </a:lnSpc>
              <a:spcAft>
                <a:spcPts val="0"/>
              </a:spcAft>
            </a:pPr>
            <a:r>
              <a:rPr sz="1800" b="0">
                <a:solidFill>
                  <a:srgbClr val="6B7280"/>
                </a:solidFill>
                <a:latin typeface="Arial"/>
              </a:rPr>
              <a:t>Kittilä and Ivalo both pass 1-in-50: error vs effort</a:t>
            </a:r>
          </a:p>
        </p:txBody>
      </p:sp>
      <p:sp>
        <p:nvSpPr>
          <p:cNvPr id="7" name="TextBox 6"/>
          <p:cNvSpPr txBox="1"/>
          <p:nvPr/>
        </p:nvSpPr>
        <p:spPr>
          <a:xfrm>
            <a:off x="7498079" y="1463040"/>
            <a:ext cx="4160520" cy="411480"/>
          </a:xfrm>
          <a:prstGeom prst="rect">
            <a:avLst/>
          </a:prstGeom>
          <a:noFill/>
        </p:spPr>
        <p:txBody>
          <a:bodyPr wrap="square" lIns="0" rIns="0" tIns="0" bIns="0" anchor="t">
            <a:spAutoFit/>
          </a:bodyPr>
          <a:lstStyle/>
          <a:p>
            <a:pPr algn="l">
              <a:lnSpc>
                <a:spcPct val="100000"/>
              </a:lnSpc>
              <a:spcAft>
                <a:spcPts val="0"/>
              </a:spcAft>
            </a:pPr>
            <a:r>
              <a:rPr sz="2000" b="1">
                <a:solidFill>
                  <a:srgbClr val="1F6FEB"/>
                </a:solidFill>
                <a:latin typeface="Arial"/>
              </a:rPr>
              <a:t>Method ready, hardware not yet</a:t>
            </a:r>
          </a:p>
        </p:txBody>
      </p:sp>
      <p:sp>
        <p:nvSpPr>
          <p:cNvPr id="8" name="Rectangle 7"/>
          <p:cNvSpPr/>
          <p:nvPr/>
        </p:nvSpPr>
        <p:spPr>
          <a:xfrm>
            <a:off x="7498079" y="2011680"/>
            <a:ext cx="4160520" cy="1554480"/>
          </a:xfrm>
          <a:prstGeom prst="rect">
            <a:avLst/>
          </a:prstGeom>
          <a:solidFill>
            <a:srgbClr val="F3F6FA"/>
          </a:solidFill>
          <a:ln>
            <a:noFill/>
          </a:ln>
          <a:effectLst/>
        </p:spPr>
        <p:txBody>
          <a:bodyPr rtlCol="0" anchor="ctr"/>
          <a:lstStyle/>
          <a:p>
            <a:pPr algn="ctr"/>
          </a:p>
        </p:txBody>
      </p:sp>
      <p:sp>
        <p:nvSpPr>
          <p:cNvPr id="9" name="Rectangle 8"/>
          <p:cNvSpPr/>
          <p:nvPr/>
        </p:nvSpPr>
        <p:spPr>
          <a:xfrm>
            <a:off x="7498079" y="2011680"/>
            <a:ext cx="73152" cy="1554480"/>
          </a:xfrm>
          <a:prstGeom prst="rect">
            <a:avLst/>
          </a:prstGeom>
          <a:solidFill>
            <a:srgbClr val="D13B2F"/>
          </a:solidFill>
          <a:ln>
            <a:noFill/>
          </a:ln>
          <a:effectLst/>
        </p:spPr>
        <p:txBody>
          <a:bodyPr rtlCol="0" anchor="ctr"/>
          <a:lstStyle/>
          <a:p>
            <a:pPr algn="ctr"/>
          </a:p>
        </p:txBody>
      </p:sp>
      <p:sp>
        <p:nvSpPr>
          <p:cNvPr id="10" name="TextBox 9"/>
          <p:cNvSpPr txBox="1"/>
          <p:nvPr/>
        </p:nvSpPr>
        <p:spPr>
          <a:xfrm>
            <a:off x="7772400" y="2148840"/>
            <a:ext cx="3749039" cy="13716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Today: rare floods drown in noise.</a:t>
            </a:r>
          </a:p>
        </p:txBody>
      </p:sp>
      <p:sp>
        <p:nvSpPr>
          <p:cNvPr id="11" name="TextBox 10"/>
          <p:cNvSpPr txBox="1"/>
          <p:nvPr/>
        </p:nvSpPr>
        <p:spPr>
          <a:xfrm>
            <a:off x="7498079" y="3749039"/>
            <a:ext cx="4160520" cy="118872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18 qubits, 44 two-qubit gates (IQM Emerald):</a:t>
            </a:r>
          </a:p>
          <a:p>
            <a:pPr algn="l">
              <a:lnSpc>
                <a:spcPct val="100000"/>
              </a:lnSpc>
              <a:spcAft>
                <a:spcPts val="0"/>
              </a:spcAft>
            </a:pPr>
            <a:r>
              <a:rPr sz="1800" b="0">
                <a:solidFill>
                  <a:srgbClr val="6B7280"/>
                </a:solidFill>
                <a:latin typeface="Arial"/>
              </a:rPr>
              <a:t>works at 1-in-10, fails at 1-in-50</a:t>
            </a:r>
          </a:p>
          <a:p>
            <a:pPr algn="l">
              <a:lnSpc>
                <a:spcPct val="100000"/>
              </a:lnSpc>
              <a:spcAft>
                <a:spcPts val="0"/>
              </a:spcAft>
            </a:pPr>
            <a:r>
              <a:rPr sz="1800" b="0">
                <a:solidFill>
                  <a:srgbClr val="6B7280"/>
                </a:solidFill>
                <a:latin typeface="Arial"/>
              </a:rPr>
              <a:t>(16 % vs 4.8 % exact)</a:t>
            </a:r>
          </a:p>
        </p:txBody>
      </p:sp>
      <p:sp>
        <p:nvSpPr>
          <p:cNvPr id="12" name="TextBox 11"/>
          <p:cNvSpPr txBox="1"/>
          <p:nvPr/>
        </p:nvSpPr>
        <p:spPr>
          <a:xfrm>
            <a:off x="7498079" y="4983480"/>
            <a:ext cx="4160520" cy="822960"/>
          </a:xfrm>
          <a:prstGeom prst="rect">
            <a:avLst/>
          </a:prstGeom>
          <a:noFill/>
        </p:spPr>
        <p:txBody>
          <a:bodyPr wrap="square" lIns="0" rIns="0" tIns="0" bIns="0" anchor="t">
            <a:spAutoFit/>
          </a:bodyPr>
          <a:lstStyle/>
          <a:p>
            <a:pPr algn="l">
              <a:lnSpc>
                <a:spcPct val="100000"/>
              </a:lnSpc>
              <a:spcAft>
                <a:spcPts val="0"/>
              </a:spcAft>
            </a:pPr>
            <a:r>
              <a:rPr sz="2000" b="1">
                <a:solidFill>
                  <a:srgbClr val="0B1F3A"/>
                </a:solidFill>
                <a:latin typeface="Arial"/>
              </a:rPr>
              <a:t>Prices are computed classically; quantum is the R&amp;D track.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BUSINESS</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Who buys, why, and why now</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sp>
        <p:nvSpPr>
          <p:cNvPr id="5" name="Rectangle 4"/>
          <p:cNvSpPr/>
          <p:nvPr/>
        </p:nvSpPr>
        <p:spPr>
          <a:xfrm>
            <a:off x="548640" y="1371600"/>
            <a:ext cx="2464993" cy="2514600"/>
          </a:xfrm>
          <a:prstGeom prst="rect">
            <a:avLst/>
          </a:prstGeom>
          <a:solidFill>
            <a:srgbClr val="F3F6FA"/>
          </a:solidFill>
          <a:ln>
            <a:noFill/>
          </a:ln>
          <a:effectLst/>
        </p:spPr>
        <p:txBody>
          <a:bodyPr rtlCol="0" anchor="ctr"/>
          <a:lstStyle/>
          <a:p>
            <a:pPr algn="ctr"/>
          </a:p>
        </p:txBody>
      </p:sp>
      <p:sp>
        <p:nvSpPr>
          <p:cNvPr id="6" name="Rectangle 5"/>
          <p:cNvSpPr/>
          <p:nvPr/>
        </p:nvSpPr>
        <p:spPr>
          <a:xfrm>
            <a:off x="548640" y="1371600"/>
            <a:ext cx="2464993" cy="64008"/>
          </a:xfrm>
          <a:prstGeom prst="rect">
            <a:avLst/>
          </a:prstGeom>
          <a:solidFill>
            <a:srgbClr val="1F6FEB"/>
          </a:solidFill>
          <a:ln>
            <a:noFill/>
          </a:ln>
          <a:effectLst/>
        </p:spPr>
        <p:txBody>
          <a:bodyPr rtlCol="0" anchor="ctr"/>
          <a:lstStyle/>
          <a:p>
            <a:pPr algn="ctr"/>
          </a:p>
        </p:txBody>
      </p:sp>
      <p:sp>
        <p:nvSpPr>
          <p:cNvPr id="7" name="TextBox 6"/>
          <p:cNvSpPr txBox="1"/>
          <p:nvPr/>
        </p:nvSpPr>
        <p:spPr>
          <a:xfrm>
            <a:off x="731520" y="1554480"/>
            <a:ext cx="2099233" cy="32004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BUYER</a:t>
            </a:r>
          </a:p>
        </p:txBody>
      </p:sp>
      <p:sp>
        <p:nvSpPr>
          <p:cNvPr id="8" name="TextBox 7"/>
          <p:cNvSpPr txBox="1"/>
          <p:nvPr/>
        </p:nvSpPr>
        <p:spPr>
          <a:xfrm>
            <a:off x="731520" y="1901952"/>
            <a:ext cx="2099233" cy="1371600"/>
          </a:xfrm>
          <a:prstGeom prst="rect">
            <a:avLst/>
          </a:prstGeom>
          <a:noFill/>
        </p:spPr>
        <p:txBody>
          <a:bodyPr wrap="square" lIns="0" rIns="0" tIns="0" bIns="0" anchor="t">
            <a:spAutoFit/>
          </a:bodyPr>
          <a:lstStyle/>
          <a:p>
            <a:pPr algn="l">
              <a:lnSpc>
                <a:spcPct val="100000"/>
              </a:lnSpc>
              <a:spcAft>
                <a:spcPts val="0"/>
              </a:spcAft>
            </a:pPr>
            <a:r>
              <a:rPr sz="2200" b="1">
                <a:solidFill>
                  <a:srgbClr val="0B1F3A"/>
                </a:solidFill>
                <a:latin typeface="Arial"/>
              </a:rPr>
              <a:t>Insurer with an internal capital model</a:t>
            </a:r>
          </a:p>
        </p:txBody>
      </p:sp>
      <p:sp>
        <p:nvSpPr>
          <p:cNvPr id="9" name="TextBox 8"/>
          <p:cNvSpPr txBox="1"/>
          <p:nvPr/>
        </p:nvSpPr>
        <p:spPr>
          <a:xfrm>
            <a:off x="731520" y="3319272"/>
            <a:ext cx="2099233" cy="475488"/>
          </a:xfrm>
          <a:prstGeom prst="rect">
            <a:avLst/>
          </a:prstGeom>
          <a:noFill/>
        </p:spPr>
        <p:txBody>
          <a:bodyPr wrap="square" lIns="0" rIns="0" tIns="0" bIns="0" anchor="b">
            <a:spAutoFit/>
          </a:bodyPr>
          <a:lstStyle/>
          <a:p>
            <a:pPr algn="l">
              <a:lnSpc>
                <a:spcPct val="100000"/>
              </a:lnSpc>
              <a:spcAft>
                <a:spcPts val="0"/>
              </a:spcAft>
            </a:pPr>
            <a:r>
              <a:rPr sz="1500" b="0">
                <a:solidFill>
                  <a:srgbClr val="6B7280"/>
                </a:solidFill>
                <a:latin typeface="Arial"/>
              </a:rPr>
              <a:t>e.g. the insurer If</a:t>
            </a:r>
          </a:p>
        </p:txBody>
      </p:sp>
      <p:sp>
        <p:nvSpPr>
          <p:cNvPr id="10" name="TextBox 9"/>
          <p:cNvSpPr txBox="1"/>
          <p:nvPr/>
        </p:nvSpPr>
        <p:spPr>
          <a:xfrm>
            <a:off x="3013633" y="2354580"/>
            <a:ext cx="411480" cy="548640"/>
          </a:xfrm>
          <a:prstGeom prst="rect">
            <a:avLst/>
          </a:prstGeom>
          <a:noFill/>
        </p:spPr>
        <p:txBody>
          <a:bodyPr wrap="square" lIns="0" rIns="0" tIns="0" bIns="0" anchor="ctr">
            <a:spAutoFit/>
          </a:bodyPr>
          <a:lstStyle/>
          <a:p>
            <a:pPr algn="ctr">
              <a:lnSpc>
                <a:spcPct val="100000"/>
              </a:lnSpc>
              <a:spcAft>
                <a:spcPts val="0"/>
              </a:spcAft>
            </a:pPr>
            <a:r>
              <a:rPr sz="3000" b="1">
                <a:solidFill>
                  <a:srgbClr val="1F6FEB"/>
                </a:solidFill>
                <a:latin typeface="Arial"/>
              </a:rPr>
              <a:t>→</a:t>
            </a:r>
          </a:p>
        </p:txBody>
      </p:sp>
      <p:sp>
        <p:nvSpPr>
          <p:cNvPr id="11" name="Rectangle 10"/>
          <p:cNvSpPr/>
          <p:nvPr/>
        </p:nvSpPr>
        <p:spPr>
          <a:xfrm>
            <a:off x="3425113" y="1371600"/>
            <a:ext cx="2464993" cy="2514600"/>
          </a:xfrm>
          <a:prstGeom prst="rect">
            <a:avLst/>
          </a:prstGeom>
          <a:solidFill>
            <a:srgbClr val="F3F6FA"/>
          </a:solidFill>
          <a:ln>
            <a:noFill/>
          </a:ln>
          <a:effectLst/>
        </p:spPr>
        <p:txBody>
          <a:bodyPr rtlCol="0" anchor="ctr"/>
          <a:lstStyle/>
          <a:p>
            <a:pPr algn="ctr"/>
          </a:p>
        </p:txBody>
      </p:sp>
      <p:sp>
        <p:nvSpPr>
          <p:cNvPr id="12" name="Rectangle 11"/>
          <p:cNvSpPr/>
          <p:nvPr/>
        </p:nvSpPr>
        <p:spPr>
          <a:xfrm>
            <a:off x="3425113" y="1371600"/>
            <a:ext cx="2464993" cy="64008"/>
          </a:xfrm>
          <a:prstGeom prst="rect">
            <a:avLst/>
          </a:prstGeom>
          <a:solidFill>
            <a:srgbClr val="1F6FEB"/>
          </a:solidFill>
          <a:ln>
            <a:noFill/>
          </a:ln>
          <a:effectLst/>
        </p:spPr>
        <p:txBody>
          <a:bodyPr rtlCol="0" anchor="ctr"/>
          <a:lstStyle/>
          <a:p>
            <a:pPr algn="ctr"/>
          </a:p>
        </p:txBody>
      </p:sp>
      <p:sp>
        <p:nvSpPr>
          <p:cNvPr id="13" name="TextBox 12"/>
          <p:cNvSpPr txBox="1"/>
          <p:nvPr/>
        </p:nvSpPr>
        <p:spPr>
          <a:xfrm>
            <a:off x="3607993" y="1554480"/>
            <a:ext cx="2099233" cy="32004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RISK CARRIER</a:t>
            </a:r>
          </a:p>
        </p:txBody>
      </p:sp>
      <p:sp>
        <p:nvSpPr>
          <p:cNvPr id="14" name="TextBox 13"/>
          <p:cNvSpPr txBox="1"/>
          <p:nvPr/>
        </p:nvSpPr>
        <p:spPr>
          <a:xfrm>
            <a:off x="3607993" y="1901952"/>
            <a:ext cx="2099233" cy="1371600"/>
          </a:xfrm>
          <a:prstGeom prst="rect">
            <a:avLst/>
          </a:prstGeom>
          <a:noFill/>
        </p:spPr>
        <p:txBody>
          <a:bodyPr wrap="square" lIns="0" rIns="0" tIns="0" bIns="0" anchor="t">
            <a:spAutoFit/>
          </a:bodyPr>
          <a:lstStyle/>
          <a:p>
            <a:pPr algn="l">
              <a:lnSpc>
                <a:spcPct val="100000"/>
              </a:lnSpc>
              <a:spcAft>
                <a:spcPts val="0"/>
              </a:spcAft>
            </a:pPr>
            <a:r>
              <a:rPr sz="2200" b="1">
                <a:solidFill>
                  <a:srgbClr val="0B1F3A"/>
                </a:solidFill>
                <a:latin typeface="Arial"/>
              </a:rPr>
              <a:t>A reinsurer</a:t>
            </a:r>
          </a:p>
        </p:txBody>
      </p:sp>
      <p:sp>
        <p:nvSpPr>
          <p:cNvPr id="15" name="TextBox 14"/>
          <p:cNvSpPr txBox="1"/>
          <p:nvPr/>
        </p:nvSpPr>
        <p:spPr>
          <a:xfrm>
            <a:off x="5890107" y="2354580"/>
            <a:ext cx="411480" cy="548640"/>
          </a:xfrm>
          <a:prstGeom prst="rect">
            <a:avLst/>
          </a:prstGeom>
          <a:noFill/>
        </p:spPr>
        <p:txBody>
          <a:bodyPr wrap="square" lIns="0" rIns="0" tIns="0" bIns="0" anchor="ctr">
            <a:spAutoFit/>
          </a:bodyPr>
          <a:lstStyle/>
          <a:p>
            <a:pPr algn="ctr">
              <a:lnSpc>
                <a:spcPct val="100000"/>
              </a:lnSpc>
              <a:spcAft>
                <a:spcPts val="0"/>
              </a:spcAft>
            </a:pPr>
            <a:r>
              <a:rPr sz="3000" b="1">
                <a:solidFill>
                  <a:srgbClr val="1F6FEB"/>
                </a:solidFill>
                <a:latin typeface="Arial"/>
              </a:rPr>
              <a:t>→</a:t>
            </a:r>
          </a:p>
        </p:txBody>
      </p:sp>
      <p:sp>
        <p:nvSpPr>
          <p:cNvPr id="16" name="Rectangle 15"/>
          <p:cNvSpPr/>
          <p:nvPr/>
        </p:nvSpPr>
        <p:spPr>
          <a:xfrm>
            <a:off x="6301587" y="1371600"/>
            <a:ext cx="2464993" cy="2514600"/>
          </a:xfrm>
          <a:prstGeom prst="rect">
            <a:avLst/>
          </a:prstGeom>
          <a:solidFill>
            <a:srgbClr val="F3F6FA"/>
          </a:solidFill>
          <a:ln>
            <a:noFill/>
          </a:ln>
          <a:effectLst/>
        </p:spPr>
        <p:txBody>
          <a:bodyPr rtlCol="0" anchor="ctr"/>
          <a:lstStyle/>
          <a:p>
            <a:pPr algn="ctr"/>
          </a:p>
        </p:txBody>
      </p:sp>
      <p:sp>
        <p:nvSpPr>
          <p:cNvPr id="17" name="Rectangle 16"/>
          <p:cNvSpPr/>
          <p:nvPr/>
        </p:nvSpPr>
        <p:spPr>
          <a:xfrm>
            <a:off x="6301587" y="1371600"/>
            <a:ext cx="2464993" cy="64008"/>
          </a:xfrm>
          <a:prstGeom prst="rect">
            <a:avLst/>
          </a:prstGeom>
          <a:solidFill>
            <a:srgbClr val="1F6FEB"/>
          </a:solidFill>
          <a:ln>
            <a:noFill/>
          </a:ln>
          <a:effectLst/>
        </p:spPr>
        <p:txBody>
          <a:bodyPr rtlCol="0" anchor="ctr"/>
          <a:lstStyle/>
          <a:p>
            <a:pPr algn="ctr"/>
          </a:p>
        </p:txBody>
      </p:sp>
      <p:sp>
        <p:nvSpPr>
          <p:cNvPr id="18" name="TextBox 17"/>
          <p:cNvSpPr txBox="1"/>
          <p:nvPr/>
        </p:nvSpPr>
        <p:spPr>
          <a:xfrm>
            <a:off x="6484467" y="1554480"/>
            <a:ext cx="2099233" cy="32004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TULVA</a:t>
            </a:r>
          </a:p>
        </p:txBody>
      </p:sp>
      <p:sp>
        <p:nvSpPr>
          <p:cNvPr id="19" name="TextBox 18"/>
          <p:cNvSpPr txBox="1"/>
          <p:nvPr/>
        </p:nvSpPr>
        <p:spPr>
          <a:xfrm>
            <a:off x="6484467" y="1901952"/>
            <a:ext cx="2099233" cy="1371600"/>
          </a:xfrm>
          <a:prstGeom prst="rect">
            <a:avLst/>
          </a:prstGeom>
          <a:noFill/>
        </p:spPr>
        <p:txBody>
          <a:bodyPr wrap="square" lIns="0" rIns="0" tIns="0" bIns="0" anchor="t">
            <a:spAutoFit/>
          </a:bodyPr>
          <a:lstStyle/>
          <a:p>
            <a:pPr algn="l">
              <a:lnSpc>
                <a:spcPct val="100000"/>
              </a:lnSpc>
              <a:spcAft>
                <a:spcPts val="0"/>
              </a:spcAft>
            </a:pPr>
            <a:r>
              <a:rPr sz="2200" b="1">
                <a:solidFill>
                  <a:srgbClr val="0B1F3A"/>
                </a:solidFill>
                <a:latin typeface="Arial"/>
              </a:rPr>
              <a:t>Index + pricing licence</a:t>
            </a:r>
          </a:p>
        </p:txBody>
      </p:sp>
      <p:sp>
        <p:nvSpPr>
          <p:cNvPr id="20" name="TextBox 19"/>
          <p:cNvSpPr txBox="1"/>
          <p:nvPr/>
        </p:nvSpPr>
        <p:spPr>
          <a:xfrm>
            <a:off x="6484467" y="3319272"/>
            <a:ext cx="2099233" cy="475488"/>
          </a:xfrm>
          <a:prstGeom prst="rect">
            <a:avLst/>
          </a:prstGeom>
          <a:noFill/>
        </p:spPr>
        <p:txBody>
          <a:bodyPr wrap="square" lIns="0" rIns="0" tIns="0" bIns="0" anchor="b">
            <a:spAutoFit/>
          </a:bodyPr>
          <a:lstStyle/>
          <a:p>
            <a:pPr algn="l">
              <a:lnSpc>
                <a:spcPct val="100000"/>
              </a:lnSpc>
              <a:spcAft>
                <a:spcPts val="0"/>
              </a:spcAft>
            </a:pPr>
            <a:r>
              <a:rPr sz="1500" b="0">
                <a:solidFill>
                  <a:srgbClr val="6B7280"/>
                </a:solidFill>
                <a:latin typeface="Arial"/>
              </a:rPr>
              <a:t>€25k pilot, then ~€75k per insurer a year</a:t>
            </a:r>
          </a:p>
        </p:txBody>
      </p:sp>
      <p:sp>
        <p:nvSpPr>
          <p:cNvPr id="21" name="TextBox 20"/>
          <p:cNvSpPr txBox="1"/>
          <p:nvPr/>
        </p:nvSpPr>
        <p:spPr>
          <a:xfrm>
            <a:off x="8766581" y="2354580"/>
            <a:ext cx="411480" cy="548640"/>
          </a:xfrm>
          <a:prstGeom prst="rect">
            <a:avLst/>
          </a:prstGeom>
          <a:noFill/>
        </p:spPr>
        <p:txBody>
          <a:bodyPr wrap="square" lIns="0" rIns="0" tIns="0" bIns="0" anchor="ctr">
            <a:spAutoFit/>
          </a:bodyPr>
          <a:lstStyle/>
          <a:p>
            <a:pPr algn="ctr">
              <a:lnSpc>
                <a:spcPct val="100000"/>
              </a:lnSpc>
              <a:spcAft>
                <a:spcPts val="0"/>
              </a:spcAft>
            </a:pPr>
            <a:r>
              <a:rPr sz="3000" b="1">
                <a:solidFill>
                  <a:srgbClr val="1F6FEB"/>
                </a:solidFill>
                <a:latin typeface="Arial"/>
              </a:rPr>
              <a:t>→</a:t>
            </a:r>
          </a:p>
        </p:txBody>
      </p:sp>
      <p:sp>
        <p:nvSpPr>
          <p:cNvPr id="22" name="Rectangle 21"/>
          <p:cNvSpPr/>
          <p:nvPr/>
        </p:nvSpPr>
        <p:spPr>
          <a:xfrm>
            <a:off x="9178061" y="1371600"/>
            <a:ext cx="2464993" cy="2514600"/>
          </a:xfrm>
          <a:prstGeom prst="rect">
            <a:avLst/>
          </a:prstGeom>
          <a:solidFill>
            <a:srgbClr val="F3F6FA"/>
          </a:solidFill>
          <a:ln>
            <a:noFill/>
          </a:ln>
          <a:effectLst/>
        </p:spPr>
        <p:txBody>
          <a:bodyPr rtlCol="0" anchor="ctr"/>
          <a:lstStyle/>
          <a:p>
            <a:pPr algn="ctr"/>
          </a:p>
        </p:txBody>
      </p:sp>
      <p:sp>
        <p:nvSpPr>
          <p:cNvPr id="23" name="Rectangle 22"/>
          <p:cNvSpPr/>
          <p:nvPr/>
        </p:nvSpPr>
        <p:spPr>
          <a:xfrm>
            <a:off x="9178061" y="1371600"/>
            <a:ext cx="2464993" cy="64008"/>
          </a:xfrm>
          <a:prstGeom prst="rect">
            <a:avLst/>
          </a:prstGeom>
          <a:solidFill>
            <a:srgbClr val="0B1F3A"/>
          </a:solidFill>
          <a:ln>
            <a:noFill/>
          </a:ln>
          <a:effectLst/>
        </p:spPr>
        <p:txBody>
          <a:bodyPr rtlCol="0" anchor="ctr"/>
          <a:lstStyle/>
          <a:p>
            <a:pPr algn="ctr"/>
          </a:p>
        </p:txBody>
      </p:sp>
      <p:sp>
        <p:nvSpPr>
          <p:cNvPr id="24" name="TextBox 23"/>
          <p:cNvSpPr txBox="1"/>
          <p:nvPr/>
        </p:nvSpPr>
        <p:spPr>
          <a:xfrm>
            <a:off x="9360941" y="1554480"/>
            <a:ext cx="2099233" cy="32004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YEAR 3</a:t>
            </a:r>
          </a:p>
        </p:txBody>
      </p:sp>
      <p:sp>
        <p:nvSpPr>
          <p:cNvPr id="25" name="TextBox 24"/>
          <p:cNvSpPr txBox="1"/>
          <p:nvPr/>
        </p:nvSpPr>
        <p:spPr>
          <a:xfrm>
            <a:off x="9360941" y="1901952"/>
            <a:ext cx="2099233" cy="1371600"/>
          </a:xfrm>
          <a:prstGeom prst="rect">
            <a:avLst/>
          </a:prstGeom>
          <a:noFill/>
        </p:spPr>
        <p:txBody>
          <a:bodyPr wrap="square" lIns="0" rIns="0" tIns="0" bIns="0" anchor="t">
            <a:spAutoFit/>
          </a:bodyPr>
          <a:lstStyle/>
          <a:p>
            <a:pPr algn="l">
              <a:lnSpc>
                <a:spcPct val="100000"/>
              </a:lnSpc>
              <a:spcAft>
                <a:spcPts val="0"/>
              </a:spcAft>
            </a:pPr>
            <a:r>
              <a:rPr sz="2200" b="1">
                <a:solidFill>
                  <a:srgbClr val="0B1F3A"/>
                </a:solidFill>
                <a:latin typeface="Arial"/>
              </a:rPr>
              <a:t>3–6 insurers</a:t>
            </a:r>
          </a:p>
          <a:p>
            <a:pPr algn="l">
              <a:lnSpc>
                <a:spcPct val="100000"/>
              </a:lnSpc>
              <a:spcAft>
                <a:spcPts val="0"/>
              </a:spcAft>
            </a:pPr>
            <a:r>
              <a:rPr sz="2200" b="1">
                <a:solidFill>
                  <a:srgbClr val="0B1F3A"/>
                </a:solidFill>
                <a:latin typeface="Arial"/>
              </a:rPr>
              <a:t>× €75k =</a:t>
            </a:r>
          </a:p>
          <a:p>
            <a:pPr algn="l">
              <a:lnSpc>
                <a:spcPct val="100000"/>
              </a:lnSpc>
              <a:spcAft>
                <a:spcPts val="0"/>
              </a:spcAft>
            </a:pPr>
            <a:r>
              <a:rPr sz="2200" b="1">
                <a:solidFill>
                  <a:srgbClr val="0B1F3A"/>
                </a:solidFill>
                <a:latin typeface="Arial"/>
              </a:rPr>
              <a:t>€0.2–0.45M</a:t>
            </a:r>
          </a:p>
          <a:p>
            <a:pPr algn="l">
              <a:lnSpc>
                <a:spcPct val="100000"/>
              </a:lnSpc>
              <a:spcAft>
                <a:spcPts val="0"/>
              </a:spcAft>
            </a:pPr>
            <a:r>
              <a:rPr sz="2200" b="1">
                <a:solidFill>
                  <a:srgbClr val="0B1F3A"/>
                </a:solidFill>
                <a:latin typeface="Arial"/>
              </a:rPr>
              <a:t>a year</a:t>
            </a:r>
          </a:p>
        </p:txBody>
      </p:sp>
      <p:sp>
        <p:nvSpPr>
          <p:cNvPr id="26" name="TextBox 25"/>
          <p:cNvSpPr txBox="1"/>
          <p:nvPr/>
        </p:nvSpPr>
        <p:spPr>
          <a:xfrm>
            <a:off x="9360941" y="3319272"/>
            <a:ext cx="2099233" cy="475488"/>
          </a:xfrm>
          <a:prstGeom prst="rect">
            <a:avLst/>
          </a:prstGeom>
          <a:noFill/>
        </p:spPr>
        <p:txBody>
          <a:bodyPr wrap="square" lIns="0" rIns="0" tIns="0" bIns="0" anchor="b">
            <a:spAutoFit/>
          </a:bodyPr>
          <a:lstStyle/>
          <a:p>
            <a:pPr algn="l">
              <a:lnSpc>
                <a:spcPct val="100000"/>
              </a:lnSpc>
              <a:spcAft>
                <a:spcPts val="0"/>
              </a:spcAft>
            </a:pPr>
            <a:r>
              <a:rPr sz="1500" b="0">
                <a:solidFill>
                  <a:srgbClr val="6B7280"/>
                </a:solidFill>
                <a:latin typeface="Arial"/>
              </a:rPr>
              <a:t>Finland first, then SE/NO (assumption)</a:t>
            </a:r>
          </a:p>
        </p:txBody>
      </p:sp>
      <p:sp>
        <p:nvSpPr>
          <p:cNvPr id="27" name="Rectangle 26"/>
          <p:cNvSpPr/>
          <p:nvPr/>
        </p:nvSpPr>
        <p:spPr>
          <a:xfrm>
            <a:off x="548640" y="4023360"/>
            <a:ext cx="91440" cy="658368"/>
          </a:xfrm>
          <a:prstGeom prst="rect">
            <a:avLst/>
          </a:prstGeom>
          <a:solidFill>
            <a:srgbClr val="D13B2F"/>
          </a:solidFill>
          <a:ln>
            <a:noFill/>
          </a:ln>
          <a:effectLst/>
        </p:spPr>
        <p:txBody>
          <a:bodyPr rtlCol="0" anchor="ctr"/>
          <a:lstStyle/>
          <a:p>
            <a:pPr algn="ctr"/>
          </a:p>
        </p:txBody>
      </p:sp>
      <p:sp>
        <p:nvSpPr>
          <p:cNvPr id="28" name="TextBox 27"/>
          <p:cNvSpPr txBox="1"/>
          <p:nvPr/>
        </p:nvSpPr>
        <p:spPr>
          <a:xfrm>
            <a:off x="822959" y="4023360"/>
            <a:ext cx="10820095" cy="658368"/>
          </a:xfrm>
          <a:prstGeom prst="rect">
            <a:avLst/>
          </a:prstGeom>
          <a:noFill/>
        </p:spPr>
        <p:txBody>
          <a:bodyPr wrap="square" lIns="0" rIns="0" tIns="0" bIns="0" anchor="ctr">
            <a:spAutoFit/>
          </a:bodyPr>
          <a:lstStyle/>
          <a:p>
            <a:pPr algn="l">
              <a:lnSpc>
                <a:spcPct val="100000"/>
              </a:lnSpc>
              <a:spcAft>
                <a:spcPts val="0"/>
              </a:spcAft>
            </a:pPr>
            <a:r>
              <a:rPr sz="1900" b="1">
                <a:solidFill>
                  <a:srgbClr val="D13B2F"/>
                </a:solidFill>
                <a:latin typeface="Arial"/>
              </a:rPr>
              <a:t>Why now  </a:t>
            </a:r>
            <a:r>
              <a:rPr sz="1900" b="1">
                <a:solidFill>
                  <a:srgbClr val="0B1F3A"/>
                </a:solidFill>
                <a:latin typeface="Arial"/>
              </a:rPr>
              <a:t>2027: Finland's first Solvency II flood charge uses fixed correlations. None react to this winter's snow.</a:t>
            </a:r>
          </a:p>
        </p:txBody>
      </p:sp>
      <p:sp>
        <p:nvSpPr>
          <p:cNvPr id="29" name="Rectangle 28"/>
          <p:cNvSpPr/>
          <p:nvPr/>
        </p:nvSpPr>
        <p:spPr>
          <a:xfrm>
            <a:off x="548640" y="4773168"/>
            <a:ext cx="91440" cy="658368"/>
          </a:xfrm>
          <a:prstGeom prst="rect">
            <a:avLst/>
          </a:prstGeom>
          <a:solidFill>
            <a:srgbClr val="1F6FEB"/>
          </a:solidFill>
          <a:ln>
            <a:noFill/>
          </a:ln>
          <a:effectLst/>
        </p:spPr>
        <p:txBody>
          <a:bodyPr rtlCol="0" anchor="ctr"/>
          <a:lstStyle/>
          <a:p>
            <a:pPr algn="ctr"/>
          </a:p>
        </p:txBody>
      </p:sp>
      <p:sp>
        <p:nvSpPr>
          <p:cNvPr id="30" name="TextBox 29"/>
          <p:cNvSpPr txBox="1"/>
          <p:nvPr/>
        </p:nvSpPr>
        <p:spPr>
          <a:xfrm>
            <a:off x="822959" y="4773168"/>
            <a:ext cx="10820095" cy="658368"/>
          </a:xfrm>
          <a:prstGeom prst="rect">
            <a:avLst/>
          </a:prstGeom>
          <a:noFill/>
        </p:spPr>
        <p:txBody>
          <a:bodyPr wrap="square" lIns="0" rIns="0" tIns="0" bIns="0" anchor="ctr">
            <a:spAutoFit/>
          </a:bodyPr>
          <a:lstStyle/>
          <a:p>
            <a:pPr algn="l">
              <a:lnSpc>
                <a:spcPct val="100000"/>
              </a:lnSpc>
              <a:spcAft>
                <a:spcPts val="0"/>
              </a:spcAft>
            </a:pPr>
            <a:r>
              <a:rPr sz="1900" b="1">
                <a:solidFill>
                  <a:srgbClr val="1F6FEB"/>
                </a:solidFill>
                <a:latin typeface="Arial"/>
              </a:rPr>
              <a:t>Basis risk  </a:t>
            </a:r>
            <a:r>
              <a:rPr sz="1900" b="1">
                <a:solidFill>
                  <a:srgbClr val="0B1F3A"/>
                </a:solidFill>
                <a:latin typeface="Arial"/>
              </a:rPr>
              <a:t>the index is not the insurer's own losses, but it uses the same 1-in-50 test as all 7 Finnish home insurers' flood terms.</a:t>
            </a:r>
          </a:p>
        </p:txBody>
      </p:sp>
      <p:sp>
        <p:nvSpPr>
          <p:cNvPr id="31" name="Rounded Rectangle 30"/>
          <p:cNvSpPr/>
          <p:nvPr/>
        </p:nvSpPr>
        <p:spPr>
          <a:xfrm>
            <a:off x="548640" y="5559552"/>
            <a:ext cx="11094415" cy="658368"/>
          </a:xfrm>
          <a:prstGeom prst="roundRect">
            <a:avLst>
              <a:gd name="adj" fmla="val 12000"/>
            </a:avLst>
          </a:prstGeom>
          <a:solidFill>
            <a:srgbClr val="0B1F3A"/>
          </a:solidFill>
          <a:ln>
            <a:noFill/>
          </a:ln>
          <a:effectLst/>
        </p:spPr>
        <p:txBody>
          <a:bodyPr rtlCol="0" anchor="ctr"/>
          <a:lstStyle/>
          <a:p>
            <a:pPr algn="ctr"/>
          </a:p>
        </p:txBody>
      </p:sp>
      <p:sp>
        <p:nvSpPr>
          <p:cNvPr id="32" name="TextBox 31"/>
          <p:cNvSpPr txBox="1"/>
          <p:nvPr/>
        </p:nvSpPr>
        <p:spPr>
          <a:xfrm>
            <a:off x="822959" y="5559552"/>
            <a:ext cx="10728655" cy="658368"/>
          </a:xfrm>
          <a:prstGeom prst="rect">
            <a:avLst/>
          </a:prstGeom>
          <a:noFill/>
        </p:spPr>
        <p:txBody>
          <a:bodyPr wrap="square" lIns="0" rIns="0" tIns="0" bIns="0" anchor="ctr">
            <a:spAutoFit/>
          </a:bodyPr>
          <a:lstStyle/>
          <a:p>
            <a:pPr algn="l">
              <a:lnSpc>
                <a:spcPct val="100000"/>
              </a:lnSpc>
              <a:spcAft>
                <a:spcPts val="0"/>
              </a:spcAft>
            </a:pPr>
            <a:r>
              <a:rPr sz="1900" b="1">
                <a:solidFill>
                  <a:srgbClr val="A9C8F5"/>
                </a:solidFill>
                <a:latin typeface="Arial"/>
              </a:rPr>
              <a:t>Ask  </a:t>
            </a:r>
            <a:r>
              <a:rPr sz="1900" b="1">
                <a:solidFill>
                  <a:srgbClr val="FFFFFF"/>
                </a:solidFill>
                <a:latin typeface="Arial"/>
              </a:rPr>
              <a:t>One insurer's flood claims for 8 weeks → basis-risk map + firm quote for 1 Jan 2028.</a:t>
            </a:r>
          </a:p>
        </p:txBody>
      </p:sp>
      <p:sp>
        <p:nvSpPr>
          <p:cNvPr id="33" name="TextBox 32"/>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Del. Reg. (EU) 2026/269 (0 % FI–SE/NO/DK; 19-zone matrix in FI, mean ≈0.27); insurers' terms checked; prices: assumptions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731520" y="502920"/>
            <a:ext cx="5486400" cy="548640"/>
          </a:xfrm>
          <a:prstGeom prst="rect">
            <a:avLst/>
          </a:prstGeom>
          <a:noFill/>
        </p:spPr>
        <p:txBody>
          <a:bodyPr wrap="square" lIns="0" rIns="0" tIns="0" bIns="0" anchor="t">
            <a:spAutoFit/>
          </a:bodyPr>
          <a:lstStyle/>
          <a:p>
            <a:pPr algn="l">
              <a:lnSpc>
                <a:spcPct val="100000"/>
              </a:lnSpc>
              <a:spcAft>
                <a:spcPts val="0"/>
              </a:spcAft>
            </a:pPr>
            <a:r>
              <a:rPr sz="2800" b="1">
                <a:solidFill>
                  <a:srgbClr val="FFFFFF"/>
                </a:solidFill>
                <a:latin typeface="Arial"/>
              </a:rPr>
              <a:t>Tulva</a:t>
            </a:r>
          </a:p>
        </p:txBody>
      </p:sp>
      <p:sp>
        <p:nvSpPr>
          <p:cNvPr id="4" name="TextBox 3"/>
          <p:cNvSpPr txBox="1"/>
          <p:nvPr/>
        </p:nvSpPr>
        <p:spPr>
          <a:xfrm>
            <a:off x="731520" y="1280160"/>
            <a:ext cx="10789920" cy="1828800"/>
          </a:xfrm>
          <a:prstGeom prst="rect">
            <a:avLst/>
          </a:prstGeom>
          <a:noFill/>
        </p:spPr>
        <p:txBody>
          <a:bodyPr wrap="square" lIns="0" rIns="0" tIns="0" bIns="0" anchor="t">
            <a:spAutoFit/>
          </a:bodyPr>
          <a:lstStyle/>
          <a:p>
            <a:pPr algn="l">
              <a:lnSpc>
                <a:spcPct val="105000"/>
              </a:lnSpc>
              <a:spcAft>
                <a:spcPts val="1400"/>
              </a:spcAft>
            </a:pPr>
            <a:r>
              <a:rPr sz="4000" b="1">
                <a:solidFill>
                  <a:srgbClr val="FFFFFF"/>
                </a:solidFill>
                <a:latin typeface="Arial"/>
              </a:rPr>
              <a:t>Next March, the snow will warn us </a:t>
            </a:r>
            <a:r>
              <a:rPr sz="4000" b="1">
                <a:solidFill>
                  <a:srgbClr val="A9C8F5"/>
                </a:solidFill>
                <a:latin typeface="Arial"/>
              </a:rPr>
              <a:t>again.</a:t>
            </a:r>
          </a:p>
          <a:p>
            <a:pPr algn="l">
              <a:lnSpc>
                <a:spcPct val="105000"/>
              </a:lnSpc>
              <a:spcAft>
                <a:spcPts val="1400"/>
              </a:spcAft>
            </a:pPr>
            <a:r>
              <a:rPr sz="3000" b="0">
                <a:solidFill>
                  <a:srgbClr val="A9C8F5"/>
                </a:solidFill>
                <a:latin typeface="Arial"/>
              </a:rPr>
              <a:t>This time, it will have a price.</a:t>
            </a:r>
          </a:p>
        </p:txBody>
      </p:sp>
      <p:sp>
        <p:nvSpPr>
          <p:cNvPr id="5" name="TextBox 4"/>
          <p:cNvSpPr txBox="1"/>
          <p:nvPr/>
        </p:nvSpPr>
        <p:spPr>
          <a:xfrm>
            <a:off x="731520" y="3246120"/>
            <a:ext cx="10058400" cy="274320"/>
          </a:xfrm>
          <a:prstGeom prst="rect">
            <a:avLst/>
          </a:prstGeom>
          <a:noFill/>
        </p:spPr>
        <p:txBody>
          <a:bodyPr wrap="square" lIns="0" rIns="0" tIns="0" bIns="0" anchor="t">
            <a:spAutoFit/>
          </a:bodyPr>
          <a:lstStyle/>
          <a:p>
            <a:pPr algn="l">
              <a:lnSpc>
                <a:spcPct val="100000"/>
              </a:lnSpc>
              <a:spcAft>
                <a:spcPts val="0"/>
              </a:spcAft>
            </a:pPr>
            <a:r>
              <a:rPr sz="1300" b="1">
                <a:solidFill>
                  <a:srgbClr val="A9C8F5"/>
                </a:solidFill>
                <a:latin typeface="Arial"/>
              </a:rPr>
              <a:t>BUILT THIS WEEKEND</a:t>
            </a:r>
          </a:p>
        </p:txBody>
      </p:sp>
      <p:sp>
        <p:nvSpPr>
          <p:cNvPr id="6" name="Rounded Rectangle 5"/>
          <p:cNvSpPr/>
          <p:nvPr/>
        </p:nvSpPr>
        <p:spPr>
          <a:xfrm>
            <a:off x="731520" y="3547872"/>
            <a:ext cx="1660382" cy="365760"/>
          </a:xfrm>
          <a:prstGeom prst="roundRect">
            <a:avLst>
              <a:gd name="adj" fmla="val 50000"/>
            </a:avLst>
          </a:prstGeom>
          <a:solidFill>
            <a:srgbClr val="1A365F"/>
          </a:solidFill>
          <a:ln>
            <a:noFill/>
          </a:ln>
          <a:effectLst/>
        </p:spPr>
        <p:txBody>
          <a:bodyPr rtlCol="0" anchor="ctr"/>
          <a:lstStyle/>
          <a:p>
            <a:pPr algn="ctr"/>
          </a:p>
        </p:txBody>
      </p:sp>
      <p:sp>
        <p:nvSpPr>
          <p:cNvPr id="7" name="TextBox 6"/>
          <p:cNvSpPr txBox="1"/>
          <p:nvPr/>
        </p:nvSpPr>
        <p:spPr>
          <a:xfrm>
            <a:off x="731520" y="3547872"/>
            <a:ext cx="1660382"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SYKE data pipeline</a:t>
            </a:r>
          </a:p>
        </p:txBody>
      </p:sp>
      <p:sp>
        <p:nvSpPr>
          <p:cNvPr id="8" name="Rounded Rectangle 7"/>
          <p:cNvSpPr/>
          <p:nvPr/>
        </p:nvSpPr>
        <p:spPr>
          <a:xfrm>
            <a:off x="2483342" y="3547872"/>
            <a:ext cx="1485896" cy="365760"/>
          </a:xfrm>
          <a:prstGeom prst="roundRect">
            <a:avLst>
              <a:gd name="adj" fmla="val 50000"/>
            </a:avLst>
          </a:prstGeom>
          <a:solidFill>
            <a:srgbClr val="1A365F"/>
          </a:solidFill>
          <a:ln>
            <a:noFill/>
          </a:ln>
          <a:effectLst/>
        </p:spPr>
        <p:txBody>
          <a:bodyPr rtlCol="0" anchor="ctr"/>
          <a:lstStyle/>
          <a:p>
            <a:pPr algn="ctr"/>
          </a:p>
        </p:txBody>
      </p:sp>
      <p:sp>
        <p:nvSpPr>
          <p:cNvPr id="9" name="TextBox 8"/>
          <p:cNvSpPr txBox="1"/>
          <p:nvPr/>
        </p:nvSpPr>
        <p:spPr>
          <a:xfrm>
            <a:off x="2483342" y="3547872"/>
            <a:ext cx="1485896"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Joint flood model</a:t>
            </a:r>
          </a:p>
        </p:txBody>
      </p:sp>
      <p:sp>
        <p:nvSpPr>
          <p:cNvPr id="10" name="Rounded Rectangle 9"/>
          <p:cNvSpPr/>
          <p:nvPr/>
        </p:nvSpPr>
        <p:spPr>
          <a:xfrm>
            <a:off x="4060678" y="3547872"/>
            <a:ext cx="1173833" cy="365760"/>
          </a:xfrm>
          <a:prstGeom prst="roundRect">
            <a:avLst>
              <a:gd name="adj" fmla="val 50000"/>
            </a:avLst>
          </a:prstGeom>
          <a:solidFill>
            <a:srgbClr val="1A365F"/>
          </a:solidFill>
          <a:ln>
            <a:noFill/>
          </a:ln>
          <a:effectLst/>
        </p:spPr>
        <p:txBody>
          <a:bodyPr rtlCol="0" anchor="ctr"/>
          <a:lstStyle/>
          <a:p>
            <a:pPr algn="ctr"/>
          </a:p>
        </p:txBody>
      </p:sp>
      <p:sp>
        <p:nvSpPr>
          <p:cNvPr id="11" name="TextBox 10"/>
          <p:cNvSpPr txBox="1"/>
          <p:nvPr/>
        </p:nvSpPr>
        <p:spPr>
          <a:xfrm>
            <a:off x="4060678" y="3547872"/>
            <a:ext cx="1173833"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Index pricing</a:t>
            </a:r>
          </a:p>
        </p:txBody>
      </p:sp>
      <p:sp>
        <p:nvSpPr>
          <p:cNvPr id="12" name="Rounded Rectangle 11"/>
          <p:cNvSpPr/>
          <p:nvPr/>
        </p:nvSpPr>
        <p:spPr>
          <a:xfrm>
            <a:off x="5325951" y="3547872"/>
            <a:ext cx="861929" cy="365760"/>
          </a:xfrm>
          <a:prstGeom prst="roundRect">
            <a:avLst>
              <a:gd name="adj" fmla="val 50000"/>
            </a:avLst>
          </a:prstGeom>
          <a:solidFill>
            <a:srgbClr val="1A365F"/>
          </a:solidFill>
          <a:ln>
            <a:noFill/>
          </a:ln>
          <a:effectLst/>
        </p:spPr>
        <p:txBody>
          <a:bodyPr rtlCol="0" anchor="ctr"/>
          <a:lstStyle/>
          <a:p>
            <a:pPr algn="ctr"/>
          </a:p>
        </p:txBody>
      </p:sp>
      <p:sp>
        <p:nvSpPr>
          <p:cNvPr id="13" name="TextBox 12"/>
          <p:cNvSpPr txBox="1"/>
          <p:nvPr/>
        </p:nvSpPr>
        <p:spPr>
          <a:xfrm>
            <a:off x="5325951" y="3547872"/>
            <a:ext cx="861929"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Live app</a:t>
            </a:r>
          </a:p>
        </p:txBody>
      </p:sp>
      <p:sp>
        <p:nvSpPr>
          <p:cNvPr id="14" name="Rounded Rectangle 13"/>
          <p:cNvSpPr/>
          <p:nvPr/>
        </p:nvSpPr>
        <p:spPr>
          <a:xfrm>
            <a:off x="6279320" y="3547872"/>
            <a:ext cx="1669034" cy="365760"/>
          </a:xfrm>
          <a:prstGeom prst="roundRect">
            <a:avLst>
              <a:gd name="adj" fmla="val 50000"/>
            </a:avLst>
          </a:prstGeom>
          <a:solidFill>
            <a:srgbClr val="1A365F"/>
          </a:solidFill>
          <a:ln>
            <a:noFill/>
          </a:ln>
          <a:effectLst/>
        </p:spPr>
        <p:txBody>
          <a:bodyPr rtlCol="0" anchor="ctr"/>
          <a:lstStyle/>
          <a:p>
            <a:pPr algn="ctr"/>
          </a:p>
        </p:txBody>
      </p:sp>
      <p:sp>
        <p:nvSpPr>
          <p:cNvPr id="15" name="TextBox 14"/>
          <p:cNvSpPr txBox="1"/>
          <p:nvPr/>
        </p:nvSpPr>
        <p:spPr>
          <a:xfrm>
            <a:off x="6279320" y="3547872"/>
            <a:ext cx="1669034"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QAE on IBM &amp; IQM</a:t>
            </a:r>
          </a:p>
        </p:txBody>
      </p:sp>
      <p:sp>
        <p:nvSpPr>
          <p:cNvPr id="16" name="TextBox 15"/>
          <p:cNvSpPr txBox="1"/>
          <p:nvPr/>
        </p:nvSpPr>
        <p:spPr>
          <a:xfrm>
            <a:off x="731520" y="4069080"/>
            <a:ext cx="10058400" cy="274320"/>
          </a:xfrm>
          <a:prstGeom prst="rect">
            <a:avLst/>
          </a:prstGeom>
          <a:noFill/>
        </p:spPr>
        <p:txBody>
          <a:bodyPr wrap="square" lIns="0" rIns="0" tIns="0" bIns="0" anchor="t">
            <a:spAutoFit/>
          </a:bodyPr>
          <a:lstStyle/>
          <a:p>
            <a:pPr algn="l">
              <a:lnSpc>
                <a:spcPct val="100000"/>
              </a:lnSpc>
              <a:spcAft>
                <a:spcPts val="0"/>
              </a:spcAft>
            </a:pPr>
            <a:r>
              <a:rPr sz="1300" b="1">
                <a:solidFill>
                  <a:srgbClr val="A9C8F5"/>
                </a:solidFill>
                <a:latin typeface="Arial"/>
              </a:rPr>
              <a:t>RESOURCES USED</a:t>
            </a:r>
          </a:p>
        </p:txBody>
      </p:sp>
      <p:sp>
        <p:nvSpPr>
          <p:cNvPr id="17" name="Rounded Rectangle 16"/>
          <p:cNvSpPr/>
          <p:nvPr/>
        </p:nvSpPr>
        <p:spPr>
          <a:xfrm>
            <a:off x="731520" y="4370832"/>
            <a:ext cx="1458551" cy="36576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18" name="TextBox 17"/>
          <p:cNvSpPr txBox="1"/>
          <p:nvPr/>
        </p:nvSpPr>
        <p:spPr>
          <a:xfrm>
            <a:off x="731520" y="4370832"/>
            <a:ext cx="1458551"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SYKE open data</a:t>
            </a:r>
          </a:p>
        </p:txBody>
      </p:sp>
      <p:sp>
        <p:nvSpPr>
          <p:cNvPr id="19" name="Rounded Rectangle 18"/>
          <p:cNvSpPr/>
          <p:nvPr/>
        </p:nvSpPr>
        <p:spPr>
          <a:xfrm>
            <a:off x="2281511" y="4370832"/>
            <a:ext cx="1357030" cy="36576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0" name="TextBox 19"/>
          <p:cNvSpPr txBox="1"/>
          <p:nvPr/>
        </p:nvSpPr>
        <p:spPr>
          <a:xfrm>
            <a:off x="2281511" y="4370832"/>
            <a:ext cx="1357030"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IBM Marrakesh</a:t>
            </a:r>
          </a:p>
        </p:txBody>
      </p:sp>
      <p:sp>
        <p:nvSpPr>
          <p:cNvPr id="21" name="Rounded Rectangle 20"/>
          <p:cNvSpPr/>
          <p:nvPr/>
        </p:nvSpPr>
        <p:spPr>
          <a:xfrm>
            <a:off x="3729982" y="4370832"/>
            <a:ext cx="2907919" cy="36576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2" name="TextBox 21"/>
          <p:cNvSpPr txBox="1"/>
          <p:nvPr/>
        </p:nvSpPr>
        <p:spPr>
          <a:xfrm>
            <a:off x="3729982" y="4370832"/>
            <a:ext cx="2907919"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IQM Garnet &amp; Emerald (Resonance)</a:t>
            </a:r>
          </a:p>
        </p:txBody>
      </p:sp>
      <p:sp>
        <p:nvSpPr>
          <p:cNvPr id="23" name="Rounded Rectangle 22"/>
          <p:cNvSpPr/>
          <p:nvPr/>
        </p:nvSpPr>
        <p:spPr>
          <a:xfrm>
            <a:off x="6729341" y="4370832"/>
            <a:ext cx="632198" cy="36576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4" name="TextBox 23"/>
          <p:cNvSpPr txBox="1"/>
          <p:nvPr/>
        </p:nvSpPr>
        <p:spPr>
          <a:xfrm>
            <a:off x="6729341" y="4370832"/>
            <a:ext cx="632198"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Qrisp</a:t>
            </a:r>
          </a:p>
        </p:txBody>
      </p:sp>
      <p:sp>
        <p:nvSpPr>
          <p:cNvPr id="25" name="Rounded Rectangle 24"/>
          <p:cNvSpPr/>
          <p:nvPr/>
        </p:nvSpPr>
        <p:spPr>
          <a:xfrm>
            <a:off x="7452979" y="4370832"/>
            <a:ext cx="650494" cy="36576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6" name="TextBox 25"/>
          <p:cNvSpPr txBox="1"/>
          <p:nvPr/>
        </p:nvSpPr>
        <p:spPr>
          <a:xfrm>
            <a:off x="7452979" y="4370832"/>
            <a:ext cx="650494"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Qiskit</a:t>
            </a:r>
          </a:p>
        </p:txBody>
      </p:sp>
      <p:sp>
        <p:nvSpPr>
          <p:cNvPr id="27" name="Rounded Rectangle 26"/>
          <p:cNvSpPr/>
          <p:nvPr/>
        </p:nvSpPr>
        <p:spPr>
          <a:xfrm>
            <a:off x="8194913" y="4370832"/>
            <a:ext cx="1467679" cy="36576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8" name="TextBox 27"/>
          <p:cNvSpPr txBox="1"/>
          <p:nvPr/>
        </p:nvSpPr>
        <p:spPr>
          <a:xfrm>
            <a:off x="8194913" y="4370832"/>
            <a:ext cx="1467679" cy="365760"/>
          </a:xfrm>
          <a:prstGeom prst="rect">
            <a:avLst/>
          </a:prstGeom>
          <a:noFill/>
        </p:spPr>
        <p:txBody>
          <a:bodyPr wrap="square" lIns="0" rIns="0" tIns="0" bIns="0" anchor="ctr">
            <a:spAutoFit/>
          </a:bodyPr>
          <a:lstStyle/>
          <a:p>
            <a:pPr algn="ctr">
              <a:lnSpc>
                <a:spcPct val="100000"/>
              </a:lnSpc>
              <a:spcAft>
                <a:spcPts val="0"/>
              </a:spcAft>
            </a:pPr>
            <a:r>
              <a:rPr sz="1300" b="0">
                <a:solidFill>
                  <a:srgbClr val="FFFFFF"/>
                </a:solidFill>
                <a:latin typeface="Arial"/>
              </a:rPr>
              <a:t>AI coding agents</a:t>
            </a:r>
          </a:p>
        </p:txBody>
      </p:sp>
      <p:sp>
        <p:nvSpPr>
          <p:cNvPr id="29" name="TextBox 28"/>
          <p:cNvSpPr txBox="1"/>
          <p:nvPr/>
        </p:nvSpPr>
        <p:spPr>
          <a:xfrm>
            <a:off x="731520" y="5349240"/>
            <a:ext cx="10058400" cy="731520"/>
          </a:xfrm>
          <a:prstGeom prst="rect">
            <a:avLst/>
          </a:prstGeom>
          <a:noFill/>
        </p:spPr>
        <p:txBody>
          <a:bodyPr wrap="square" lIns="0" rIns="0" tIns="0" bIns="0" anchor="t">
            <a:spAutoFit/>
          </a:bodyPr>
          <a:lstStyle/>
          <a:p>
            <a:pPr algn="l">
              <a:lnSpc>
                <a:spcPct val="100000"/>
              </a:lnSpc>
              <a:spcAft>
                <a:spcPts val="400"/>
              </a:spcAft>
            </a:pPr>
            <a:r>
              <a:rPr sz="2000" b="1">
                <a:solidFill>
                  <a:srgbClr val="FFFFFF"/>
                </a:solidFill>
                <a:latin typeface="Arial"/>
              </a:rPr>
              <a:t>Toivo Kallio</a:t>
            </a:r>
            <a:r>
              <a:rPr sz="2000" b="0">
                <a:solidFill>
                  <a:srgbClr val="A9C8F5"/>
                </a:solidFill>
                <a:latin typeface="Arial"/>
              </a:rPr>
              <a:t>  ·  </a:t>
            </a:r>
            <a:r>
              <a:rPr sz="2000" b="1">
                <a:solidFill>
                  <a:srgbClr val="FFFFFF"/>
                </a:solidFill>
                <a:latin typeface="Arial"/>
              </a:rPr>
              <a:t>Vaishnav Rane</a:t>
            </a:r>
          </a:p>
          <a:p>
            <a:pPr algn="l">
              <a:lnSpc>
                <a:spcPct val="100000"/>
              </a:lnSpc>
              <a:spcAft>
                <a:spcPts val="400"/>
              </a:spcAft>
            </a:pPr>
            <a:r>
              <a:rPr sz="1600" b="0">
                <a:solidFill>
                  <a:srgbClr val="A9C8F5"/>
                </a:solidFill>
                <a:latin typeface="Arial"/>
              </a:rPr>
              <a:t>Team 21 STUHI  ·  Quantum x Finance 2026, Hanken × Ultrahack</a:t>
            </a:r>
          </a:p>
        </p:txBody>
      </p:sp>
      <p:sp>
        <p:nvSpPr>
          <p:cNvPr id="30" name="TextBox 29"/>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APPENDIX</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2800" b="1">
                <a:solidFill>
                  <a:srgbClr val="0B1F3A"/>
                </a:solidFill>
                <a:latin typeface="Arial"/>
              </a:rPr>
              <a:t>Hardware runs in detail</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9</a:t>
            </a:r>
          </a:p>
        </p:txBody>
      </p:sp>
      <p:sp>
        <p:nvSpPr>
          <p:cNvPr id="5" name="TextBox 4"/>
          <p:cNvSpPr txBox="1"/>
          <p:nvPr/>
        </p:nvSpPr>
        <p:spPr>
          <a:xfrm>
            <a:off x="548640" y="1463040"/>
            <a:ext cx="1493476" cy="512064"/>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Chip</a:t>
            </a:r>
          </a:p>
        </p:txBody>
      </p:sp>
      <p:sp>
        <p:nvSpPr>
          <p:cNvPr id="6" name="TextBox 5"/>
          <p:cNvSpPr txBox="1"/>
          <p:nvPr/>
        </p:nvSpPr>
        <p:spPr>
          <a:xfrm>
            <a:off x="2133556" y="1463040"/>
            <a:ext cx="3576509" cy="512064"/>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Circuit</a:t>
            </a:r>
          </a:p>
        </p:txBody>
      </p:sp>
      <p:sp>
        <p:nvSpPr>
          <p:cNvPr id="7" name="TextBox 6"/>
          <p:cNvSpPr txBox="1"/>
          <p:nvPr/>
        </p:nvSpPr>
        <p:spPr>
          <a:xfrm>
            <a:off x="5801505" y="1463040"/>
            <a:ext cx="768943" cy="512064"/>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Exact</a:t>
            </a:r>
          </a:p>
        </p:txBody>
      </p:sp>
      <p:sp>
        <p:nvSpPr>
          <p:cNvPr id="8" name="TextBox 7"/>
          <p:cNvSpPr txBox="1"/>
          <p:nvPr/>
        </p:nvSpPr>
        <p:spPr>
          <a:xfrm>
            <a:off x="6661889" y="1463040"/>
            <a:ext cx="723659" cy="512064"/>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Raw</a:t>
            </a:r>
          </a:p>
        </p:txBody>
      </p:sp>
      <p:sp>
        <p:nvSpPr>
          <p:cNvPr id="9" name="TextBox 8"/>
          <p:cNvSpPr txBox="1"/>
          <p:nvPr/>
        </p:nvSpPr>
        <p:spPr>
          <a:xfrm>
            <a:off x="7476989" y="1463040"/>
            <a:ext cx="2308576" cy="512064"/>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Calibrated (90 % CI)</a:t>
            </a:r>
          </a:p>
        </p:txBody>
      </p:sp>
      <p:sp>
        <p:nvSpPr>
          <p:cNvPr id="10" name="TextBox 9"/>
          <p:cNvSpPr txBox="1"/>
          <p:nvPr/>
        </p:nvSpPr>
        <p:spPr>
          <a:xfrm>
            <a:off x="9877005" y="1463040"/>
            <a:ext cx="1674609" cy="512064"/>
          </a:xfrm>
          <a:prstGeom prst="rect">
            <a:avLst/>
          </a:prstGeom>
          <a:noFill/>
        </p:spPr>
        <p:txBody>
          <a:bodyPr wrap="square" lIns="0" rIns="0" tIns="0" bIns="0" anchor="ctr">
            <a:spAutoFit/>
          </a:bodyPr>
          <a:lstStyle/>
          <a:p>
            <a:pPr algn="l">
              <a:lnSpc>
                <a:spcPct val="100000"/>
              </a:lnSpc>
              <a:spcAft>
                <a:spcPts val="0"/>
              </a:spcAft>
            </a:pPr>
            <a:r>
              <a:rPr sz="1300" b="1">
                <a:solidFill>
                  <a:srgbClr val="1F6FEB"/>
                </a:solidFill>
                <a:latin typeface="Arial"/>
              </a:rPr>
              <a:t>Job</a:t>
            </a:r>
          </a:p>
        </p:txBody>
      </p:sp>
      <p:sp>
        <p:nvSpPr>
          <p:cNvPr id="11" name="Rectangle 10"/>
          <p:cNvSpPr/>
          <p:nvPr/>
        </p:nvSpPr>
        <p:spPr>
          <a:xfrm>
            <a:off x="548640" y="2542032"/>
            <a:ext cx="11094415" cy="10972"/>
          </a:xfrm>
          <a:prstGeom prst="rect">
            <a:avLst/>
          </a:prstGeom>
          <a:solidFill>
            <a:srgbClr val="DDE3EA"/>
          </a:solidFill>
          <a:ln>
            <a:noFill/>
          </a:ln>
          <a:effectLst/>
        </p:spPr>
        <p:txBody>
          <a:bodyPr rtlCol="0" anchor="ctr"/>
          <a:lstStyle/>
          <a:p>
            <a:pPr algn="ctr"/>
          </a:p>
        </p:txBody>
      </p:sp>
      <p:sp>
        <p:nvSpPr>
          <p:cNvPr id="12" name="TextBox 11"/>
          <p:cNvSpPr txBox="1"/>
          <p:nvPr/>
        </p:nvSpPr>
        <p:spPr>
          <a:xfrm>
            <a:off x="548640" y="2011680"/>
            <a:ext cx="1493476"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IBM Marrakesh</a:t>
            </a:r>
          </a:p>
        </p:txBody>
      </p:sp>
      <p:sp>
        <p:nvSpPr>
          <p:cNvPr id="13" name="TextBox 12"/>
          <p:cNvSpPr txBox="1"/>
          <p:nvPr/>
        </p:nvSpPr>
        <p:spPr>
          <a:xfrm>
            <a:off x="2133556" y="2011680"/>
            <a:ext cx="3576509"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Kittilä + Ivalo, 3 qubits, k = 0–2</a:t>
            </a:r>
          </a:p>
        </p:txBody>
      </p:sp>
      <p:sp>
        <p:nvSpPr>
          <p:cNvPr id="14" name="TextBox 13"/>
          <p:cNvSpPr txBox="1"/>
          <p:nvPr/>
        </p:nvSpPr>
        <p:spPr>
          <a:xfrm>
            <a:off x="5801505" y="2011680"/>
            <a:ext cx="768943"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0.125 %</a:t>
            </a:r>
          </a:p>
        </p:txBody>
      </p:sp>
      <p:sp>
        <p:nvSpPr>
          <p:cNvPr id="15" name="TextBox 14"/>
          <p:cNvSpPr txBox="1"/>
          <p:nvPr/>
        </p:nvSpPr>
        <p:spPr>
          <a:xfrm>
            <a:off x="6661889" y="2011680"/>
            <a:ext cx="723659"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0.262 %</a:t>
            </a:r>
          </a:p>
        </p:txBody>
      </p:sp>
      <p:sp>
        <p:nvSpPr>
          <p:cNvPr id="16" name="TextBox 15"/>
          <p:cNvSpPr txBox="1"/>
          <p:nvPr/>
        </p:nvSpPr>
        <p:spPr>
          <a:xfrm>
            <a:off x="7476989" y="2011680"/>
            <a:ext cx="2308576" cy="512064"/>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0.149 % (0.140–0.157)</a:t>
            </a:r>
          </a:p>
        </p:txBody>
      </p:sp>
      <p:sp>
        <p:nvSpPr>
          <p:cNvPr id="17" name="TextBox 16"/>
          <p:cNvSpPr txBox="1"/>
          <p:nvPr/>
        </p:nvSpPr>
        <p:spPr>
          <a:xfrm>
            <a:off x="9877005" y="2011680"/>
            <a:ext cx="1674609" cy="512064"/>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db3tddsvf2bc73ctoprg</a:t>
            </a:r>
          </a:p>
        </p:txBody>
      </p:sp>
      <p:sp>
        <p:nvSpPr>
          <p:cNvPr id="18" name="Rectangle 17"/>
          <p:cNvSpPr/>
          <p:nvPr/>
        </p:nvSpPr>
        <p:spPr>
          <a:xfrm>
            <a:off x="548640" y="3090672"/>
            <a:ext cx="11094415" cy="10972"/>
          </a:xfrm>
          <a:prstGeom prst="rect">
            <a:avLst/>
          </a:prstGeom>
          <a:solidFill>
            <a:srgbClr val="DDE3EA"/>
          </a:solidFill>
          <a:ln>
            <a:noFill/>
          </a:ln>
          <a:effectLst/>
        </p:spPr>
        <p:txBody>
          <a:bodyPr rtlCol="0" anchor="ctr"/>
          <a:lstStyle/>
          <a:p>
            <a:pPr algn="ctr"/>
          </a:p>
        </p:txBody>
      </p:sp>
      <p:sp>
        <p:nvSpPr>
          <p:cNvPr id="19" name="TextBox 18"/>
          <p:cNvSpPr txBox="1"/>
          <p:nvPr/>
        </p:nvSpPr>
        <p:spPr>
          <a:xfrm>
            <a:off x="548640" y="2560320"/>
            <a:ext cx="1493476"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IQM Garnet</a:t>
            </a:r>
          </a:p>
        </p:txBody>
      </p:sp>
      <p:sp>
        <p:nvSpPr>
          <p:cNvPr id="20" name="TextBox 19"/>
          <p:cNvSpPr txBox="1"/>
          <p:nvPr/>
        </p:nvSpPr>
        <p:spPr>
          <a:xfrm>
            <a:off x="2133556" y="2560320"/>
            <a:ext cx="3576509"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Kittilä + Ivalo, 3 qubits, k = 0–2</a:t>
            </a:r>
          </a:p>
        </p:txBody>
      </p:sp>
      <p:sp>
        <p:nvSpPr>
          <p:cNvPr id="21" name="TextBox 20"/>
          <p:cNvSpPr txBox="1"/>
          <p:nvPr/>
        </p:nvSpPr>
        <p:spPr>
          <a:xfrm>
            <a:off x="5801505" y="2560320"/>
            <a:ext cx="768943"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0.125 %</a:t>
            </a:r>
          </a:p>
        </p:txBody>
      </p:sp>
      <p:sp>
        <p:nvSpPr>
          <p:cNvPr id="22" name="TextBox 21"/>
          <p:cNvSpPr txBox="1"/>
          <p:nvPr/>
        </p:nvSpPr>
        <p:spPr>
          <a:xfrm>
            <a:off x="6661889" y="2560320"/>
            <a:ext cx="723659"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0.368 %</a:t>
            </a:r>
          </a:p>
        </p:txBody>
      </p:sp>
      <p:sp>
        <p:nvSpPr>
          <p:cNvPr id="23" name="TextBox 22"/>
          <p:cNvSpPr txBox="1"/>
          <p:nvPr/>
        </p:nvSpPr>
        <p:spPr>
          <a:xfrm>
            <a:off x="7476989" y="2560320"/>
            <a:ext cx="2308576" cy="512064"/>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0.164 % (0.147–0.180)</a:t>
            </a:r>
          </a:p>
        </p:txBody>
      </p:sp>
      <p:sp>
        <p:nvSpPr>
          <p:cNvPr id="24" name="TextBox 23"/>
          <p:cNvSpPr txBox="1"/>
          <p:nvPr/>
        </p:nvSpPr>
        <p:spPr>
          <a:xfrm>
            <a:off x="9877005" y="2560320"/>
            <a:ext cx="1674609" cy="512064"/>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01a11cc3-7f6c…</a:t>
            </a:r>
          </a:p>
        </p:txBody>
      </p:sp>
      <p:sp>
        <p:nvSpPr>
          <p:cNvPr id="25" name="Rectangle 24"/>
          <p:cNvSpPr/>
          <p:nvPr/>
        </p:nvSpPr>
        <p:spPr>
          <a:xfrm>
            <a:off x="548640" y="3639312"/>
            <a:ext cx="11094415" cy="10972"/>
          </a:xfrm>
          <a:prstGeom prst="rect">
            <a:avLst/>
          </a:prstGeom>
          <a:solidFill>
            <a:srgbClr val="DDE3EA"/>
          </a:solidFill>
          <a:ln>
            <a:noFill/>
          </a:ln>
          <a:effectLst/>
        </p:spPr>
        <p:txBody>
          <a:bodyPr rtlCol="0" anchor="ctr"/>
          <a:lstStyle/>
          <a:p>
            <a:pPr algn="ctr"/>
          </a:p>
        </p:txBody>
      </p:sp>
      <p:sp>
        <p:nvSpPr>
          <p:cNvPr id="26" name="TextBox 25"/>
          <p:cNvSpPr txBox="1"/>
          <p:nvPr/>
        </p:nvSpPr>
        <p:spPr>
          <a:xfrm>
            <a:off x="548640" y="3108960"/>
            <a:ext cx="1493476"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IQM Emerald</a:t>
            </a:r>
          </a:p>
        </p:txBody>
      </p:sp>
      <p:sp>
        <p:nvSpPr>
          <p:cNvPr id="27" name="TextBox 26"/>
          <p:cNvSpPr txBox="1"/>
          <p:nvPr/>
        </p:nvSpPr>
        <p:spPr>
          <a:xfrm>
            <a:off x="2133556" y="3108960"/>
            <a:ext cx="3576509"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Snowy / low March ratio, 3 qubits</a:t>
            </a:r>
          </a:p>
        </p:txBody>
      </p:sp>
      <p:sp>
        <p:nvSpPr>
          <p:cNvPr id="28" name="TextBox 27"/>
          <p:cNvSpPr txBox="1"/>
          <p:nvPr/>
        </p:nvSpPr>
        <p:spPr>
          <a:xfrm>
            <a:off x="5801505" y="3108960"/>
            <a:ext cx="768943"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2.75×</a:t>
            </a:r>
          </a:p>
        </p:txBody>
      </p:sp>
      <p:sp>
        <p:nvSpPr>
          <p:cNvPr id="29" name="TextBox 28"/>
          <p:cNvSpPr txBox="1"/>
          <p:nvPr/>
        </p:nvSpPr>
        <p:spPr>
          <a:xfrm>
            <a:off x="6661889" y="3108960"/>
            <a:ext cx="723659"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1.3×</a:t>
            </a:r>
          </a:p>
        </p:txBody>
      </p:sp>
      <p:sp>
        <p:nvSpPr>
          <p:cNvPr id="30" name="TextBox 29"/>
          <p:cNvSpPr txBox="1"/>
          <p:nvPr/>
        </p:nvSpPr>
        <p:spPr>
          <a:xfrm>
            <a:off x="7476989" y="3108960"/>
            <a:ext cx="2308576" cy="512064"/>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3.05× (2.6–3.6)</a:t>
            </a:r>
          </a:p>
        </p:txBody>
      </p:sp>
      <p:sp>
        <p:nvSpPr>
          <p:cNvPr id="31" name="TextBox 30"/>
          <p:cNvSpPr txBox="1"/>
          <p:nvPr/>
        </p:nvSpPr>
        <p:spPr>
          <a:xfrm>
            <a:off x="9877005" y="3108960"/>
            <a:ext cx="1674609" cy="512064"/>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product-…075338Z</a:t>
            </a:r>
          </a:p>
        </p:txBody>
      </p:sp>
      <p:sp>
        <p:nvSpPr>
          <p:cNvPr id="32" name="Rectangle 31"/>
          <p:cNvSpPr/>
          <p:nvPr/>
        </p:nvSpPr>
        <p:spPr>
          <a:xfrm>
            <a:off x="548640" y="4187952"/>
            <a:ext cx="11094415" cy="10972"/>
          </a:xfrm>
          <a:prstGeom prst="rect">
            <a:avLst/>
          </a:prstGeom>
          <a:solidFill>
            <a:srgbClr val="DDE3EA"/>
          </a:solidFill>
          <a:ln>
            <a:noFill/>
          </a:ln>
          <a:effectLst/>
        </p:spPr>
        <p:txBody>
          <a:bodyPr rtlCol="0" anchor="ctr"/>
          <a:lstStyle/>
          <a:p>
            <a:pPr algn="ctr"/>
          </a:p>
        </p:txBody>
      </p:sp>
      <p:sp>
        <p:nvSpPr>
          <p:cNvPr id="33" name="TextBox 32"/>
          <p:cNvSpPr txBox="1"/>
          <p:nvPr/>
        </p:nvSpPr>
        <p:spPr>
          <a:xfrm>
            <a:off x="548640" y="3657600"/>
            <a:ext cx="1493476"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IQM Emerald</a:t>
            </a:r>
          </a:p>
        </p:txBody>
      </p:sp>
      <p:sp>
        <p:nvSpPr>
          <p:cNvPr id="34" name="TextBox 33"/>
          <p:cNvSpPr txBox="1"/>
          <p:nvPr/>
        </p:nvSpPr>
        <p:spPr>
          <a:xfrm>
            <a:off x="2133556" y="3657600"/>
            <a:ext cx="3576509"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14 rivers ≥4 over 1-in-10, 18 q / 44 CZ</a:t>
            </a:r>
          </a:p>
        </p:txBody>
      </p:sp>
      <p:sp>
        <p:nvSpPr>
          <p:cNvPr id="35" name="TextBox 34"/>
          <p:cNvSpPr txBox="1"/>
          <p:nvPr/>
        </p:nvSpPr>
        <p:spPr>
          <a:xfrm>
            <a:off x="5801505" y="3657600"/>
            <a:ext cx="768943"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10.9 %</a:t>
            </a:r>
          </a:p>
        </p:txBody>
      </p:sp>
      <p:sp>
        <p:nvSpPr>
          <p:cNvPr id="36" name="TextBox 35"/>
          <p:cNvSpPr txBox="1"/>
          <p:nvPr/>
        </p:nvSpPr>
        <p:spPr>
          <a:xfrm>
            <a:off x="6661889" y="3657600"/>
            <a:ext cx="723659"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a:t>
            </a:r>
          </a:p>
        </p:txBody>
      </p:sp>
      <p:sp>
        <p:nvSpPr>
          <p:cNvPr id="37" name="TextBox 36"/>
          <p:cNvSpPr txBox="1"/>
          <p:nvPr/>
        </p:nvSpPr>
        <p:spPr>
          <a:xfrm>
            <a:off x="7476989" y="3657600"/>
            <a:ext cx="2308576" cy="512064"/>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13.8 % (readout-corr.)</a:t>
            </a:r>
          </a:p>
        </p:txBody>
      </p:sp>
      <p:sp>
        <p:nvSpPr>
          <p:cNvPr id="38" name="TextBox 37"/>
          <p:cNvSpPr txBox="1"/>
          <p:nvPr/>
        </p:nvSpPr>
        <p:spPr>
          <a:xfrm>
            <a:off x="9877005" y="3657600"/>
            <a:ext cx="1674609" cy="512064"/>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01a11cd4-da38…</a:t>
            </a:r>
          </a:p>
        </p:txBody>
      </p:sp>
      <p:sp>
        <p:nvSpPr>
          <p:cNvPr id="39" name="Rectangle 38"/>
          <p:cNvSpPr/>
          <p:nvPr/>
        </p:nvSpPr>
        <p:spPr>
          <a:xfrm>
            <a:off x="548640" y="4736592"/>
            <a:ext cx="11094415" cy="10972"/>
          </a:xfrm>
          <a:prstGeom prst="rect">
            <a:avLst/>
          </a:prstGeom>
          <a:solidFill>
            <a:srgbClr val="DDE3EA"/>
          </a:solidFill>
          <a:ln>
            <a:noFill/>
          </a:ln>
          <a:effectLst/>
        </p:spPr>
        <p:txBody>
          <a:bodyPr rtlCol="0" anchor="ctr"/>
          <a:lstStyle/>
          <a:p>
            <a:pPr algn="ctr"/>
          </a:p>
        </p:txBody>
      </p:sp>
      <p:sp>
        <p:nvSpPr>
          <p:cNvPr id="40" name="TextBox 39"/>
          <p:cNvSpPr txBox="1"/>
          <p:nvPr/>
        </p:nvSpPr>
        <p:spPr>
          <a:xfrm>
            <a:off x="548640" y="4206240"/>
            <a:ext cx="1493476"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IQM Emerald</a:t>
            </a:r>
          </a:p>
        </p:txBody>
      </p:sp>
      <p:sp>
        <p:nvSpPr>
          <p:cNvPr id="41" name="TextBox 40"/>
          <p:cNvSpPr txBox="1"/>
          <p:nvPr/>
        </p:nvSpPr>
        <p:spPr>
          <a:xfrm>
            <a:off x="2133556" y="4206240"/>
            <a:ext cx="3576509"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14 rivers ≥2 over 1-in-50, same circuit</a:t>
            </a:r>
          </a:p>
        </p:txBody>
      </p:sp>
      <p:sp>
        <p:nvSpPr>
          <p:cNvPr id="42" name="TextBox 41"/>
          <p:cNvSpPr txBox="1"/>
          <p:nvPr/>
        </p:nvSpPr>
        <p:spPr>
          <a:xfrm>
            <a:off x="5801505" y="4206240"/>
            <a:ext cx="768943"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4.8 %</a:t>
            </a:r>
          </a:p>
        </p:txBody>
      </p:sp>
      <p:sp>
        <p:nvSpPr>
          <p:cNvPr id="43" name="TextBox 42"/>
          <p:cNvSpPr txBox="1"/>
          <p:nvPr/>
        </p:nvSpPr>
        <p:spPr>
          <a:xfrm>
            <a:off x="6661889" y="4206240"/>
            <a:ext cx="723659"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a:t>
            </a:r>
          </a:p>
        </p:txBody>
      </p:sp>
      <p:sp>
        <p:nvSpPr>
          <p:cNvPr id="44" name="TextBox 43"/>
          <p:cNvSpPr txBox="1"/>
          <p:nvPr/>
        </p:nvSpPr>
        <p:spPr>
          <a:xfrm>
            <a:off x="7476989" y="4206240"/>
            <a:ext cx="2308576" cy="512064"/>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16.0 % (fails)</a:t>
            </a:r>
          </a:p>
        </p:txBody>
      </p:sp>
      <p:sp>
        <p:nvSpPr>
          <p:cNvPr id="45" name="TextBox 44"/>
          <p:cNvSpPr txBox="1"/>
          <p:nvPr/>
        </p:nvSpPr>
        <p:spPr>
          <a:xfrm>
            <a:off x="9877005" y="4206240"/>
            <a:ext cx="1674609" cy="512064"/>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01a11f9b-c62a…</a:t>
            </a:r>
          </a:p>
        </p:txBody>
      </p:sp>
      <p:sp>
        <p:nvSpPr>
          <p:cNvPr id="46" name="Rectangle 45"/>
          <p:cNvSpPr/>
          <p:nvPr/>
        </p:nvSpPr>
        <p:spPr>
          <a:xfrm>
            <a:off x="548640" y="5285231"/>
            <a:ext cx="11094415" cy="10972"/>
          </a:xfrm>
          <a:prstGeom prst="rect">
            <a:avLst/>
          </a:prstGeom>
          <a:solidFill>
            <a:srgbClr val="DDE3EA"/>
          </a:solidFill>
          <a:ln>
            <a:noFill/>
          </a:ln>
          <a:effectLst/>
        </p:spPr>
        <p:txBody>
          <a:bodyPr rtlCol="0" anchor="ctr"/>
          <a:lstStyle/>
          <a:p>
            <a:pPr algn="ctr"/>
          </a:p>
        </p:txBody>
      </p:sp>
      <p:sp>
        <p:nvSpPr>
          <p:cNvPr id="47" name="TextBox 46"/>
          <p:cNvSpPr txBox="1"/>
          <p:nvPr/>
        </p:nvSpPr>
        <p:spPr>
          <a:xfrm>
            <a:off x="548640" y="4754879"/>
            <a:ext cx="1493476"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IQM Emerald</a:t>
            </a:r>
          </a:p>
        </p:txBody>
      </p:sp>
      <p:sp>
        <p:nvSpPr>
          <p:cNvPr id="48" name="TextBox 47"/>
          <p:cNvSpPr txBox="1"/>
          <p:nvPr/>
        </p:nvSpPr>
        <p:spPr>
          <a:xfrm>
            <a:off x="2133556" y="4754879"/>
            <a:ext cx="3576509"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Control: independent circuit, ≥4 over 1-in-10</a:t>
            </a:r>
          </a:p>
        </p:txBody>
      </p:sp>
      <p:sp>
        <p:nvSpPr>
          <p:cNvPr id="49" name="TextBox 48"/>
          <p:cNvSpPr txBox="1"/>
          <p:nvPr/>
        </p:nvSpPr>
        <p:spPr>
          <a:xfrm>
            <a:off x="5801505" y="4754879"/>
            <a:ext cx="768943"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4.4 %</a:t>
            </a:r>
          </a:p>
        </p:txBody>
      </p:sp>
      <p:sp>
        <p:nvSpPr>
          <p:cNvPr id="50" name="TextBox 49"/>
          <p:cNvSpPr txBox="1"/>
          <p:nvPr/>
        </p:nvSpPr>
        <p:spPr>
          <a:xfrm>
            <a:off x="6661889" y="4754879"/>
            <a:ext cx="723659" cy="512064"/>
          </a:xfrm>
          <a:prstGeom prst="rect">
            <a:avLst/>
          </a:prstGeom>
          <a:noFill/>
        </p:spPr>
        <p:txBody>
          <a:bodyPr wrap="square" lIns="0" rIns="0" tIns="0" bIns="0" anchor="ctr">
            <a:spAutoFit/>
          </a:bodyPr>
          <a:lstStyle/>
          <a:p>
            <a:pPr algn="l">
              <a:lnSpc>
                <a:spcPct val="100000"/>
              </a:lnSpc>
              <a:spcAft>
                <a:spcPts val="0"/>
              </a:spcAft>
            </a:pPr>
            <a:r>
              <a:rPr sz="1400" b="0">
                <a:solidFill>
                  <a:srgbClr val="0B1F3A"/>
                </a:solidFill>
                <a:latin typeface="Arial"/>
              </a:rPr>
              <a:t>–</a:t>
            </a:r>
          </a:p>
        </p:txBody>
      </p:sp>
      <p:sp>
        <p:nvSpPr>
          <p:cNvPr id="51" name="TextBox 50"/>
          <p:cNvSpPr txBox="1"/>
          <p:nvPr/>
        </p:nvSpPr>
        <p:spPr>
          <a:xfrm>
            <a:off x="7476989" y="4754879"/>
            <a:ext cx="2308576" cy="512064"/>
          </a:xfrm>
          <a:prstGeom prst="rect">
            <a:avLst/>
          </a:prstGeom>
          <a:noFill/>
        </p:spPr>
        <p:txBody>
          <a:bodyPr wrap="square" lIns="0" rIns="0" tIns="0" bIns="0" anchor="ctr">
            <a:spAutoFit/>
          </a:bodyPr>
          <a:lstStyle/>
          <a:p>
            <a:pPr algn="l">
              <a:lnSpc>
                <a:spcPct val="100000"/>
              </a:lnSpc>
              <a:spcAft>
                <a:spcPts val="0"/>
              </a:spcAft>
            </a:pPr>
            <a:r>
              <a:rPr sz="1400" b="1">
                <a:solidFill>
                  <a:srgbClr val="0B1F3A"/>
                </a:solidFill>
                <a:latin typeface="Arial"/>
              </a:rPr>
              <a:t>9.7 % (noise fattens tails)</a:t>
            </a:r>
          </a:p>
        </p:txBody>
      </p:sp>
      <p:sp>
        <p:nvSpPr>
          <p:cNvPr id="52" name="TextBox 51"/>
          <p:cNvSpPr txBox="1"/>
          <p:nvPr/>
        </p:nvSpPr>
        <p:spPr>
          <a:xfrm>
            <a:off x="9877005" y="4754879"/>
            <a:ext cx="1674609" cy="512064"/>
          </a:xfrm>
          <a:prstGeom prst="rect">
            <a:avLst/>
          </a:prstGeom>
          <a:noFill/>
        </p:spPr>
        <p:txBody>
          <a:bodyPr wrap="square" lIns="0" rIns="0" tIns="0" bIns="0" anchor="ctr">
            <a:spAutoFit/>
          </a:bodyPr>
          <a:lstStyle/>
          <a:p>
            <a:pPr algn="l">
              <a:lnSpc>
                <a:spcPct val="100000"/>
              </a:lnSpc>
              <a:spcAft>
                <a:spcPts val="0"/>
              </a:spcAft>
            </a:pPr>
            <a:r>
              <a:rPr sz="1200" b="0">
                <a:solidFill>
                  <a:srgbClr val="6B7280"/>
                </a:solidFill>
                <a:latin typeface="Arial"/>
              </a:rPr>
              <a:t>…T135910Z</a:t>
            </a:r>
          </a:p>
        </p:txBody>
      </p:sp>
      <p:sp>
        <p:nvSpPr>
          <p:cNvPr id="53" name="TextBox 52"/>
          <p:cNvSpPr txBox="1"/>
          <p:nvPr/>
        </p:nvSpPr>
        <p:spPr>
          <a:xfrm>
            <a:off x="548640" y="5440679"/>
            <a:ext cx="11094415" cy="914400"/>
          </a:xfrm>
          <a:prstGeom prst="rect">
            <a:avLst/>
          </a:prstGeom>
          <a:noFill/>
        </p:spPr>
        <p:txBody>
          <a:bodyPr wrap="square" lIns="0" rIns="0" tIns="0" bIns="0" anchor="t">
            <a:spAutoFit/>
          </a:bodyPr>
          <a:lstStyle/>
          <a:p>
            <a:pPr algn="l">
              <a:lnSpc>
                <a:spcPct val="100000"/>
              </a:lnSpc>
              <a:spcAft>
                <a:spcPts val="600"/>
              </a:spcAft>
            </a:pPr>
            <a:r>
              <a:rPr sz="1400" b="0">
                <a:solidFill>
                  <a:srgbClr val="6B7280"/>
                </a:solidFill>
                <a:latin typeface="Arial"/>
              </a:rPr>
              <a:t>Calibrated = noise-aware MLAE with two calibration circuits of known answer, same job, same qubits; bootstrap 90 % intervals. The IBM / Garnet intervals exclude exact: a +19 % / +31 % systematic bias.</a:t>
            </a:r>
          </a:p>
          <a:p>
            <a:pPr algn="l">
              <a:lnSpc>
                <a:spcPct val="100000"/>
              </a:lnSpc>
              <a:spcAft>
                <a:spcPts val="600"/>
              </a:spcAft>
            </a:pPr>
            <a:r>
              <a:rPr sz="1400" b="0">
                <a:solidFill>
                  <a:srgbClr val="6B7280"/>
                </a:solidFill>
                <a:latin typeface="Arial"/>
              </a:rPr>
              <a:t>Signal gain per Grover step on Emerald 0.56–0.59 (k = 1), 0.44 (k = 2): mostly a calibrated k = 0 estimate. Classical Monte Carlo at the same budget is more precise (±0.004 pp).</a:t>
            </a:r>
          </a:p>
        </p:txBody>
      </p:sp>
      <p:sp>
        <p:nvSpPr>
          <p:cNvPr id="54" name="TextBox 5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