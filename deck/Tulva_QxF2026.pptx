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[pause]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(0:12–0:24)]</a:t>
            </a:r>
          </a:p>
          <a:p>
            <a:r>
              <a:t>Rivers in one region share ONE snowpack, so they flood TOGETHER: almost FOUR times more often than chance. [pause] Insurers buy cover in autumn, BEFORE the snow.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(0:24–0:38)]</a:t>
            </a:r>
          </a:p>
          <a:p>
            <a:r>
              <a:t>Our index pays when SEVERAL northern rivers pass a rare flood level TOGETHER. Its expected loss is 1.8 TIMES the regulator's standard assumption. [pause] After a snowy March, it TRIPLES.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(0:38–1:23),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(1:23–1:36)]</a:t>
            </a:r>
          </a:p>
          <a:p>
            <a:r>
              <a:t>Each qubit is the wet spring or a river; the gates ARE our model. Why quantum? Twice the accuracy costs sampling four times the runs; amplitude estimation, only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(1:36–1:40)]</a:t>
            </a:r>
          </a:p>
          <a:p>
            <a:r>
              <a:t>On the IQM chip, the snow signal SURVIVES the noise.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(1:40–1:49)]</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(1:49–2:19)]</a:t>
            </a:r>
          </a:p>
          <a:p>
            <a:r>
              <a:t>Our customers: insurers like OP and If. In March, two months before the melt, our index tells them how risky this spring is, so they can buy extra cover IN TIME, paid automatically on the index. They pay US a licence: 25 thousand to pilot, then 75 thousand a year. From 2027 the regulator's formula is BLIND to snow. Our ask: one insurer's flood claims,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(2:19–2:32)]</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On real chips, the snow effect still shows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sp>
        <p:nvSpPr>
          <p:cNvPr id="4" name="Rectangle 3"/>
          <p:cNvSpPr/>
          <p:nvPr/>
        </p:nvSpPr>
        <p:spPr>
          <a:xfrm>
            <a:off x="548640" y="1481328"/>
            <a:ext cx="292608" cy="292608"/>
          </a:xfrm>
          <a:prstGeom prst="rect">
            <a:avLst/>
          </a:prstGeom>
          <a:solidFill>
            <a:srgbClr val="1F6FEB"/>
          </a:solidFill>
          <a:ln>
            <a:noFill/>
          </a:ln>
          <a:effectLst/>
        </p:spPr>
        <p:txBody>
          <a:bodyPr rtlCol="0" anchor="ctr"/>
          <a:lstStyle/>
          <a:p>
            <a:pPr algn="ctr"/>
          </a:p>
        </p:txBody>
      </p:sp>
      <p:sp>
        <p:nvSpPr>
          <p:cNvPr id="5" name="TextBox 4"/>
          <p:cNvSpPr txBox="1"/>
          <p:nvPr/>
        </p:nvSpPr>
        <p:spPr>
          <a:xfrm>
            <a:off x="96012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6" name="Rectangle 5"/>
          <p:cNvSpPr/>
          <p:nvPr/>
        </p:nvSpPr>
        <p:spPr>
          <a:xfrm>
            <a:off x="2926080" y="1481328"/>
            <a:ext cx="292608" cy="292608"/>
          </a:xfrm>
          <a:prstGeom prst="rect">
            <a:avLst/>
          </a:prstGeom>
          <a:solidFill>
            <a:srgbClr val="8250DF"/>
          </a:solidFill>
          <a:ln>
            <a:noFill/>
          </a:ln>
          <a:effectLst/>
        </p:spPr>
        <p:txBody>
          <a:bodyPr rtlCol="0" anchor="ctr"/>
          <a:lstStyle/>
          <a:p>
            <a:pPr algn="ctr"/>
          </a:p>
        </p:txBody>
      </p:sp>
      <p:sp>
        <p:nvSpPr>
          <p:cNvPr id="7" name="TextBox 6"/>
          <p:cNvSpPr txBox="1"/>
          <p:nvPr/>
        </p:nvSpPr>
        <p:spPr>
          <a:xfrm>
            <a:off x="333756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IQM chip</a:t>
            </a:r>
          </a:p>
        </p:txBody>
      </p:sp>
      <p:sp>
        <p:nvSpPr>
          <p:cNvPr id="8" name="Rectangle 7"/>
          <p:cNvSpPr/>
          <p:nvPr/>
        </p:nvSpPr>
        <p:spPr>
          <a:xfrm>
            <a:off x="822960" y="4380594"/>
            <a:ext cx="1143000" cy="877205"/>
          </a:xfrm>
          <a:prstGeom prst="rect">
            <a:avLst/>
          </a:prstGeom>
          <a:solidFill>
            <a:srgbClr val="1F6FEB"/>
          </a:solidFill>
          <a:ln>
            <a:noFill/>
          </a:ln>
          <a:effectLst/>
        </p:spPr>
        <p:txBody>
          <a:bodyPr rtlCol="0" anchor="ctr"/>
          <a:lstStyle/>
          <a:p>
            <a:pPr algn="ctr"/>
          </a:p>
        </p:txBody>
      </p:sp>
      <p:sp>
        <p:nvSpPr>
          <p:cNvPr id="9" name="Rectangle 8"/>
          <p:cNvSpPr/>
          <p:nvPr/>
        </p:nvSpPr>
        <p:spPr>
          <a:xfrm>
            <a:off x="2039112" y="4238559"/>
            <a:ext cx="1143000" cy="1019240"/>
          </a:xfrm>
          <a:prstGeom prst="rect">
            <a:avLst/>
          </a:prstGeom>
          <a:solidFill>
            <a:srgbClr val="8250DF"/>
          </a:solidFill>
          <a:ln>
            <a:noFill/>
          </a:ln>
          <a:effectLst/>
        </p:spPr>
        <p:txBody>
          <a:bodyPr rtlCol="0" anchor="ctr"/>
          <a:lstStyle/>
          <a:p>
            <a:pPr algn="ctr"/>
          </a:p>
        </p:txBody>
      </p:sp>
      <p:sp>
        <p:nvSpPr>
          <p:cNvPr id="10" name="TextBox 9"/>
          <p:cNvSpPr txBox="1"/>
          <p:nvPr/>
        </p:nvSpPr>
        <p:spPr>
          <a:xfrm>
            <a:off x="54864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Low-snow March</a:t>
            </a:r>
          </a:p>
        </p:txBody>
      </p:sp>
      <p:sp>
        <p:nvSpPr>
          <p:cNvPr id="11" name="Rectangle 10"/>
          <p:cNvSpPr/>
          <p:nvPr/>
        </p:nvSpPr>
        <p:spPr>
          <a:xfrm>
            <a:off x="3931920" y="2848396"/>
            <a:ext cx="1143000" cy="2409403"/>
          </a:xfrm>
          <a:prstGeom prst="rect">
            <a:avLst/>
          </a:prstGeom>
          <a:solidFill>
            <a:srgbClr val="1F6FEB"/>
          </a:solidFill>
          <a:ln>
            <a:noFill/>
          </a:ln>
          <a:effectLst/>
        </p:spPr>
        <p:txBody>
          <a:bodyPr rtlCol="0" anchor="ctr"/>
          <a:lstStyle/>
          <a:p>
            <a:pPr algn="ctr"/>
          </a:p>
        </p:txBody>
      </p:sp>
      <p:sp>
        <p:nvSpPr>
          <p:cNvPr id="12" name="Rectangle 11"/>
          <p:cNvSpPr/>
          <p:nvPr/>
        </p:nvSpPr>
        <p:spPr>
          <a:xfrm>
            <a:off x="5148072" y="2148840"/>
            <a:ext cx="1143000" cy="3108960"/>
          </a:xfrm>
          <a:prstGeom prst="rect">
            <a:avLst/>
          </a:prstGeom>
          <a:solidFill>
            <a:srgbClr val="8250DF"/>
          </a:solidFill>
          <a:ln>
            <a:noFill/>
          </a:ln>
          <a:effectLst/>
        </p:spPr>
        <p:txBody>
          <a:bodyPr rtlCol="0" anchor="ctr"/>
          <a:lstStyle/>
          <a:p>
            <a:pPr algn="ctr"/>
          </a:p>
        </p:txBody>
      </p:sp>
      <p:sp>
        <p:nvSpPr>
          <p:cNvPr id="13" name="TextBox 12"/>
          <p:cNvSpPr txBox="1"/>
          <p:nvPr/>
        </p:nvSpPr>
        <p:spPr>
          <a:xfrm>
            <a:off x="365760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Snowy March</a:t>
            </a:r>
          </a:p>
        </p:txBody>
      </p:sp>
      <p:sp>
        <p:nvSpPr>
          <p:cNvPr id="14" name="Rectangle 13"/>
          <p:cNvSpPr/>
          <p:nvPr/>
        </p:nvSpPr>
        <p:spPr>
          <a:xfrm>
            <a:off x="640080" y="5257800"/>
            <a:ext cx="603504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7315200" y="146304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Snowy vs low-snow March</a:t>
            </a:r>
          </a:p>
        </p:txBody>
      </p:sp>
      <p:sp>
        <p:nvSpPr>
          <p:cNvPr id="16" name="TextBox 15"/>
          <p:cNvSpPr txBox="1"/>
          <p:nvPr/>
        </p:nvSpPr>
        <p:spPr>
          <a:xfrm>
            <a:off x="7315200" y="205740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8250DF"/>
                </a:solidFill>
                <a:latin typeface="Arial"/>
              </a:rPr>
              <a:t>3.05×</a:t>
            </a:r>
          </a:p>
        </p:txBody>
      </p:sp>
      <p:sp>
        <p:nvSpPr>
          <p:cNvPr id="17" name="TextBox 16"/>
          <p:cNvSpPr txBox="1"/>
          <p:nvPr/>
        </p:nvSpPr>
        <p:spPr>
          <a:xfrm>
            <a:off x="10195560" y="205740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on chip</a:t>
            </a:r>
          </a:p>
        </p:txBody>
      </p:sp>
      <p:sp>
        <p:nvSpPr>
          <p:cNvPr id="18" name="TextBox 17"/>
          <p:cNvSpPr txBox="1"/>
          <p:nvPr/>
        </p:nvSpPr>
        <p:spPr>
          <a:xfrm>
            <a:off x="7315200" y="324612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1F6FEB"/>
                </a:solidFill>
                <a:latin typeface="Arial"/>
              </a:rPr>
              <a:t>2.75×</a:t>
            </a:r>
          </a:p>
        </p:txBody>
      </p:sp>
      <p:sp>
        <p:nvSpPr>
          <p:cNvPr id="19" name="TextBox 18"/>
          <p:cNvSpPr txBox="1"/>
          <p:nvPr/>
        </p:nvSpPr>
        <p:spPr>
          <a:xfrm>
            <a:off x="10195560" y="324612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20" name="Rectangle 19"/>
          <p:cNvSpPr/>
          <p:nvPr/>
        </p:nvSpPr>
        <p:spPr>
          <a:xfrm>
            <a:off x="7315200" y="4617720"/>
            <a:ext cx="4325112" cy="18288"/>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315200" y="475488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Ran on</a:t>
            </a:r>
          </a:p>
        </p:txBody>
      </p:sp>
      <p:sp>
        <p:nvSpPr>
          <p:cNvPr id="22" name="TextBox 21"/>
          <p:cNvSpPr txBox="1"/>
          <p:nvPr/>
        </p:nvSpPr>
        <p:spPr>
          <a:xfrm>
            <a:off x="7315200" y="5212080"/>
            <a:ext cx="438912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IBM · IQM · VTT Q50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8</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440680"/>
            <a:ext cx="11094415" cy="822960"/>
          </a:xfrm>
          <a:prstGeom prst="roundRect">
            <a:avLst>
              <a:gd name="adj" fmla="val 12000"/>
            </a:avLst>
          </a:prstGeom>
          <a:solidFill>
            <a:srgbClr val="0B1F3A"/>
          </a:solidFill>
          <a:ln>
            <a:noFill/>
          </a:ln>
          <a:effectLst/>
        </p:spPr>
        <p:txBody>
          <a:bodyPr rtlCol="0" anchor="ctr"/>
          <a:lstStyle/>
          <a:p>
            <a:pPr algn="ctr"/>
          </a:p>
        </p:txBody>
      </p:sp>
      <p:sp>
        <p:nvSpPr>
          <p:cNvPr id="18" name="TextBox 17"/>
          <p:cNvSpPr txBox="1"/>
          <p:nvPr/>
        </p:nvSpPr>
        <p:spPr>
          <a:xfrm>
            <a:off x="914400" y="5440680"/>
            <a:ext cx="10545775" cy="82296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one insurer's flood claims, 8 weeks.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this weekend</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9</a:t>
            </a:r>
          </a:p>
        </p:txBody>
      </p:sp>
      <p:sp>
        <p:nvSpPr>
          <p:cNvPr id="5" name="Rounded Rectangle 4"/>
          <p:cNvSpPr/>
          <p:nvPr/>
        </p:nvSpPr>
        <p:spPr>
          <a:xfrm>
            <a:off x="548640" y="1417320"/>
            <a:ext cx="304952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4952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781044" y="1417320"/>
            <a:ext cx="2905506"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781044" y="1417320"/>
            <a:ext cx="2905506"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869429" y="1417320"/>
            <a:ext cx="232943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869429" y="1417320"/>
            <a:ext cx="232943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381744" y="1417320"/>
            <a:ext cx="160934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381744" y="1417320"/>
            <a:ext cx="160934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76961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76961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