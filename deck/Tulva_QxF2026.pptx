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(0:12–0:24)]</a:t>
            </a:r>
          </a:p>
          <a:p>
            <a:r>
              <a:t>Rivers in one region share ONE snowpack, so they flood TOGETHER: almost FOUR times more often than chance. [pause] Insurers buy cover in autumn, BEFORE the snow.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(0:24–0:38)]</a:t>
            </a:r>
          </a:p>
          <a:p>
            <a:r>
              <a:t>Our index pays when SEVERAL northern rivers pass a rare flood level TOGETHER. Its expected loss is 1.8 TIMES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(0:38–1:22),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(1:22–1:35)]</a:t>
            </a:r>
          </a:p>
          <a:p>
            <a:r>
              <a:t>Each qubit is the wet spring or a river; the gates ARE our model. Why quantum? Twice the accuracy costs sampling four times the runs; amplitude estimation,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(1:35–1:39)]</a:t>
            </a:r>
          </a:p>
          <a:p>
            <a:r>
              <a:t>On the IQM chip, the snow signal SURVIVES the noise.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(1:39–1:48)]</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(1:48–2:18)]</a:t>
            </a:r>
          </a:p>
          <a:p>
            <a:r>
              <a:t>Our customers: insurers like OP and If. In March, two months before the melt, our index tells them how risky this spring is, so they can buy extra cover IN TIME, paid automatically on the index. They pay US a licence: 25 thousand to pilot, then 75 thousand a year. From 2027 the regulator's formula is BLIND to snow. Our ask: one insurer's flood claims,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(2:18–2:31)]</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440680"/>
            <a:ext cx="11094415" cy="822960"/>
          </a:xfrm>
          <a:prstGeom prst="roundRect">
            <a:avLst>
              <a:gd name="adj" fmla="val 12000"/>
            </a:avLst>
          </a:prstGeom>
          <a:solidFill>
            <a:srgbClr val="0B1F3A"/>
          </a:solidFill>
          <a:ln>
            <a:noFill/>
          </a:ln>
          <a:effectLst/>
        </p:spPr>
        <p:txBody>
          <a:bodyPr rtlCol="0" anchor="ctr"/>
          <a:lstStyle/>
          <a:p>
            <a:pPr algn="ctr"/>
          </a:p>
        </p:txBody>
      </p:sp>
      <p:sp>
        <p:nvSpPr>
          <p:cNvPr id="18" name="TextBox 17"/>
          <p:cNvSpPr txBox="1"/>
          <p:nvPr/>
        </p:nvSpPr>
        <p:spPr>
          <a:xfrm>
            <a:off x="914400" y="5440680"/>
            <a:ext cx="10545775" cy="82296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one insurer's flood claims, 8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83857"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83857"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815377" y="1417320"/>
            <a:ext cx="276165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815377" y="1417320"/>
            <a:ext cx="276165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759912" y="1417320"/>
            <a:ext cx="218549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759912" y="1417320"/>
            <a:ext cx="218549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128283" y="1417320"/>
            <a:ext cx="1609645"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128283" y="1417320"/>
            <a:ext cx="1609645"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91392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91392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